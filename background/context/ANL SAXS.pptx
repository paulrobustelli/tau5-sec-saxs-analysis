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74" r:id="rId2"/>
    <p:sldId id="275" r:id="rId3"/>
    <p:sldId id="276" r:id="rId4"/>
    <p:sldId id="277" r:id="rId5"/>
    <p:sldId id="278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9" r:id="rId16"/>
    <p:sldId id="287" r:id="rId17"/>
    <p:sldId id="347" r:id="rId18"/>
    <p:sldId id="346" r:id="rId19"/>
    <p:sldId id="348" r:id="rId20"/>
    <p:sldId id="349" r:id="rId21"/>
    <p:sldId id="351" r:id="rId22"/>
    <p:sldId id="280" r:id="rId23"/>
    <p:sldId id="281" r:id="rId24"/>
    <p:sldId id="10185" r:id="rId25"/>
    <p:sldId id="282" r:id="rId26"/>
    <p:sldId id="35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B9125A-8214-E647-A694-878D96D62BA8}" v="24" dt="2026-09-02T14:49:24.2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45"/>
  </p:normalViewPr>
  <p:slideViewPr>
    <p:cSldViewPr snapToGrid="0">
      <p:cViewPr>
        <p:scale>
          <a:sx n="87" d="100"/>
          <a:sy n="87" d="100"/>
        </p:scale>
        <p:origin x="1560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29CF39-AE79-924E-B999-D4501C599D70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D28BF7-44D2-B542-BD54-E9ABD52F8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3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63B37-3E36-96F3-4186-07A598450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8ACA3F-C5B4-24C7-0B89-2D197DCF8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0A20F-4074-D177-C65D-8AB38E049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androgen receptor is a nuclear transcription factor that drives prostate cancer progression. It has a well-defined domain organization: an N-terminal activation domain, a DNA-binding domain, and a ligand-binding domain at the C-terminus.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Patients with castration-resistant prostate cancer, or CRPC. develop resistance to standard androgen deprivation therapies, often through the emergence of a splice variant called AR-V7. Critically, AR-V7 lacks the C-terminal ligand-binding domain entirely, which means the traditional drug targets are simply not present.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has driven enormous interest in targeting the disordered N-terminal activation domain instead. When we look at the drug candidates that have emerged for this purpose, one structural pattern stands out: they all share a common moiety consisting of two aromatic rings. it strongly implies that aromatic interactions with the intrinsically disordered activation domain are mechanistically important.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of the initial candidates, EPI-001, has been shown to stabilize oligomeric species of a region called Tau-5 — specifically through aromatic residue–mediated helical interaction networks. These oligomers, in turn, produce more rigid condensates that reduce RNA Polymerase II recruitment, ultimately reducing the oncogenic transcription program that drives CRPC.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ligand-induced oligomerization could originate from interactions with monomer Tau-5 molecules, understanding the conformational and sequence features that govern binding at the monomer level is a first step toward understanding the overall binding mechanism.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led us to ask: what structural features within monomeric Tau-5 enable EPI-001 binding and potentially influence the downstream formation of ligand-stabilized oligomers?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62360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7BC4A-F645-2B50-428B-E9AB170CD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24F25-FDAD-A84D-68AF-44BC7F921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5F291-0698-798C-5BFC-4C6A5A4E4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8355-3CB2-C142-8A28-D864C1F1B699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B2B5F-4B3D-A0CE-3C2F-8989579E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8A155-0D42-ED32-2D0D-C9AD0E83D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C152-FD92-7C42-A704-2A46A984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138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6F62A-3E35-5E55-A5A3-08AA8CBF1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BFEC6-C742-3462-7826-01C4F2162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62A38-9BA4-EA03-6F15-483E27979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8355-3CB2-C142-8A28-D864C1F1B699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26719-F1E5-C14A-9336-B964C35FA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061D7-3E9B-D255-0AF9-F8302A346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C152-FD92-7C42-A704-2A46A984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144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594B-4ABF-C618-01AD-E8BA3FE2A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3CBC0-C176-D4E8-044C-3815578E6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190E5-52B0-4BA9-D713-72E3BE238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8355-3CB2-C142-8A28-D864C1F1B699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F6DCD-876B-DD51-4141-E06AAF172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AD447-9CB1-3396-7FAC-F2EBB9730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C152-FD92-7C42-A704-2A46A984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05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69DFC-00CA-8B83-70E5-33FA8A4B1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87F65-3327-86E9-83C6-C0D7C9DBD4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2F885-9979-8240-7172-BC4560A07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6986C-C5A5-1A9C-79A1-77350EB05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8355-3CB2-C142-8A28-D864C1F1B699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FE5A8-4E67-DDCC-7F33-2A05847D7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B9D03-CCEA-515C-D770-D86E49B3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C152-FD92-7C42-A704-2A46A984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91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54020-8A31-7DC7-F3FC-F369E8F3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3F514-4DC7-7645-08B7-482C6BAD0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9B5300-6A07-C433-2EBD-84959A4DA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1F535A-7BF4-20ED-1230-02F6E1B269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477F41-79FC-1696-51A8-F692F0AE38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71811D-D5D5-49C9-327E-8912FF468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8355-3CB2-C142-8A28-D864C1F1B699}" type="datetimeFigureOut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263CC1-D9CE-7C45-EB31-0185CF9CF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C5DF9A-54DB-C8EA-73E0-520B7077D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C152-FD92-7C42-A704-2A46A984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38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DFE2C-BAC1-9D3A-7F21-3853720F6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CACA17-97BF-8B18-CFAA-679BA316B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8355-3CB2-C142-8A28-D864C1F1B699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B5A64B-1611-5470-6747-F91113FD8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A65C2-FB9B-F705-5BF6-61A17EE79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C152-FD92-7C42-A704-2A46A984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0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DE2E04-C7EB-EDD9-D7CC-1767E3608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8355-3CB2-C142-8A28-D864C1F1B699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EC6B0F-6C59-A9F3-FB99-5D770113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E3C3D-B4D9-5F04-4DDD-4F6103725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C152-FD92-7C42-A704-2A46A984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2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70F51-4481-CBFD-7C22-AD5130D8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07B82-4A38-A875-D1A4-BCBE1D38E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3A62FB-9BA6-2272-A1F7-16D1951D4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587B9-C775-EB7B-BCE0-2F9FE5C8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8355-3CB2-C142-8A28-D864C1F1B699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F44B6-39FC-BCAA-69A9-0BFB8A98B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CC110-778D-F1A5-8064-6708B9E9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C152-FD92-7C42-A704-2A46A984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011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9323C-8957-3379-5FF4-BAF270C6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BE769A-B58D-97EA-CEF6-D0F57AFDD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E4257-39CF-0F42-E47C-B55371549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31CD6-EE9C-FEA7-013E-A4B585C8A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8355-3CB2-C142-8A28-D864C1F1B699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A1B42-6A2C-020A-EF78-308C8A7C7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458A4-E208-7E84-708A-63CA3C591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C152-FD92-7C42-A704-2A46A984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43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50C9D-6A48-F8AD-30AB-D8672C6F6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73CB0-77E0-0DEA-7798-338AEEAC1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5A04D-98F1-409D-BB02-14C5AA9AC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8355-3CB2-C142-8A28-D864C1F1B699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1807-C62D-4759-18AE-48C5C3695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0CD86-887A-888F-834A-9055D8374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C152-FD92-7C42-A704-2A46A984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343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FB5BF-3258-97C3-6E1E-BB8C3F0854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FA9C0A-A033-60A7-1953-78D5D15C1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90A99-7D39-F619-A427-E067D67E3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8355-3CB2-C142-8A28-D864C1F1B699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2599F-649C-A095-5FDA-1ABBF168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19455-E6C0-8992-29BE-262777E89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C152-FD92-7C42-A704-2A46A984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7015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N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6EFBB34-E7A6-446F-8461-EDE7FE5D0D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8974" y="6579805"/>
            <a:ext cx="1284732" cy="1447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64124" y="762000"/>
            <a:ext cx="6031876" cy="5730941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280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4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0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0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F6CA74-EFFC-4784-A2B0-42206EF4D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3" y="66563"/>
            <a:ext cx="12033935" cy="619237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4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B7F35-A287-4632-A2D6-444EC97FAC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574685" y="6551473"/>
            <a:ext cx="523374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57881E-E143-4217-816A-8C4E380EDD7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4" y="6512954"/>
            <a:ext cx="272301" cy="278483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C75502B-FFD9-0E34-5446-03C97D2D0AA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4510" y="761999"/>
            <a:ext cx="6031876" cy="5730941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280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4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0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0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B1904E28-2AFB-D063-1AE9-EF9CFF83A7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551473"/>
            <a:ext cx="7425906" cy="217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AU"/>
              <a:t>[Footer]</a:t>
            </a:r>
          </a:p>
        </p:txBody>
      </p:sp>
    </p:spTree>
    <p:extLst>
      <p:ext uri="{BB962C8B-B14F-4D97-AF65-F5344CB8AC3E}">
        <p14:creationId xmlns:p14="http://schemas.microsoft.com/office/powerpoint/2010/main" val="1859622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E9307B-DC86-4257-F73E-C86211E2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A07CB-796B-9B4E-2592-50D1D8909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006B6-64AF-55B9-2BEB-BEF6161D0A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0E8355-3CB2-C142-8A28-D864C1F1B699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0FDBE-CBE4-93C0-2360-A8B0A34F2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F1D5C-7907-CAB4-4F32-EA2BD444F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FDC152-FD92-7C42-A704-2A46A984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2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jpe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0.jpeg"/><Relationship Id="rId12" Type="http://schemas.openxmlformats.org/officeDocument/2006/relationships/image" Target="../media/image7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9.emf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7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BD7BE5-8FDF-8DFB-3D71-6835A723E2B5}"/>
              </a:ext>
            </a:extLst>
          </p:cNvPr>
          <p:cNvGraphicFramePr>
            <a:graphicFrameLocks noGrp="1"/>
          </p:cNvGraphicFramePr>
          <p:nvPr/>
        </p:nvGraphicFramePr>
        <p:xfrm>
          <a:off x="0" y="82163"/>
          <a:ext cx="12191999" cy="66186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4854">
                  <a:extLst>
                    <a:ext uri="{9D8B030D-6E8A-4147-A177-3AD203B41FA5}">
                      <a16:colId xmlns:a16="http://schemas.microsoft.com/office/drawing/2014/main" val="3850395559"/>
                    </a:ext>
                  </a:extLst>
                </a:gridCol>
                <a:gridCol w="4644433">
                  <a:extLst>
                    <a:ext uri="{9D8B030D-6E8A-4147-A177-3AD203B41FA5}">
                      <a16:colId xmlns:a16="http://schemas.microsoft.com/office/drawing/2014/main" val="404584476"/>
                    </a:ext>
                  </a:extLst>
                </a:gridCol>
                <a:gridCol w="2149897">
                  <a:extLst>
                    <a:ext uri="{9D8B030D-6E8A-4147-A177-3AD203B41FA5}">
                      <a16:colId xmlns:a16="http://schemas.microsoft.com/office/drawing/2014/main" val="4084270799"/>
                    </a:ext>
                  </a:extLst>
                </a:gridCol>
                <a:gridCol w="3552815">
                  <a:extLst>
                    <a:ext uri="{9D8B030D-6E8A-4147-A177-3AD203B41FA5}">
                      <a16:colId xmlns:a16="http://schemas.microsoft.com/office/drawing/2014/main" val="631175238"/>
                    </a:ext>
                  </a:extLst>
                </a:gridCol>
              </a:tblGrid>
              <a:tr h="219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Dataset name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Sample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Mode (SEC/Batch)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Notes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2867758308"/>
                  </a:ext>
                </a:extLst>
              </a:tr>
              <a:tr h="3330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1 - WT Tau5 apo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SEC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Complex elution, MALS not useable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18662341"/>
                  </a:ext>
                </a:extLst>
              </a:tr>
              <a:tr h="3330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2 - AA Tau5 apo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SEC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Complex elution, MALS not useable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4279623987"/>
                  </a:ext>
                </a:extLst>
              </a:tr>
              <a:tr h="3330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3 - GG Tau5 apo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SEC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Complex elution, MALS not useable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2305228459"/>
                  </a:ext>
                </a:extLst>
              </a:tr>
              <a:tr h="3330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4 - WT Tau5 + EPI-001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SEC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Complex elution, MALS not useable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1741981875"/>
                  </a:ext>
                </a:extLst>
              </a:tr>
              <a:tr h="3330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5 - AA Tau5 + EPI-001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SEC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No data (pressure alarmed system)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3978200497"/>
                  </a:ext>
                </a:extLst>
              </a:tr>
              <a:tr h="4985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PR0006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buffer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batch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seems slightly off for subtraction (temperature mismatch, possibly?)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2304680100"/>
                  </a:ext>
                </a:extLst>
              </a:tr>
              <a:tr h="219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PR0007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buffer + 2% DMSO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batch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2579736051"/>
                  </a:ext>
                </a:extLst>
              </a:tr>
              <a:tr h="219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PR0008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buffer + 2% DMSO + 0.3 mM EPI-001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batch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2071545946"/>
                  </a:ext>
                </a:extLst>
              </a:tr>
              <a:tr h="219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PR0009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WT Tau5 apo (1.2 mg/mL)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batch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60128515"/>
                  </a:ext>
                </a:extLst>
              </a:tr>
              <a:tr h="219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PR0010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WT Tau5 (1.2 mg/mL) + 2% DMSO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batch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1029393459"/>
                  </a:ext>
                </a:extLst>
              </a:tr>
              <a:tr h="3330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PR0011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WT Tau5 (1.2 mg/mL) + 2% DMSO + 0.3 mM EPI-001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batch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520967678"/>
                  </a:ext>
                </a:extLst>
              </a:tr>
              <a:tr h="219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PR0012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AA Tau5 apo (1.2 mg/mL)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batch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787626837"/>
                  </a:ext>
                </a:extLst>
              </a:tr>
              <a:tr h="219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PR0013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AA Tau5 (1.2 mg/mL) + 2% DMSO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batch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4027561747"/>
                  </a:ext>
                </a:extLst>
              </a:tr>
              <a:tr h="3330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PR0014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AA Tau5 (1.2 mg/mL)+ 2% DMSO + 0.3 mM EPI-001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batch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435546250"/>
                  </a:ext>
                </a:extLst>
              </a:tr>
              <a:tr h="219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PR0015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GG Tau5 apo (1.2 mg/mL)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batch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3918498963"/>
                  </a:ext>
                </a:extLst>
              </a:tr>
              <a:tr h="219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PR0016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GG Tau5 (1.2 mg/mL) + 2% DMSO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batch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2961277356"/>
                  </a:ext>
                </a:extLst>
              </a:tr>
              <a:tr h="3330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PR0017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GG Tau5 (1.2 mg/mL)+ 2% DMSO + 0.3 mM EPI-001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batch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3151667348"/>
                  </a:ext>
                </a:extLst>
              </a:tr>
              <a:tr h="219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PR0018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buffer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batch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very low volume injection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2907433911"/>
                  </a:ext>
                </a:extLst>
              </a:tr>
              <a:tr h="219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PR0019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buffer + 2% DMSO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batch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2315854470"/>
                  </a:ext>
                </a:extLst>
              </a:tr>
              <a:tr h="219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PR0020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buffer + 2% DMSO + 0.3 mM EPI-001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batch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3784139256"/>
                  </a:ext>
                </a:extLst>
              </a:tr>
              <a:tr h="219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PR0021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buffer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batch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low volume injection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872210964"/>
                  </a:ext>
                </a:extLst>
              </a:tr>
              <a:tr h="219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PR0022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buffer + 2% DMSO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batch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14" marR="3014" marT="3014" marB="0" anchor="b"/>
                </a:tc>
                <a:extLst>
                  <a:ext uri="{0D108BD9-81ED-4DB2-BD59-A6C34878D82A}">
                    <a16:rowId xmlns:a16="http://schemas.microsoft.com/office/drawing/2014/main" val="152999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0154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E78AB-FCB2-4FC5-7920-5B7E946C1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1 - WT Tau5 apo</a:t>
            </a:r>
            <a:b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DAC768-274F-032D-9C35-02A4DB5492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2899" y="1577270"/>
            <a:ext cx="4750736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B5241A-D234-9E87-F496-F5FC460F0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050" y="2497240"/>
            <a:ext cx="3814043" cy="42612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0BC5A1-ACC8-2F92-BA81-B901591E4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334" y="825110"/>
            <a:ext cx="4524612" cy="173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931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4F350-DB2E-75C4-908C-93BBD2242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45650-4BDB-96AA-6531-B15C4DF32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"/>
            <a:r>
              <a:rPr lang="en-US" dirty="0"/>
              <a:t>2 - AA Tau5 apo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016E81-7F50-8A0B-A7FF-D0244063BA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112899" y="1577270"/>
            <a:ext cx="4750736" cy="43513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A138BD-2E81-5ED1-EF8F-5CD71B21F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367" y="119070"/>
            <a:ext cx="4750734" cy="18176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CED060-24DF-7438-0BB5-A83A374F1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389" y="1800912"/>
            <a:ext cx="4750734" cy="518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074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73A4D-EFAE-0245-378C-90F993571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44B2C-B5DA-F99B-057B-10C57BE8E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"/>
            <a:r>
              <a:rPr lang="en-US" dirty="0"/>
              <a:t>3 - GG Tau5 apo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6D6225-0446-BDA2-DB03-D72BBA89C5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112898" y="1577270"/>
            <a:ext cx="5233537" cy="47935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07BB79-1D7E-B46B-5C77-A79EF4D936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804"/>
          <a:stretch>
            <a:fillRect/>
          </a:stretch>
        </p:blipFill>
        <p:spPr>
          <a:xfrm>
            <a:off x="6350000" y="182306"/>
            <a:ext cx="4038908" cy="36670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D9DBF1-D0B4-CA1B-9E29-4612A2D16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6435" y="3915697"/>
            <a:ext cx="4038908" cy="440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731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970E3-EDAA-70DD-4C93-BCF97C1E4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291B0-5F8F-BA36-3C5B-C90D42D1F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"/>
            <a:r>
              <a:rPr lang="en-US" dirty="0"/>
              <a:t>4 - WT Tau5 + EPI-001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AF4494A-19F0-19B3-089C-88BE57892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112899" y="1577270"/>
            <a:ext cx="4750736" cy="43513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4B77F7-7FB2-56FE-E361-EC6E2A253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983" y="365125"/>
            <a:ext cx="3049388" cy="33278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1AB08C-28FE-CE62-2C11-42E8E1D3D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983" y="3165065"/>
            <a:ext cx="3049388" cy="332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7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EAD16-89AE-6EDA-92D5-CE67BC353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508" y="-1478189"/>
            <a:ext cx="10515600" cy="1325563"/>
          </a:xfrm>
        </p:spPr>
        <p:txBody>
          <a:bodyPr/>
          <a:lstStyle/>
          <a:p>
            <a:r>
              <a:rPr lang="en-US" dirty="0"/>
              <a:t>APS WT apo Batch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F3A47E-38D3-3ABE-4030-483BD4444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825"/>
          <a:stretch>
            <a:fillRect/>
          </a:stretch>
        </p:blipFill>
        <p:spPr>
          <a:xfrm>
            <a:off x="635508" y="1487424"/>
            <a:ext cx="6891590" cy="46451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9A01BE-5ABA-DD29-15A0-7E9C72822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098" y="1383252"/>
            <a:ext cx="3273267" cy="46451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85BA28-178B-B0EA-A7B1-5863F9CB369B}"/>
              </a:ext>
            </a:extLst>
          </p:cNvPr>
          <p:cNvSpPr txBox="1"/>
          <p:nvPr/>
        </p:nvSpPr>
        <p:spPr>
          <a:xfrm>
            <a:off x="1033303" y="72542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600" u="none" strike="noStrike" dirty="0">
                <a:effectLst/>
              </a:rPr>
              <a:t>WT Tau5 apo (1.2 mg/mL)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529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4C2DB-8758-A390-8138-1836462EE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78CD9-50FB-175B-7948-BB5D716D4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23636"/>
            <a:ext cx="10515600" cy="1325563"/>
          </a:xfrm>
        </p:spPr>
        <p:txBody>
          <a:bodyPr/>
          <a:lstStyle/>
          <a:p>
            <a:r>
              <a:rPr lang="en-US" dirty="0"/>
              <a:t>APS WT DMSO Batch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A66A93-57E1-1283-CF2A-4243644930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27098" y="1379095"/>
            <a:ext cx="3349603" cy="4753481"/>
          </a:xfrm>
          <a:prstGeom prst="rect">
            <a:avLst/>
          </a:prstGeom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2B8B5B0F-E36F-C810-D6C6-E87807808C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" b="2327"/>
          <a:stretch>
            <a:fillRect/>
          </a:stretch>
        </p:blipFill>
        <p:spPr>
          <a:xfrm>
            <a:off x="635508" y="1379095"/>
            <a:ext cx="6891590" cy="47534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9BD3FA-9209-0868-9617-29745FD8949F}"/>
              </a:ext>
            </a:extLst>
          </p:cNvPr>
          <p:cNvSpPr txBox="1"/>
          <p:nvPr/>
        </p:nvSpPr>
        <p:spPr>
          <a:xfrm>
            <a:off x="1033303" y="72542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600" u="none" strike="noStrike" dirty="0">
                <a:effectLst/>
              </a:rPr>
              <a:t>WT Tau5 (1.2 mg/mL) + 2% DMSO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524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886AB-1A6B-B227-B309-B14BC53DF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DD04D-AF1D-A044-4441-C64BA4BF7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53616"/>
            <a:ext cx="10515600" cy="1325563"/>
          </a:xfrm>
        </p:spPr>
        <p:txBody>
          <a:bodyPr/>
          <a:lstStyle/>
          <a:p>
            <a:r>
              <a:rPr lang="en-US" dirty="0"/>
              <a:t>APS WT EPI-001 in DMSO Batch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588B3C-5FFC-99D8-5ED9-641F8B72CF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29678" y="1422094"/>
            <a:ext cx="3482537" cy="49421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855031-7EAE-849D-4A4F-B6D875630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10" y="1422094"/>
            <a:ext cx="6990868" cy="49421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94E74A-0BB1-9B35-669E-5F97D66CA233}"/>
              </a:ext>
            </a:extLst>
          </p:cNvPr>
          <p:cNvSpPr txBox="1"/>
          <p:nvPr/>
        </p:nvSpPr>
        <p:spPr>
          <a:xfrm>
            <a:off x="756356" y="81285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600" u="none" strike="noStrike" dirty="0">
                <a:effectLst/>
              </a:rPr>
              <a:t>WT Tau5 (1.2 mg/mL) + 2% DMSO + 0.3 mM EPI-001 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080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4497D-80D8-7265-F490-526E78E5C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6F0F0-CB17-8469-AC5C-F481293AC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25563"/>
            <a:ext cx="10515600" cy="1325563"/>
          </a:xfrm>
        </p:spPr>
        <p:txBody>
          <a:bodyPr/>
          <a:lstStyle/>
          <a:p>
            <a:r>
              <a:rPr lang="en-US" dirty="0"/>
              <a:t>APS AA apo Batch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5BC29F-5BA7-9551-8B89-98D1F89112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88352" y="1422093"/>
            <a:ext cx="3459496" cy="49094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5C7773-6FC3-C45D-DE63-89A2EA427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38" y="1422093"/>
            <a:ext cx="6944614" cy="49094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45827A-F14F-FDE3-3E40-98A3E76A7B18}"/>
              </a:ext>
            </a:extLst>
          </p:cNvPr>
          <p:cNvSpPr txBox="1"/>
          <p:nvPr/>
        </p:nvSpPr>
        <p:spPr>
          <a:xfrm>
            <a:off x="756356" y="92574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600" u="none" strike="noStrike" dirty="0">
                <a:effectLst/>
              </a:rPr>
              <a:t>AA Tau5 apo (1.2 mg/mL)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049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B65DB-B096-A7EE-7E4F-48F205725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7D32A-B20B-718B-D121-ECCDDD404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53616"/>
            <a:ext cx="10515600" cy="1325563"/>
          </a:xfrm>
        </p:spPr>
        <p:txBody>
          <a:bodyPr/>
          <a:lstStyle/>
          <a:p>
            <a:r>
              <a:rPr lang="en-US" dirty="0"/>
              <a:t>APS AA DMSO Batch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762086-B440-3F86-DABC-D9CABAB489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98182" y="1595132"/>
            <a:ext cx="3451259" cy="48977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A123D1-2284-7E6E-340A-B4F8E1F6F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00" y="1595131"/>
            <a:ext cx="6928082" cy="48977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44E022-120F-78BD-640E-568E018719AA}"/>
              </a:ext>
            </a:extLst>
          </p:cNvPr>
          <p:cNvSpPr txBox="1"/>
          <p:nvPr/>
        </p:nvSpPr>
        <p:spPr>
          <a:xfrm>
            <a:off x="370100" y="6661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600" u="none" strike="noStrike" dirty="0">
                <a:effectLst/>
              </a:rPr>
              <a:t>AA Tau5 (1.2 mg/mL) + 2% DMSO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511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B3193-82AE-3561-69C6-9B3A1B63C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EFA02-6428-F4E5-083D-30E07678C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36961"/>
            <a:ext cx="10515600" cy="1325563"/>
          </a:xfrm>
        </p:spPr>
        <p:txBody>
          <a:bodyPr/>
          <a:lstStyle/>
          <a:p>
            <a:r>
              <a:rPr lang="en-US" dirty="0"/>
              <a:t>APS AA EPI-001 in DMSO Batch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AB52E3-0F01-5DF3-8169-FC7D1BC71B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72408" y="1318174"/>
            <a:ext cx="3781392" cy="53662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2902E6-8CC7-680D-2E56-1B393E8C2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68" y="1318174"/>
            <a:ext cx="7590790" cy="53662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193255-04AB-1878-5B03-0C5AE1FCE314}"/>
              </a:ext>
            </a:extLst>
          </p:cNvPr>
          <p:cNvSpPr txBox="1"/>
          <p:nvPr/>
        </p:nvSpPr>
        <p:spPr>
          <a:xfrm>
            <a:off x="474134" y="55321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600" u="none" strike="noStrike" dirty="0">
                <a:effectLst/>
              </a:rPr>
              <a:t>AA Tau5 (1.2 mg/mL)+ 2% DMSO + 0.3 mM EPI-001 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355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306D2-7B7D-19AE-740B-04B4897F2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C20AA-4662-D73C-6D82-0AD686AB7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83597"/>
            <a:ext cx="10515600" cy="1325563"/>
          </a:xfrm>
        </p:spPr>
        <p:txBody>
          <a:bodyPr/>
          <a:lstStyle/>
          <a:p>
            <a:r>
              <a:rPr lang="en-US" dirty="0"/>
              <a:t>APS GG apo Batch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87B5D8-19A5-6227-645F-55FB5C5531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81062" y="1552422"/>
            <a:ext cx="3451260" cy="48977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207E4B-BE27-EB68-8C59-30393A7A3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80" y="1552422"/>
            <a:ext cx="6928082" cy="48977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24A6A3-5551-59A5-8F82-4E1E5BD4B70D}"/>
              </a:ext>
            </a:extLst>
          </p:cNvPr>
          <p:cNvSpPr txBox="1"/>
          <p:nvPr/>
        </p:nvSpPr>
        <p:spPr>
          <a:xfrm>
            <a:off x="552980" y="80721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600" u="none" strike="noStrike" dirty="0">
                <a:effectLst/>
              </a:rPr>
              <a:t>GG Tau5 apo (1.2 mg/mL)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135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7EFB7-2465-9EC6-67A7-D59B2CDDF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D8472-7E1D-9FF5-434A-240E805C0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63967"/>
            <a:ext cx="10515600" cy="1325563"/>
          </a:xfrm>
        </p:spPr>
        <p:txBody>
          <a:bodyPr/>
          <a:lstStyle/>
          <a:p>
            <a:r>
              <a:rPr lang="en-US" dirty="0"/>
              <a:t>APS GG DMSO Batch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7A4905-DBFB-45C7-E057-B1426B0006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20102" y="1552422"/>
            <a:ext cx="3451260" cy="48977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C9D7EE-D736-CD02-863B-CE1634D7A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22" y="1552422"/>
            <a:ext cx="6928080" cy="48977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9B8374-6535-1E43-BB76-8878B6FD1806}"/>
              </a:ext>
            </a:extLst>
          </p:cNvPr>
          <p:cNvSpPr txBox="1"/>
          <p:nvPr/>
        </p:nvSpPr>
        <p:spPr>
          <a:xfrm>
            <a:off x="908062" y="78463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600" u="none" strike="noStrike" dirty="0">
                <a:effectLst/>
              </a:rPr>
              <a:t>GG Tau5 (1.2 mg/mL) + 2% DMSO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219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B402C-2BD1-00E4-650A-B55C4CA4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1E602-91F4-B047-57D7-9A01B1467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83095"/>
            <a:ext cx="10515600" cy="1325563"/>
          </a:xfrm>
        </p:spPr>
        <p:txBody>
          <a:bodyPr/>
          <a:lstStyle/>
          <a:p>
            <a:r>
              <a:rPr lang="en-US" dirty="0"/>
              <a:t>APS GG EPI-001 in DMSO Batch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01ECD9-EF95-AAF3-E5A7-2A57EA9AD5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42022" y="1505872"/>
            <a:ext cx="3430364" cy="48680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1F057A-5BE4-ED79-F0EE-0BD0B7465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505872"/>
            <a:ext cx="7054342" cy="49870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6E2BF7-3F6F-EDB2-10FC-E19F12E3F2F2}"/>
              </a:ext>
            </a:extLst>
          </p:cNvPr>
          <p:cNvSpPr txBox="1"/>
          <p:nvPr/>
        </p:nvSpPr>
        <p:spPr>
          <a:xfrm>
            <a:off x="598311" y="76770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600" u="none" strike="noStrike" dirty="0">
                <a:effectLst/>
              </a:rPr>
              <a:t>GG Tau5 (1.2 mg/mL)+ 2% DMSO + 0.3 mM EPI-001 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393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57D98-D0F3-1DA6-64AC-E9D621784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BNL, WT SEC-SAXS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E2C8D2-04BC-E2F9-CFF5-A8152A136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01" y="1783542"/>
            <a:ext cx="5230794" cy="2600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8CFE1D-381A-A45E-DADD-F1FC8462D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801" y="1732771"/>
            <a:ext cx="5230793" cy="352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688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79D99F-BEA6-F0CE-DDBD-9166235FE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70300" cy="2781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C1E977-6D49-1C93-1EDB-513AEEABD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66673"/>
            <a:ext cx="3670300" cy="2908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B96A97-837B-D525-8CA7-ADB702A065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52145" y="10583"/>
            <a:ext cx="2843012" cy="29841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7A6B9B-05AA-8EFC-94A0-5812AAC451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97980" y="0"/>
            <a:ext cx="2731087" cy="28666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6C4F28-E9C9-0330-6F7D-492680D400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3123" y="2949724"/>
            <a:ext cx="2722034" cy="27421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F4BF3F-2E8A-A655-C437-2EBEAE6760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7980" y="2984155"/>
            <a:ext cx="3574726" cy="27077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F5EABA-E50C-51D0-1163-AF559288394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610623" y="10583"/>
            <a:ext cx="2808564" cy="286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589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3129F-CADC-F44C-C7AD-7D076911C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F1843C-6CDB-D1B1-92ED-C29E2C05B0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0583"/>
            <a:ext cx="3670300" cy="2781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E5BDFC-51AD-177E-7942-07E1407AB4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2866673"/>
            <a:ext cx="3670300" cy="2908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9A156A-5AF7-470E-D1D5-5C7C101EA8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77349" y="10583"/>
            <a:ext cx="2792604" cy="29841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EE949A-2807-ACF1-58F8-6CFB9C952C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22192" y="0"/>
            <a:ext cx="2682662" cy="28666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3AEB7B-84F4-6AB2-0F2F-0F2AD6729A4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873123" y="2949724"/>
            <a:ext cx="2722033" cy="27421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9141DB-A132-91B8-6159-2D2B91742F5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97980" y="2984155"/>
            <a:ext cx="3574726" cy="27077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3F2CC1-FD58-755F-F3F2-2CC8AFC11DC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610623" y="30085"/>
            <a:ext cx="2808564" cy="282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63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3DB08C-7051-5806-75F4-E6CAC9097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72" y="146050"/>
            <a:ext cx="3670300" cy="2908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D6F86E4-54BA-403E-19BC-A8D626F0F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856" y="44451"/>
            <a:ext cx="2943642" cy="30045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A3FE80-BEC7-2FA5-B59B-841AAD300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8140" y="44451"/>
            <a:ext cx="2862438" cy="300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1C29C6-4479-A438-1B52-80A52CD726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7866" y="3148895"/>
            <a:ext cx="2740632" cy="27609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7E5E42-252D-EC2B-13F7-1A46E848B7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8140" y="3148895"/>
            <a:ext cx="3644916" cy="276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802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F334-32B0-9C5E-61CA-0D221C8D6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5DDB1-D7D0-5B43-12D7-54AA01E6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BNL, W397A/W433A SEC-SAXS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2812FA-EEE6-273D-F835-E2859E6A2E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39801" y="1790868"/>
            <a:ext cx="5230794" cy="2586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2FE907-5C15-CBBB-C0CC-9FFE4E551B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05757" y="1732771"/>
            <a:ext cx="5212881" cy="352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597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93DCA3-8A63-8394-3D3D-191A1FE36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70300" cy="2781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2EB676-DD8A-AAB3-6992-35BAD46D2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289" y="2781300"/>
            <a:ext cx="3670300" cy="2908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97AE33-EFA1-1F09-421C-156430A5E4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07366" y="0"/>
            <a:ext cx="2687337" cy="27812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5BD486-3834-3934-8134-A0655F7C90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60331" y="0"/>
            <a:ext cx="2687337" cy="2781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C15FD3-C8F0-8674-8E43-0F171E657E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7366" y="3000023"/>
            <a:ext cx="2760848" cy="27812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C9294D-EB35-531B-CF29-B2F63DF74B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7668" y="0"/>
            <a:ext cx="2744332" cy="2763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49DDC3-2A8B-7337-D5AD-0435512FCE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9147" y="3019779"/>
            <a:ext cx="37719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356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0624DA-8FDA-5288-CB89-22DD8DB1F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95" y="157339"/>
            <a:ext cx="3670300" cy="2908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9ED2EF-9F9D-9393-2353-4704458D1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900" y="157339"/>
            <a:ext cx="2810047" cy="2908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7B3D0F-01D8-2F1D-BDB5-613D5D1F9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947" y="157339"/>
            <a:ext cx="2810047" cy="2908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7FE9E-D8B6-3954-69B9-2854DAB4EB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900" y="3251520"/>
            <a:ext cx="2652841" cy="2672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EB0187-D7E1-4F41-05D1-47B0A0B03C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9947" y="3233561"/>
            <a:ext cx="2769292" cy="269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479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1E4DA-5B3A-B37E-7185-AAAB27733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D9DDB-1356-5F74-0A88-6D20EBCF7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502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777DB-8055-41A3-FCB6-74E5BF019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14205-BF09-11E7-92DF-18E278ED1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22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BF7E9-E8D2-DF00-312B-E0FE8A5A8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941C005B-CFDE-9EAB-C9A1-D93B6E41E10F}"/>
              </a:ext>
            </a:extLst>
          </p:cNvPr>
          <p:cNvSpPr txBox="1"/>
          <p:nvPr/>
        </p:nvSpPr>
        <p:spPr>
          <a:xfrm>
            <a:off x="9550426" y="6534619"/>
            <a:ext cx="25079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solidFill>
                  <a:srgbClr val="151515"/>
                </a:solidFill>
              </a:rPr>
              <a:t>Salvatella</a:t>
            </a:r>
            <a:r>
              <a:rPr lang="en-US" sz="1400" i="1" dirty="0">
                <a:solidFill>
                  <a:srgbClr val="151515"/>
                </a:solidFill>
              </a:rPr>
              <a:t>, NSMB </a:t>
            </a:r>
            <a:r>
              <a:rPr lang="en-US" sz="1400" dirty="0">
                <a:solidFill>
                  <a:srgbClr val="151515"/>
                </a:solidFill>
              </a:rPr>
              <a:t>2023</a:t>
            </a:r>
            <a:endParaRPr lang="en-US" sz="14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324B664-7F27-D045-2714-ECEE82192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35" y="82633"/>
            <a:ext cx="11891024" cy="975238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Castration resistant prostate cancer drug candidates target the disordered </a:t>
            </a:r>
            <a:br>
              <a:rPr lang="en-US" sz="2800" b="1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N-terminal domain of the androgen receptor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7637C2-1BBD-EB1B-05A1-94CD4D3A0DD4}"/>
              </a:ext>
            </a:extLst>
          </p:cNvPr>
          <p:cNvSpPr txBox="1"/>
          <p:nvPr/>
        </p:nvSpPr>
        <p:spPr>
          <a:xfrm>
            <a:off x="447542" y="1017160"/>
            <a:ext cx="5510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Androgen Receptor Domain Organization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07091C2-F118-CB58-E042-9B9B7092944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rcRect t="33248" b="20562"/>
          <a:stretch>
            <a:fillRect/>
          </a:stretch>
        </p:blipFill>
        <p:spPr>
          <a:xfrm>
            <a:off x="-218236" y="1946799"/>
            <a:ext cx="6607763" cy="172841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AB6BE31-D5DA-1361-6640-BF8B9AA991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510" y="5194912"/>
            <a:ext cx="2448077" cy="65187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B87F643-68EE-45BC-127F-E01BAFE9C2D7}"/>
              </a:ext>
            </a:extLst>
          </p:cNvPr>
          <p:cNvSpPr txBox="1"/>
          <p:nvPr/>
        </p:nvSpPr>
        <p:spPr>
          <a:xfrm>
            <a:off x="1066710" y="4901332"/>
            <a:ext cx="965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rgbClr val="0070C0"/>
                </a:solidFill>
              </a:rPr>
              <a:t>EPI-001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E6461B-2A2E-8DF9-7BF0-8D6AFC1A055B}"/>
              </a:ext>
            </a:extLst>
          </p:cNvPr>
          <p:cNvSpPr txBox="1"/>
          <p:nvPr/>
        </p:nvSpPr>
        <p:spPr>
          <a:xfrm>
            <a:off x="491649" y="3564769"/>
            <a:ext cx="5254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Splice Variant AR-7 linked to CRPC lacks </a:t>
            </a:r>
            <a:r>
              <a:rPr lang="en-US" sz="1800" b="1" dirty="0">
                <a:solidFill>
                  <a:srgbClr val="5BA547"/>
                </a:solidFill>
              </a:rPr>
              <a:t>LBD</a:t>
            </a:r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4F6E025F-912C-3275-2693-4A8463101900}"/>
              </a:ext>
            </a:extLst>
          </p:cNvPr>
          <p:cNvSpPr/>
          <p:nvPr/>
        </p:nvSpPr>
        <p:spPr>
          <a:xfrm>
            <a:off x="4335337" y="1885350"/>
            <a:ext cx="1746283" cy="1652857"/>
          </a:xfrm>
          <a:prstGeom prst="mathMultiply">
            <a:avLst>
              <a:gd name="adj1" fmla="val 7741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09BEFD-74CD-2555-AB80-9D2096F701B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3348"/>
          <a:stretch>
            <a:fillRect/>
          </a:stretch>
        </p:blipFill>
        <p:spPr>
          <a:xfrm>
            <a:off x="1918752" y="6060243"/>
            <a:ext cx="2818111" cy="73866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CC5BCF1-4986-F95B-B91B-938F20DF31EC}"/>
              </a:ext>
            </a:extLst>
          </p:cNvPr>
          <p:cNvSpPr txBox="1"/>
          <p:nvPr/>
        </p:nvSpPr>
        <p:spPr>
          <a:xfrm>
            <a:off x="2844968" y="6003726"/>
            <a:ext cx="965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1aa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8EC50F8-74B6-6962-1ACF-95AB179715C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9180" t="26621" b="41984"/>
          <a:stretch>
            <a:fillRect/>
          </a:stretch>
        </p:blipFill>
        <p:spPr>
          <a:xfrm>
            <a:off x="6737788" y="1837406"/>
            <a:ext cx="4560979" cy="205475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95D283B5-B874-02C0-942D-2D2BD8ADA8C3}"/>
              </a:ext>
            </a:extLst>
          </p:cNvPr>
          <p:cNvSpPr txBox="1">
            <a:spLocks/>
          </p:cNvSpPr>
          <p:nvPr/>
        </p:nvSpPr>
        <p:spPr>
          <a:xfrm>
            <a:off x="6389527" y="1006888"/>
            <a:ext cx="5698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EPI-001 stabilizes oligomeric Tau-5* species through aromatic residue–mediated helical interaction networks</a:t>
            </a:r>
            <a:endParaRPr lang="en-US" b="1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F56F172-AEFF-42DB-BDDE-4A36316581D7}"/>
              </a:ext>
            </a:extLst>
          </p:cNvPr>
          <p:cNvGrpSpPr/>
          <p:nvPr/>
        </p:nvGrpSpPr>
        <p:grpSpPr>
          <a:xfrm>
            <a:off x="8257199" y="5128893"/>
            <a:ext cx="1328885" cy="2156322"/>
            <a:chOff x="2891382" y="1082070"/>
            <a:chExt cx="1309386" cy="2124682"/>
          </a:xfrm>
        </p:grpSpPr>
        <p:pic>
          <p:nvPicPr>
            <p:cNvPr id="37" name="Picture 36" descr="A diagram of different colored circles&#10;&#10;Description automatically generated">
              <a:extLst>
                <a:ext uri="{FF2B5EF4-FFF2-40B4-BE49-F238E27FC236}">
                  <a16:creationId xmlns:a16="http://schemas.microsoft.com/office/drawing/2014/main" id="{DF2E4C3A-B24E-83C4-6B6F-F4E873AB68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25217" t="28698" r="37200" b="24465"/>
            <a:stretch/>
          </p:blipFill>
          <p:spPr>
            <a:xfrm>
              <a:off x="3444139" y="1179977"/>
              <a:ext cx="756629" cy="1121654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63344B2-0AE1-D724-816A-B9FBCB8AEA04}"/>
                </a:ext>
              </a:extLst>
            </p:cNvPr>
            <p:cNvSpPr txBox="1"/>
            <p:nvPr/>
          </p:nvSpPr>
          <p:spPr>
            <a:xfrm rot="18739905">
              <a:off x="3291620" y="2306581"/>
              <a:ext cx="14310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Tau-5</a:t>
              </a:r>
            </a:p>
            <a:p>
              <a:pPr algn="ct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+ EPI-001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86BA027-F5F5-B5D0-FF5D-917E3FF15647}"/>
                </a:ext>
              </a:extLst>
            </p:cNvPr>
            <p:cNvSpPr txBox="1"/>
            <p:nvPr/>
          </p:nvSpPr>
          <p:spPr>
            <a:xfrm rot="18645383">
              <a:off x="3198374" y="2345144"/>
              <a:ext cx="91304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Tau-5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A8F44D8-CCDC-3B9E-F28F-015BF8025B50}"/>
                </a:ext>
              </a:extLst>
            </p:cNvPr>
            <p:cNvSpPr txBox="1"/>
            <p:nvPr/>
          </p:nvSpPr>
          <p:spPr>
            <a:xfrm>
              <a:off x="2891382" y="1535240"/>
              <a:ext cx="7035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US" sz="10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C 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0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C)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EB6ABF2-176D-21E0-99E6-7BFA1A9F4CFE}"/>
                </a:ext>
              </a:extLst>
            </p:cNvPr>
            <p:cNvSpPr txBox="1"/>
            <p:nvPr/>
          </p:nvSpPr>
          <p:spPr>
            <a:xfrm>
              <a:off x="3001761" y="1855213"/>
              <a:ext cx="7035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B919758-B715-C4A7-66D3-9533A253D772}"/>
                </a:ext>
              </a:extLst>
            </p:cNvPr>
            <p:cNvSpPr txBox="1"/>
            <p:nvPr/>
          </p:nvSpPr>
          <p:spPr>
            <a:xfrm>
              <a:off x="3016033" y="1082070"/>
              <a:ext cx="7035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20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D1AC254-A8A9-E811-D49E-8C092DA8C885}"/>
              </a:ext>
            </a:extLst>
          </p:cNvPr>
          <p:cNvSpPr txBox="1">
            <a:spLocks/>
          </p:cNvSpPr>
          <p:nvPr/>
        </p:nvSpPr>
        <p:spPr>
          <a:xfrm>
            <a:off x="6889600" y="4205563"/>
            <a:ext cx="47085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Oligomers produce more rigid condensates that reduce RNA Polymerase II recruitment and oncogenic transcription</a:t>
            </a:r>
            <a:endParaRPr lang="en-US" b="1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B65CBA1D-7C13-A7A9-E612-48B5C4D4D6D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rcRect l="50532" t="20804" b="66297"/>
          <a:stretch>
            <a:fillRect/>
          </a:stretch>
        </p:blipFill>
        <p:spPr>
          <a:xfrm>
            <a:off x="3087388" y="1497210"/>
            <a:ext cx="3268705" cy="48270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9E804F30-1B48-AD27-E179-32BFD9B85377}"/>
              </a:ext>
            </a:extLst>
          </p:cNvPr>
          <p:cNvSpPr txBox="1"/>
          <p:nvPr/>
        </p:nvSpPr>
        <p:spPr>
          <a:xfrm>
            <a:off x="954136" y="1523116"/>
            <a:ext cx="172804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Activation Domain</a:t>
            </a:r>
          </a:p>
          <a:p>
            <a:pPr algn="ctr"/>
            <a:r>
              <a:rPr lang="en-US" sz="1600" b="1" dirty="0"/>
              <a:t>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7E4CBC-7276-B237-13A9-997FE9238DB3}"/>
              </a:ext>
            </a:extLst>
          </p:cNvPr>
          <p:cNvSpPr txBox="1"/>
          <p:nvPr/>
        </p:nvSpPr>
        <p:spPr>
          <a:xfrm>
            <a:off x="325510" y="4319275"/>
            <a:ext cx="52544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Drug candidates that target the disordered</a:t>
            </a:r>
            <a:r>
              <a:rPr lang="en-US" sz="1800" dirty="0"/>
              <a:t> </a:t>
            </a:r>
            <a:r>
              <a:rPr lang="en-US" b="1" dirty="0"/>
              <a:t>AR</a:t>
            </a:r>
            <a:r>
              <a:rPr lang="en-US" dirty="0"/>
              <a:t> </a:t>
            </a:r>
            <a:r>
              <a:rPr lang="en-US" b="1" dirty="0"/>
              <a:t>AD</a:t>
            </a:r>
            <a:endParaRPr lang="en-US" sz="1800" b="1" dirty="0"/>
          </a:p>
          <a:p>
            <a:pPr algn="ctr"/>
            <a:r>
              <a:rPr lang="en-US" dirty="0"/>
              <a:t>h</a:t>
            </a:r>
            <a:r>
              <a:rPr lang="en-US" sz="1800" dirty="0"/>
              <a:t>ave common moiety of aromatic rings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17FB4E-5343-4681-7E41-2F4D250CFF50}"/>
              </a:ext>
            </a:extLst>
          </p:cNvPr>
          <p:cNvSpPr txBox="1"/>
          <p:nvPr/>
        </p:nvSpPr>
        <p:spPr>
          <a:xfrm>
            <a:off x="9031681" y="3839769"/>
            <a:ext cx="25079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solidFill>
                  <a:srgbClr val="151515"/>
                </a:solidFill>
              </a:rPr>
              <a:t>Salvatella</a:t>
            </a:r>
            <a:r>
              <a:rPr lang="en-US" sz="1400" i="1" dirty="0">
                <a:solidFill>
                  <a:srgbClr val="151515"/>
                </a:solidFill>
              </a:rPr>
              <a:t>, Sci Advances </a:t>
            </a:r>
            <a:r>
              <a:rPr lang="en-US" sz="1400" dirty="0">
                <a:solidFill>
                  <a:srgbClr val="151515"/>
                </a:solidFill>
              </a:rPr>
              <a:t>2026</a:t>
            </a:r>
            <a:endParaRPr lang="en-US" sz="1400" dirty="0"/>
          </a:p>
        </p:txBody>
      </p:sp>
      <p:pic>
        <p:nvPicPr>
          <p:cNvPr id="11" name="Picture 10" descr="A close-up of water droplets&#10;&#10;Description automatically generated with medium confidence">
            <a:extLst>
              <a:ext uri="{FF2B5EF4-FFF2-40B4-BE49-F238E27FC236}">
                <a16:creationId xmlns:a16="http://schemas.microsoft.com/office/drawing/2014/main" id="{04AF0E88-8CE2-9E00-F256-80A5032B6AB7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13266" b="12606"/>
          <a:stretch>
            <a:fillRect/>
          </a:stretch>
        </p:blipFill>
        <p:spPr>
          <a:xfrm>
            <a:off x="6914564" y="5251430"/>
            <a:ext cx="1258272" cy="12443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93EE660-A468-E335-7C32-72778A7085C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66317" t="7795"/>
          <a:stretch>
            <a:fillRect/>
          </a:stretch>
        </p:blipFill>
        <p:spPr>
          <a:xfrm>
            <a:off x="10094632" y="5291360"/>
            <a:ext cx="1333437" cy="124437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C39DB40-BF61-97C2-FEE4-0E20656E225D}"/>
              </a:ext>
            </a:extLst>
          </p:cNvPr>
          <p:cNvSpPr txBox="1"/>
          <p:nvPr/>
        </p:nvSpPr>
        <p:spPr>
          <a:xfrm>
            <a:off x="3555232" y="4935326"/>
            <a:ext cx="2147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Masofaniten (Phase I/II)</a:t>
            </a:r>
          </a:p>
        </p:txBody>
      </p:sp>
      <p:pic>
        <p:nvPicPr>
          <p:cNvPr id="19" name="Picture 18" descr="undefined">
            <a:extLst>
              <a:ext uri="{FF2B5EF4-FFF2-40B4-BE49-F238E27FC236}">
                <a16:creationId xmlns:a16="http://schemas.microsoft.com/office/drawing/2014/main" id="{5E12FF77-04EC-33F7-0DC8-7AAB0BE25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822" y="5394643"/>
            <a:ext cx="2595286" cy="733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30679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20C64-65F6-7C6B-8D0A-2B2838E9F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7469B-DAFB-B739-922C-9295B154C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trying to get P(r) functions, do you ever cut off the larger q-values given that there is an option in the </a:t>
            </a:r>
            <a:r>
              <a:rPr lang="en-US" dirty="0" err="1"/>
              <a:t>biosaxs</a:t>
            </a:r>
            <a:r>
              <a:rPr lang="en-US" dirty="0"/>
              <a:t> raw </a:t>
            </a:r>
            <a:r>
              <a:rPr lang="en-US" dirty="0" err="1"/>
              <a:t>gui</a:t>
            </a:r>
            <a:r>
              <a:rPr lang="en-US" dirty="0"/>
              <a:t>?</a:t>
            </a:r>
          </a:p>
          <a:p>
            <a:r>
              <a:rPr lang="en-US" dirty="0"/>
              <a:t>Using the API, is there an easier way to get </a:t>
            </a:r>
            <a:r>
              <a:rPr lang="en-US" dirty="0" err="1"/>
              <a:t>svd</a:t>
            </a:r>
            <a:r>
              <a:rPr lang="en-US" dirty="0"/>
              <a:t> plots?</a:t>
            </a:r>
          </a:p>
        </p:txBody>
      </p:sp>
    </p:spTree>
    <p:extLst>
      <p:ext uri="{BB962C8B-B14F-4D97-AF65-F5344CB8AC3E}">
        <p14:creationId xmlns:p14="http://schemas.microsoft.com/office/powerpoint/2010/main" val="29993549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EFC9E-E6EC-438B-DF19-417EEFEC9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3F3F0-147E-182E-C1DB-290BCFA9E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228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75fd4a31fba3439a3a11a2"/>
  <p:tag name="FIGURESLIDEID" val="74e8d166-3cc2-4630-8de9-a25f76044106"/>
  <p:tag name="DATEINSERTED" val="1745945613139"/>
  <p:tag name="BIOJSON" val="{&quot;id&quot;:&quot;0e05eb39-e4d7-428f-9c5d-62a5156e99cf&quot;,&quot;objects&quot;:{&quot;74e8d166-3cc2-4630-8de9-a25f76044106&quot;:{&quot;id&quot;:&quot;74e8d166-3cc2-4630-8de9-a25f76044106&quot;,&quot;type&quot;:&quot;FIGURE_OBJECT&quot;,&quot;document&quot;:{&quot;type&quot;:&quot;FIGURE&quot;,&quot;canvasType&quot;:&quot;FIGURE&quot;,&quot;units&quot;:&quot;in&quot;,&quot;aspectRatio&quot;:0,&quot;title&quot;:&quot;AR Annotated&quot;},&quot;parent&quot;:{&quot;type&quot;:&quot;DOCUMENT&quot;,&quot;parentId&quot;:&quot;0e05eb39-e4d7-428f-9c5d-62a5156e99cf&quot;,&quot;order&quot;:&quot;6&quot;}},&quot;16837fa6-35bd-4c3c-ab83-1dc31764c431&quot;:{&quot;id&quot;:&quot;16837fa6-35bd-4c3c-ab83-1dc31764c431&quot;,&quot;type&quot;:&quot;FIGURE_OBJECT&quot;,&quot;relativeTransform&quot;:{&quot;translate&quot;:{&quot;x&quot;:113.54048187870569,&quot;y&quot;:0},&quot;rotate&quot;:0,&quot;skewX&quot;:0,&quot;scale&quot;:{&quot;x&quot;:1,&quot;y&quot;:1}},&quot;path&quot;:{&quot;type&quot;:&quot;RECT&quot;,&quot;size&quot;:{&quot;x&quot;:1187.0809637574114,&quot;y&quot;:672}},&quot;pathStyles&quot;:[{&quot;type&quot;:&quot;FILL&quot;,&quot;fillStyle&quot;:&quot;rgba(0,0,0,0)&quot;}],&quot;parent&quot;:{&quot;type&quot;:&quot;FRAME&quot;,&quot;parentId&quot;:&quot;74e8d166-3cc2-4630-8de9-a25f76044106&quot;,&quot;order&quot;:&quot;5&quot;}},&quot;a789006d-4826-4e57-b04f-f187702da180&quot;:{&quot;type&quot;:&quot;FIGURE_OBJECT&quot;,&quot;id&quot;:&quot;a789006d-4826-4e57-b04f-f187702da180&quot;,&quot;parent&quot;:{&quot;type&quot;:&quot;CHILD&quot;,&quot;parentId&quot;:&quot;74e8d166-3cc2-4630-8de9-a25f76044106&quot;,&quot;order&quot;:&quot;99995&quot;},&quot;relativeTransform&quot;:{&quot;translate&quot;:{&quot;x&quot;:20.727663675870104,&quot;y&quot;:158.71774486680806},&quot;rotate&quot;:0,&quot;skewX&quot;:0,&quot;scale&quot;:{&quot;x&quot;:1,&quot;y&quot;:1}}},&quot;35eb444c-81f6-443b-9c18-36cf1edba0b0&quot;:{&quot;id&quot;:&quot;35eb444c-81f6-443b-9c18-36cf1edba0b0&quot;,&quot;name&quot;:&quot;3D - Cylinder&quot;,&quot;displayName&quot;:&quot;&quot;,&quot;type&quot;:&quot;FIGURE_OBJECT&quot;,&quot;relativeTransform&quot;:{&quot;translate&quot;:{&quot;x&quot;:-314.65964067808676,&quot;y&quot;:-152.61014254685952},&quot;rotate&quot;:-1.5707963267948961,&quot;skewX&quot;:-7.4243075057126e-17,&quot;scale&quot;:{&quot;x&quot;:0.3866941120629318,&quot;y&quot;:0.35715918104240396}},&quot;image&quot;:{&quot;url&quot;:&quot;https://icons.cdn.biorender.com/biorender/620184899dc6f70029e071ff/5a69f74088de6b0014333fb0.png&quot;,&quot;isPremium&quot;:false,&quot;isOrgIcon&quot;:false,&quot;size&quot;:{&quot;x&quot;:100,&quot;y&quot;:242.5},&quot;fallbackUrl&quot;:&quot;sources/icons/620184899dc6f70029e071ff/5a69f74088de6b0014333fb0.svg&quot;},&quot;source&quot;:{&quot;id&quot;:&quot;5a69f74088de6b0014333fb0&quot;,&quot;version&quot;:&quot;20220207165330&quot;,&quot;type&quot;:&quot;ASSETS&quot;},&quot;isPremium&quot;:false,&quot;parent&quot;:{&quot;type&quot;:&quot;CHILD&quot;,&quot;parentId&quot;:&quot;a789006d-4826-4e57-b04f-f187702da180&quot;,&quot;order&quot;:&quot;15&quot;},&quot;opacity&quot;:1,&quot;styles&quot;:{&quot;editable&quot;:[{&quot;styleName&quot;:&quot;MONOCHROME_COLOR&quot;,&quot;index&quot;:0,&quot;color&quot;:&quot;#818689&quot;}]}},&quot;cf424d2a-10c1-476f-9bca-eaa6540e651c&quot;:{&quot;id&quot;:&quot;cf424d2a-10c1-476f-9bca-eaa6540e651c&quot;,&quot;name&quot;:&quot;3D - Cylinder&quot;,&quot;displayName&quot;:&quot;&quot;,&quot;type&quot;:&quot;FIGURE_OBJECT&quot;,&quot;relativeTransform&quot;:{&quot;translate&quot;:{&quot;x&quot;:-51.57102333987154,&quot;y&quot;:-100.69628029248031},&quot;rotate&quot;:-1.570796326794896,&quot;skewX&quot;:-1.0686641019049056e-16,&quot;scale&quot;:{&quot;x&quot;:0.3866941120629318,&quot;y&quot;:0.35715918104240396}},&quot;image&quot;:{&quot;url&quot;:&quot;https://icons.cdn.biorender.com/biorender/620184899dc6f70029e071ff/5a69f74088de6b0014333fb0.png&quot;,&quot;isPremium&quot;:false,&quot;isOrgIcon&quot;:false,&quot;size&quot;:{&quot;x&quot;:100,&quot;y&quot;:242.5},&quot;fallbackUrl&quot;:&quot;sources/icons/620184899dc6f70029e071ff/5a69f74088de6b0014333fb0.svg&quot;},&quot;source&quot;:{&quot;id&quot;:&quot;5a69f74088de6b0014333fb0&quot;,&quot;version&quot;:&quot;20220207165330&quot;,&quot;type&quot;:&quot;ASSETS&quot;},&quot;isPremium&quot;:false,&quot;parent&quot;:{&quot;type&quot;:&quot;CHILD&quot;,&quot;parentId&quot;:&quot;a789006d-4826-4e57-b04f-f187702da180&quot;,&quot;order&quot;:&quot;25&quot;},&quot;opacity&quot;:1,&quot;styles&quot;:{&quot;&quot;:[{&quot;styleName&quot;:&quot;MONOCHROME_COLOR&quot;,&quot;index&quot;:0,&quot;color&quot;:&quot;#818689&quot;}]}},&quot;b9b9e432-bb87-4882-8a37-42eb385d123e&quot;:{&quot;id&quot;:&quot;b9b9e432-bb87-4882-8a37-42eb385d123e&quot;,&quot;name&quot;:&quot;3D - Cylinder&quot;,&quot;displayName&quot;:&quot;&quot;,&quot;type&quot;:&quot;FIGURE_OBJECT&quot;,&quot;relativeTransform&quot;:{&quot;translate&quot;:{&quot;x&quot;:-85.90176818563901,&quot;y&quot;:-180.6008568900519},&quot;rotate&quot;:-1.5707963267948961,&quot;skewX&quot;:-7.4243075057126e-17,&quot;scale&quot;:{&quot;x&quot;:0.3866941120629318,&quot;y&quot;:0.35715918104240396}},&quot;image&quot;:{&quot;url&quot;:&quot;https://icons.cdn.biorender.com/biorender/620184899dc6f70029e071ff/5a69f74088de6b0014333fb0.png&quot;,&quot;isPremium&quot;:false,&quot;isOrgIcon&quot;:false,&quot;size&quot;:{&quot;x&quot;:100,&quot;y&quot;:242.5},&quot;fallbackUrl&quot;:&quot;sources/icons/620184899dc6f70029e071ff/5a69f74088de6b0014333fb0.svg&quot;},&quot;source&quot;:{&quot;id&quot;:&quot;5a69f74088de6b0014333fb0&quot;,&quot;version&quot;:&quot;20220207165330&quot;,&quot;type&quot;:&quot;ASSETS&quot;},&quot;isPremium&quot;:false,&quot;parent&quot;:{&quot;type&quot;:&quot;CHILD&quot;,&quot;parentId&quot;:&quot;a789006d-4826-4e57-b04f-f187702da180&quot;,&quot;order&quot;:&quot;3&quot;},&quot;opacity&quot;:1,&quot;styles&quot;:{&quot;editable&quot;:[{&quot;styleName&quot;:&quot;MONOCHROME_COLOR&quot;,&quot;index&quot;:0,&quot;color&quot;:&quot;#818689&quot;}],&quot;&quot;:[{&quot;styleName&quot;:&quot;MONOCHROME_COLOR&quot;,&quot;index&quot;:0,&quot;color&quot;:&quot;#818689&quot;}]}},&quot;fdb89eb5-7d26-4f36-b7e6-11171e0512e3&quot;:{&quot;id&quot;:&quot;fdb89eb5-7d26-4f36-b7e6-11171e0512e3&quot;,&quot;name&quot;:&quot;3D - Cylinder&quot;,&quot;displayName&quot;:&quot;&quot;,&quot;type&quot;:&quot;FIGURE_OBJECT&quot;,&quot;relativeTransform&quot;:{&quot;translate&quot;:{&quot;x&quot;:53.66774406815674,&quot;y&quot;:-100.34728763119985},&quot;rotate&quot;:-1.5707963267948963,&quot;skewX&quot;:-4.16197399237614e-17,&quot;scale&quot;:{&quot;x&quot;:0.3866941120629318,&quot;y&quot;:0.35715918104240396}},&quot;image&quot;:{&quot;url&quot;:&quot;https://icons.cdn.biorender.com/biorender/620184899dc6f70029e071ff/5a69f74088de6b0014333fb0.png&quot;,&quot;isPremium&quot;:false,&quot;isOrgIcon&quot;:false,&quot;size&quot;:{&quot;x&quot;:100,&quot;y&quot;:242.5},&quot;fallbackUrl&quot;:&quot;sources/icons/620184899dc6f70029e071ff/5a69f74088de6b0014333fb0.svg&quot;},&quot;source&quot;:{&quot;id&quot;:&quot;5a69f74088de6b0014333fb0&quot;,&quot;version&quot;:&quot;20220207165330&quot;,&quot;type&quot;:&quot;ASSETS&quot;},&quot;isPremium&quot;:false,&quot;parent&quot;:{&quot;type&quot;:&quot;CHILD&quot;,&quot;parentId&quot;:&quot;a789006d-4826-4e57-b04f-f187702da180&quot;,&quot;order&quot;:&quot;05&quot;},&quot;opacity&quot;:1,&quot;styles&quot;:{&quot;&quot;:[{&quot;styleName&quot;:&quot;MONOCHROME_COLOR&quot;,&quot;index&quot;:0,&quot;color&quot;:&quot;#818689&quot;}]}},&quot;e96c2ff5-4ab0-48aa-bad6-e271f02b7055&quot;:{&quot;id&quot;:&quot;e96c2ff5-4ab0-48aa-bad6-e271f02b7055&quot;,&quot;type&quot;:&quot;FIGURE_OBJECT&quot;,&quot;relativeTransform&quot;:{&quot;translate&quot;:{&quot;x&quot;:-85.90189938802001,&quot;y&quot;:-181.87028850018012},&quot;rotate&quot;:-2.6518355496552284e-16,&quot;skewX&quot;:-4.218329123495719e-17,&quot;scale&quot;:{&quot;x&quot;:1,&quot;y&quot;:1}},&quot;text&quot;:{&quot;textData&quot;:{&quot;lineSpacing&quot;:&quot;half&quot;,&quot;alignment&quot;:&quot;center&quot;,&quot;verticalAlign&quot;:&quot;CENTER&quot;,&quot;lines&quot;:[{&quot;runs&quot;:[{&quot;style&quot;:{&quot;fontFamily&quot;:&quot;Arial&quot;,&quot;fontSize&quot;:25.273388870958367,&quot;color&quot;:&quot;rgb(255, 255, 255)&quot;,&quot;fontWeight&quot;:&quot;bold&quot;,&quot;fontStyle&quot;:&quot;italic&quot;,&quot;decoration&quot;:&quot;none&quot;},&quot;range&quot;:[0,1]}],&quot;text&quot;:&quot;R1&quot;}],&quot;_lastCaretLocation&quot;:{&quot;lineIndex&quot;:0,&quot;runIndex&quot;:-1,&quot;charIndex&quot;:-1,&quot;endOfLine&quot;:true}},&quot;format&quot;:&quot;BETTER_TEXT&quot;,&quot;size&quot;:{&quot;x&quot;:65.45809949597894,&quot;y&quot;:36.1303613177686},&quot;targetSize&quot;:{&quot;x&quot;:65.45809949597894,&quot;y&quot;:36.1303613177686}},&quot;parent&quot;:{&quot;type&quot;:&quot;CHILD&quot;,&quot;parentId&quot;:&quot;a789006d-4826-4e57-b04f-f187702da180&quot;,&quot;order&quot;:&quot;4&quot;}},&quot;784108f4-de30-4e40-a7a4-0bb74c7582cc&quot;:{&quot;id&quot;:&quot;784108f4-de30-4e40-a7a4-0bb74c7582cc&quot;,&quot;type&quot;:&quot;FIGURE_OBJECT&quot;,&quot;relativeTransform&quot;:{&quot;translate&quot;:{&quot;x&quot;:-51.57117982955288,&quot;y&quot;:-101.96614811680354},&quot;rotate&quot;:-2.6518355496552284e-16,&quot;skewX&quot;:-4.218329123495719e-17,&quot;scale&quot;:{&quot;x&quot;:1,&quot;y&quot;:1}},&quot;text&quot;:{&quot;textData&quot;:{&quot;lineSpacing&quot;:&quot;half&quot;,&quot;alignment&quot;:&quot;center&quot;,&quot;verticalAlign&quot;:&quot;CENTER&quot;,&quot;lines&quot;:[{&quot;runs&quot;:[{&quot;style&quot;:{&quot;fontFamily&quot;:&quot;Arial&quot;,&quot;fontSize&quot;:25.273388870958367,&quot;color&quot;:&quot;rgb(255, 255, 255)&quot;,&quot;fontWeight&quot;:&quot;bold&quot;,&quot;fontStyle&quot;:&quot;italic&quot;,&quot;decoration&quot;:&quot;none&quot;},&quot;range&quot;:[0,1]}],&quot;text&quot;:&quot;R2&quot;}],&quot;_lastCaretLocation&quot;:{&quot;lineIndex&quot;:0,&quot;runIndex&quot;:-1,&quot;charIndex&quot;:-1,&quot;endOfLine&quot;:true}},&quot;format&quot;:&quot;BETTER_TEXT&quot;,&quot;size&quot;:{&quot;x&quot;:65.45809949597894,&quot;y&quot;:36.1303613177686},&quot;targetSize&quot;:{&quot;x&quot;:65.45809949597894,&quot;y&quot;:36.1303613177686}},&quot;parent&quot;:{&quot;type&quot;:&quot;CHILD&quot;,&quot;parentId&quot;:&quot;a789006d-4826-4e57-b04f-f187702da180&quot;,&quot;order&quot;:&quot;55&quot;}},&quot;72342ced-7621-46be-b19a-7bc9f43c32e0&quot;:{&quot;id&quot;:&quot;72342ced-7621-46be-b19a-7bc9f43c32e0&quot;,&quot;type&quot;:&quot;FIGURE_OBJECT&quot;,&quot;relativeTransform&quot;:{&quot;translate&quot;:{&quot;x&quot;:53.667828293515285,&quot;y&quot;:-101.96599980921091},&quot;rotate&quot;:-2.6518355496552284e-16,&quot;skewX&quot;:-4.218329123495719e-17,&quot;scale&quot;:{&quot;x&quot;:1,&quot;y&quot;:1}},&quot;text&quot;:{&quot;textData&quot;:{&quot;lineSpacing&quot;:&quot;half&quot;,&quot;alignment&quot;:&quot;center&quot;,&quot;verticalAlign&quot;:&quot;CENTER&quot;,&quot;lines&quot;:[{&quot;runs&quot;:[{&quot;style&quot;:{&quot;fontFamily&quot;:&quot;Arial&quot;,&quot;fontSize&quot;:25.273388870958367,&quot;color&quot;:&quot;rgb(255, 255, 255)&quot;,&quot;fontWeight&quot;:&quot;bold&quot;,&quot;fontStyle&quot;:&quot;italic&quot;,&quot;decoration&quot;:&quot;none&quot;},&quot;range&quot;:[0,1]}],&quot;text&quot;:&quot;R3&quot;}],&quot;_lastCaretLocation&quot;:{&quot;lineIndex&quot;:0,&quot;runIndex&quot;:-1,&quot;charIndex&quot;:-1,&quot;endOfLine&quot;:true}},&quot;format&quot;:&quot;BETTER_TEXT&quot;,&quot;size&quot;:{&quot;x&quot;:65.45809949597894,&quot;y&quot;:36.1303613177686},&quot;targetSize&quot;:{&quot;x&quot;:65.45809949597894,&quot;y&quot;:36.1303613177686}},&quot;parent&quot;:{&quot;type&quot;:&quot;CHILD&quot;,&quot;parentId&quot;:&quot;a789006d-4826-4e57-b04f-f187702da180&quot;,&quot;order&quot;:&quot;1&quot;}},&quot;59bc6a23-cd88-48bf-974b-aead5ab48c6b&quot;:{&quot;id&quot;:&quot;59bc6a23-cd88-48bf-974b-aead5ab48c6b&quot;,&quot;displayName&quot;:&quot;1T7T&quot;,&quot;type&quot;:&quot;FIGURE_OBJECT&quot;,&quot;relativeTransform&quot;:{&quot;translate&quot;:{&quot;x&quot;:480.4646477825413,&quot;y&quot;:-142.95116134079237},&quot;rotate&quot;:0.40828709305277644,&quot;skewX&quot;:0.05790140967632146,&quot;scale&quot;:{&quot;x&quot;:0.8008329951435594,&quot;y&quot;:0.846975443565117}},&quot;image&quot;:{&quot;url&quot;:&quot;https://core.services.biorender.com/api/pdb/677601d787f31fbb8cd45761/1735786967194_f4c95054-b75e-444e-a271-863fbaf722e0_icon.png&quot;,&quot;isPremium&quot;:false,&quot;isSignedURL&quot;:true,&quot;size&quot;:{&quot;x&quot;:273,&quot;y&quot;:176.7}},&quot;source&quot;:{&quot;id&quot;:&quot;677601d787f31fbb8cd45761&quot;,&quot;type&quot;:&quot;PDBS&quot;},&quot;isPremium&quot;:false,&quot;parent&quot;:{&quot;type&quot;:&quot;CHILD&quot;,&quot;parentId&quot;:&quot;a789006d-4826-4e57-b04f-f187702da180&quot;,&quot;order&quot;:&quot;8&quot;}},&quot;32796fd3-b98d-44b7-9a0e-428c326eaf1e&quot;:{&quot;id&quot;:&quot;32796fd3-b98d-44b7-9a0e-428c326eaf1e&quot;,&quot;name&quot;:&quot;AR DBD.png&quot;,&quot;type&quot;:&quot;FIGURE_OBJECT&quot;,&quot;relativeTransform&quot;:{&quot;translate&quot;:{&quot;x&quot;:232.41351712255653,&quot;y&quot;:-84.21169205689282},&quot;rotate&quot;:0,&quot;skewX&quot;:0,&quot;scale&quot;:{&quot;x&quot;:0.9236219789772201,&quot;y&quot;:1}},&quot;image&quot;:{&quot;url&quot;:&quot;https://core.services.biorender.com/api/uploads/67760d554ef80500e56e0f7e/1735789909055_21775302-de81-40a9-b4ac-3e648b2a5216_icon.png&quot;,&quot;fallbackUrl&quot;:&quot;https://core.services.biorender.com/api/uploads/67760d554ef80500e56e0f7e/1735789909055_21775302-de81-40a9-b4ac-3e648b2a5216_icon.png&quot;,&quot;isPremium&quot;:false,&quot;isSignedURL&quot;:true,&quot;size&quot;:{&quot;x&quot;:300,&quot;y&quot;:231.44876325088342}},&quot;source&quot;:{&quot;id&quot;:&quot;67760d554ef80500e56e0f7e&quot;,&quot;type&quot;:&quot;UPLOADS&quot;},&quot;isPremium&quot;:false,&quot;parent&quot;:{&quot;type&quot;:&quot;CHILD&quot;,&quot;parentId&quot;:&quot;a789006d-4826-4e57-b04f-f187702da180&quot;,&quot;order&quot;:&quot;9&quot;}},&quot;a13347a1-a97b-4483-89bb-506bfcc14ad6&quot;:{&quot;type&quot;:&quot;FIGURE_OBJECT&quot;,&quot;id&quot;:&quot;a13347a1-a97b-4483-89bb-506bfcc14ad6&quot;,&quot;relativeTransform&quot;:{&quot;translate&quot;:{&quot;x&quot;:-11.856008512869465,&quot;y&quot;:0.9159999999999968},&quot;rotate&quot;:0},&quot;opacity&quot;:1,&quot;path&quot;:{&quot;type&quot;:&quot;POLY_LINE&quot;,&quot;points&quot;:[{&quot;x&quot;:-259.49808146382577,&quot;y&quot;:-152.6101425468595},{&quot;x&quot;:-216.89020224895933,&quot;y&quot;:-154.59001197854292},{&quot;x&quot;:-207.17015621956304,&quot;y&quot;:-166.14617819892095},{&quot;x&quot;:-156.66304736373746,&quot;y&quot;:-166.14617819892095},{&quot;x&quot;:-156.66304736373746,&quot;y&quot;:-179.30141900088879},{&quot;x&quot;:-110.95423860777741,&quot;y&quot;:-179.30141900088879}],&quot;closed&quot;:false},&quot;pathStyles&quot;:[{&quot;type&quot;:&quot;FILL&quot;,&quot;fillStyle&quot;:&quot;rgba(0,0,0,0)&quot;},{&quot;type&quot;:&quot;STROKE&quot;,&quot;strokeStyle&quot;:&quot;#232323&quot;,&quot;lineWidth&quot;:1.5,&quot;lineJoin&quot;:&quot;round&quot;}],&quot;pathSmoothing&quot;:{&quot;type&quot;:&quot;CATMULL_SMOOTHING&quot;,&quot;smoothing&quot;:0.2},&quot;isLocked&quot;:false,&quot;parent&quot;:{&quot;type&quot;:&quot;CHILD&quot;,&quot;parentId&quot;:&quot;a789006d-4826-4e57-b04f-f187702da180&quot;,&quot;order&quot;:&quot;6&quot;},&quot;connectorInfo&quot;:{&quot;connectedObjects&quot;:[],&quot;type&quot;:&quot;QUADRATIC&quot;,&quot;offset&quot;:{&quot;x&quot;:0,&quot;y&quot;:0},&quot;bending&quot;:-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3155f7a0-ce65-4d6e-9310-25cc9600aca5&quot;:{&quot;type&quot;:&quot;FIGURE_OBJECT&quot;,&quot;id&quot;:&quot;3155f7a0-ce65-4d6e-9310-25cc9600aca5&quot;,&quot;relativeTransform&quot;:{&quot;translate&quot;:{&quot;x&quot;:59.622241818295805,&quot;y&quot;:-15.213705983844562},&quot;rotate&quot;:0,&quot;skewX&quot;:0,&quot;scale&quot;:{&quot;x&quot;:1,&quot;y&quot;:1}},&quot;opacity&quot;:1,&quot;path&quot;:{&quot;type&quot;:&quot;POLY_LINE&quot;,&quot;points&quot;:[{&quot;x&quot;:-102.13749414968662,&quot;y&quot;:-165.80184792744453},{&quot;x&quot;:-77.91343418090788,&quot;y&quot;:-154.42533527550023},{&quot;x&quot;:-101.19074912659845,&quot;y&quot;:-130.5123986298833},{&quot;x&quot;:-174.47327261415276,&quot;y&quot;:-102.3142109181798},{&quot;x&quot;:-151.1934303701971,&quot;y&quot;:-84.50323531772348}],&quot;closed&quot;:false},&quot;pathStyles&quot;:[{&quot;type&quot;:&quot;FILL&quot;,&quot;fillStyle&quot;:&quot;rgba(0,0,0,0)&quot;},{&quot;type&quot;:&quot;STROKE&quot;,&quot;strokeStyle&quot;:&quot;#232323&quot;,&quot;lineWidth&quot;:1.5,&quot;lineJoin&quot;:&quot;round&quot;}],&quot;isLocked&quot;:false,&quot;parent&quot;:{&quot;type&quot;:&quot;CHILD&quot;,&quot;parentId&quot;:&quot;a789006d-4826-4e57-b04f-f187702da180&quot;,&quot;order&quot;:&quot;65&quot;},&quot;connectorInfo&quot;:{&quot;connectedObjects&quot;:[],&quot;type&quot;:&quot;CUBIC&quot;,&quot;offset&quot;:{&quot;x&quot;:0,&quot;y&quot;:0},&quot;bending&quot;:0.1,&quot;firstElementIsHead&quot;:true,&quot;customized&quot;:true},&quot;pathSmoothing&quot;:{&quot;type&quot;:&quot;CATMULL_SMOOTHING&quot;,&quot;smoothing&quot;:0.2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2021926e-0089-43c5-a320-8f13dd002cd9&quot;:{&quot;type&quot;:&quot;FIGURE_OBJECT&quot;,&quot;id&quot;:&quot;2021926e-0089-43c5-a320-8f13dd002cd9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-8.265472638480055,&quot;y&quot;:-100.69628029248028},{&quot;x&quot;:14.820457572360343,&quot;y&quot;:-100.69628029248037}],&quot;closed&quot;:false},&quot;pathStyles&quot;:[{&quot;type&quot;:&quot;FILL&quot;,&quot;fillStyle&quot;:&quot;rgba(0,0,0,0)&quot;},{&quot;type&quot;:&quot;STROKE&quot;,&quot;strokeStyle&quot;:&quot;#232323&quot;,&quot;lineWidth&quot;:1.5,&quot;lineJoin&quot;:&quot;round&quot;}],&quot;isLocked&quot;:false,&quot;parent&quot;:{&quot;type&quot;:&quot;CHILD&quot;,&quot;parentId&quot;:&quot;a789006d-4826-4e57-b04f-f187702da180&quot;,&quot;order&quot;:&quot;5&quot;},&quot;connectorInfo&quot;:{&quot;connectedObjects&quot;:[{&quot;objectId&quot;:&quot;cf424d2a-10c1-476f-9bca-eaa6540e651c&quot;,&quot;coordinates&quot;:{&quot;x&quot;:0.5,&quot;y&quot;:1}}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35c43c6d-0d84-4f1a-905a-3267412d0442&quot;:{&quot;type&quot;:&quot;FIGURE_OBJECT&quot;,&quot;id&quot;:&quot;35c43c6d-0d84-4f1a-905a-3267412d0442&quot;,&quot;relativeTransform&quot;:{&quot;translate&quot;:{&quot;x&quot;:119.76228617092356,&quot;y&quot;:-121.00310186030839},&quot;rotate&quot;:-0.8683914577869827},&quot;opacity&quot;:1,&quot;path&quot;:{&quot;type&quot;:&quot;POLY_LINE&quot;,&quot;points&quot;:[{&quot;x&quot;:-32.67090318163946,&quot;y&quot;:-2.002370387502438},{&quot;x&quot;:-15.874646916477502,&quot;y&quot;:17.841796397572956},{&quot;x&quot;:26.548846227370863,&quot;y&quot;:-3.0959305362703664},{&quot;x&quot;:41.25845629170252,&quot;y&quot;:29.961187990650235}],&quot;closed&quot;:false},&quot;pathStyles&quot;:[{&quot;type&quot;:&quot;FILL&quot;,&quot;fillStyle&quot;:&quot;rgba(0,0,0,0)&quot;},{&quot;type&quot;:&quot;STROKE&quot;,&quot;strokeStyle&quot;:&quot;#232323&quot;,&quot;lineWidth&quot;:1.5,&quot;lineJoin&quot;:&quot;round&quot;}],&quot;pathSmoothing&quot;:{&quot;type&quot;:&quot;CATMULL_SMOOTHING&quot;,&quot;smoothing&quot;:0.2},&quot;isLocked&quot;:false,&quot;parent&quot;:{&quot;type&quot;:&quot;CHILD&quot;,&quot;parentId&quot;:&quot;a789006d-4826-4e57-b04f-f187702da180&quot;,&quot;order&quot;:&quot;7&quot;},&quot;connectorInfo&quot;:{&quot;connectedObjects&quot;:[],&quot;type&quot;:&quot;CUBIC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872098e0-3fa0-4b9e-a153-8b73db273f3c&quot;:{&quot;type&quot;:&quot;FIGURE_OBJECT&quot;,&quot;id&quot;:&quot;872098e0-3fa0-4b9e-a153-8b73db273f3c&quot;,&quot;parent&quot;:{&quot;type&quot;:&quot;CHILD&quot;,&quot;parentId&quot;:&quot;a789006d-4826-4e57-b04f-f187702da180&quot;,&quot;order&quot;:&quot;2&quot;},&quot;relativeTransform&quot;:{&quot;translate&quot;:{&quot;x&quot;:-68.34520604552797,&quot;y&quot;:16.099072475303274},&quot;rotate&quot;:0,&quot;skewX&quot;:0,&quot;scale&quot;:{&quot;x&quot;:1,&quot;y&quot;:1}}},&quot;b7701bbd-ac56-4861-bd27-85253e6bfa52&quot;:{&quot;id&quot;:&quot;b7701bbd-ac56-4861-bd27-85253e6bfa52&quot;,&quot;name&quot;:&quot;Sine wave 4&quot;,&quot;displayName&quot;:&quot;&quot;,&quot;type&quot;:&quot;FIGURE_OBJECT&quot;,&quot;relativeTransform&quot;:{&quot;translate&quot;:{&quot;x&quot;:-325.407898362292,&quot;y&quot;:-168.87980483024782},&quot;rotate&quot;:0,&quot;skewX&quot;:0,&quot;scale&quot;:{&quot;x&quot;:0.4670401694615304,&quot;y&quot;:0.9999999999999998}},&quot;image&quot;:{&quot;url&quot;:&quot;https://icons.cdn.biorender.com/biorender/5cec63e41ef6550400bb1973/20190527223156/image/5cec63e41ef6550400bb1973.png&quot;,&quot;isPremium&quot;:false,&quot;isOrgIcon&quot;:false,&quot;size&quot;:{&quot;x&quot;:200,&quot;y&quot;:39.0092879256966}},&quot;source&quot;:{&quot;id&quot;:&quot;5cec63e41ef6550400bb1973&quot;,&quot;version&quot;:&quot;20190527223156&quot;,&quot;type&quot;:&quot;ASSETS&quot;},&quot;isPremium&quot;:false,&quot;parent&quot;:{&quot;type&quot;:&quot;CHILD&quot;,&quot;parentId&quot;:&quot;872098e0-3fa0-4b9e-a153-8b73db273f3c&quot;,&quot;order&quot;:&quot;5&quot;},&quot;styles&quot;:{&quot;editable&quot;:[{&quot;monochromeTargetColor&quot;:&quot;#818689&quot;,&quot;styleName&quot;:&quot;FILL&quot;},{&quot;monochromeTargetColor&quot;:&quot;#818689&quot;,&quot;styleName&quot;:&quot;STROKE&quot;,&quot;color&quot;:&quot;#2a2e31&quot;}]}},&quot;53775d1b-7e1a-47c0-82b7-431e31098a31&quot;:{&quot;type&quot;:&quot;FIGURE_OBJECT&quot;,&quot;id&quot;:&quot;53775d1b-7e1a-47c0-82b7-431e31098a31&quot;,&quot;parent&quot;:{&quot;type&quot;:&quot;CROP&quot;,&quot;parentId&quot;:&quot;872098e0-3fa0-4b9e-a153-8b73db273f3c&quot;,&quot;order&quot;:&quot;5&quot;},&quot;relativeTransform&quot;:{&quot;translate&quot;:{&quot;x&quot;:-315.73711561926706,&quot;y&quot;:-168.87980483024782},&quot;rotate&quot;:0,&quot;skewX&quot;:0,&quot;scale&quot;:{&quot;x&quot;:37.03323420312813,&quot;y&quot;:19.50464396284829}},&quot;path&quot;:{&quot;type&quot;:&quot;RECT&quot;,&quot;size&quot;:{&quot;x&quot;:2,&quot;y&quot;:2}},&quot;pathStyles&quot;:[{&quot;type&quot;:&quot;FILL&quot;,&quot;fillStyle&quot;:&quot;#fff&quot;}],&quot;isFrozen&quot;:true},&quot;b42c4fd6-e8ad-4d67-b493-38a18726a15e&quot;:{&quot;type&quot;:&quot;FIGURE_OBJECT&quot;,&quot;id&quot;:&quot;b42c4fd6-e8ad-4d67-b493-38a18726a15e&quot;,&quot;relativeTransform&quot;:{&quot;translate&quot;:{&quot;x&quot;:327.1344342626072,&quot;y&quot;:-163.6489971389967},&quot;rotate&quot;:0},&quot;opacity&quot;:1,&quot;path&quot;:{&quot;type&quot;:&quot;POLY_LINE&quot;,&quot;points&quot;:[{&quot;x&quot;:-22.587333355099975,&quot;y&quot;:-12.752821903942277},{&quot;x&quot;:0.48511992691319206,&quot;y&quot;:-8.170229610218115},{&quot;x&quot;:10.490567590882053,&quot;y&quot;:10.19908764039073},{&quot;x&quot;:49.89270230181015,&quot;y&quot;:4.927226644704973}],&quot;closed&quot;:false},&quot;pathStyles&quot;:[{&quot;type&quot;:&quot;FILL&quot;,&quot;fillStyle&quot;:&quot;rgba(0,0,0,0)&quot;},{&quot;type&quot;:&quot;STROKE&quot;,&quot;strokeStyle&quot;:&quot;#232323&quot;,&quot;lineWidth&quot;:1.5,&quot;lineJoin&quot;:&quot;round&quot;}],&quot;pathSmoothing&quot;:{&quot;type&quot;:&quot;CATMULL_SMOOTHING&quot;,&quot;smoothing&quot;:0.2},&quot;isLocked&quot;:false,&quot;parent&quot;:{&quot;type&quot;:&quot;CHILD&quot;,&quot;parentId&quot;:&quot;a789006d-4826-4e57-b04f-f187702da180&quot;,&quot;order&quot;:&quot;75&quot;},&quot;connectorInfo&quot;:{&quot;connectedObjects&quot;:[],&quot;type&quot;:&quot;CUBIC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af6cadc0-dd7a-44c9-82d9-a4415012498c&quot;:{&quot;id&quot;:&quot;af6cadc0-dd7a-44c9-82d9-a4415012498c&quot;,&quot;type&quot;:&quot;FIGURE_OBJECT&quot;,&quot;relativeTransform&quot;:{&quot;translate&quot;:{&quot;x&quot;:-103.07324127135742,&quot;y&quot;:-172.93400314021744},&quot;rotate&quot;:0},&quot;text&quot;:{&quot;textData&quot;:{&quot;lineSpacing&quot;:&quot;onehalf&quot;,&quot;alignment&quot;:&quot;center&quot;,&quot;verticalAlign&quot;:&quot;TOP&quot;,&quot;lines&quot;:[{&quot;runs&quot;:[{&quot;style&quot;:{&quot;fontFamily&quot;:&quot;Arial&quot;,&quot;fontSize&quot;:24,&quot;color&quot;:&quot;black&quot;,&quot;fontWeight&quot;:&quot;normal&quot;,&quot;fontStyle&quot;:&quot;normal&quot;,&quot;decoration&quot;:&quot;none&quot;},&quot;range&quot;:[0,32]}],&quot;text&quot;:&quot;N-Terminal Transactivation Domain&quot;},{&quot;runs&quot;:[{&quot;style&quot;:{&quot;fontFamily&quot;:&quot;Arial&quot;,&quot;fontSize&quot;:33.33333333333333,&quot;color&quot;:&quot;black&quot;,&quot;fontWeight&quot;:&quot;bold&quot;,&quot;fontStyle&quot;:&quot;normal&quot;,&quot;decoration&quot;:&quot;none&quot;,&quot;script&quot;:&quot;none&quot;},&quot;range&quot;:[0,2]}],&quot;text&quot;:&quot;NTD&quot;}],&quot;_lastCaretLocation&quot;:{&quot;lineIndex&quot;:0,&quot;runIndex&quot;:0,&quot;charIndex&quot;:27}},&quot;format&quot;:&quot;BETTER_TEXT&quot;,&quot;size&quot;:{&quot;x&quot;:613.1814984922622,&quot;y&quot;:85.69306455448623},&quot;targetSize&quot;:{&quot;x&quot;:613.1814984922622,&quot;y&quot;:85.69306455448623}},&quot;parent&quot;:{&quot;type&quot;:&quot;CHILD&quot;,&quot;parentId&quot;:&quot;9c44b773-3e2e-4c4c-b1cf-d3c6e17d12a1&quot;,&quot;order&quot;:&quot;2&quot;}},&quot;d2f9c7a5-5f0e-45e1-b72c-816400b0e577&quot;:{&quot;type&quot;:&quot;FIGURE_OBJECT&quot;,&quot;id&quot;:&quot;d2f9c7a5-5f0e-45e1-b72c-816400b0e577&quot;,&quot;relativeTransform&quot;:{&quot;translate&quot;:{&quot;x&quot;:-103.07352002284345,&quot;y&quot;:-113.26504071412074},&quot;rotate&quot;:1.5707963267948966,&quot;skewX&quot;:1.125225697245548e-18},&quot;opacity&quot;:0.77,&quot;path&quot;:{&quot;type&quot;:&quot;BRACKET&quot;,&quot;size&quot;:{&quot;x&quot;:28.644827729752254,&quot;y&quot;:571.1784288121963},&quot;handleBase&quot;:{&quot;x&quot;:-1,&quot;y&quot;:0},&quot;handleWidth&quot;:35.04290244738468,&quot;cornerRounding&quot;:{&quot;type&quot;:&quot;ARC_LENGTH&quot;,&quot;global&quot;:0},&quot;selectedObjectIds&quot;:[&quot;d2f9c7a5-5f0e-45e1-b72c-816400b0e577&quot;]},&quot;pathStyles&quot;:[{&quot;type&quot;:&quot;FILL&quot;,&quot;fillStyle&quot;:&quot;rgba(0,0,0,0)&quot;},{&quot;type&quot;:&quot;STROKE&quot;,&quot;strokeStyle&quot;:&quot;#232323&quot;,&quot;lineWidth&quot;:5,&quot;lineJoin&quot;:&quot;round&quot;}],&quot;isLocked&quot;:false,&quot;parent&quot;:{&quot;type&quot;:&quot;CHILD&quot;,&quot;parentId&quot;:&quot;9c44b773-3e2e-4c4c-b1cf-d3c6e17d12a1&quot;,&quot;order&quot;:&quot;5&quot;}},&quot;9c44b773-3e2e-4c4c-b1cf-d3c6e17d12a1&quot;:{&quot;type&quot;:&quot;FIGURE_OBJECT&quot;,&quot;id&quot;:&quot;9c44b773-3e2e-4c4c-b1cf-d3c6e17d12a1&quot;,&quot;parent&quot;:{&quot;type&quot;:&quot;CHILD&quot;,&quot;parentId&quot;:&quot;74e8d166-3cc2-4630-8de9-a25f76044106&quot;,&quot;order&quot;:&quot;99998&quot;},&quot;relativeTransform&quot;:{&quot;translate&quot;:{&quot;x&quot;:-13.338196229932715,&quot;y&quot;:30.78477318160037},&quot;rotate&quot;:0,&quot;skewX&quot;:0,&quot;scale&quot;:{&quot;x&quot;:1,&quot;y&quot;:1}}},&quot;3aa15120-64ef-4c50-8485-e530d6e466d2&quot;:{&quot;id&quot;:&quot;3aa15120-64ef-4c50-8485-e530d6e466d2&quot;,&quot;type&quot;:&quot;FIGURE_OBJECT&quot;,&quot;relativeTransform&quot;:{&quot;translate&quot;:{&quot;x&quot;:263.50617534662837,&quot;y&quot;:-142.1497787349246},&quot;rotate&quot;:0,&quot;skewX&quot;:0,&quot;scale&quot;:{&quot;x&quot;:1,&quot;y&quot;:1}},&quot;text&quot;:{&quot;textData&quot;:{&quot;lineSpacing&quot;:&quot;onehalf&quot;,&quot;alignment&quot;:&quot;center&quot;,&quot;verticalAlign&quot;:&quot;TOP&quot;,&quot;lines&quot;:[{&quot;runs&quot;:[{&quot;style&quot;:{&quot;fontFamily&quot;:&quot;Arial&quot;,&quot;fontSize&quot;:24,&quot;color&quot;:&quot;rgba(130,92,166,1)&quot;,&quot;fontWeight&quot;:&quot;normal&quot;,&quot;fontStyle&quot;:&quot;normal&quot;,&quot;decoration&quot;:&quot;none&quot;},&quot;range&quot;:[0,17]}],&quot;text&quot;:&quot;DNA Binding Domain&quot;},{&quot;runs&quot;:[{&quot;style&quot;:{&quot;fontFamily&quot;:&quot;Arial&quot;,&quot;fontSize&quot;:33.33333333333333,&quot;color&quot;:&quot;rgba(130,92,166,1)&quot;,&quot;fontWeight&quot;:&quot;bold&quot;,&quot;fontStyle&quot;:&quot;normal&quot;,&quot;decoration&quot;:&quot;none&quot;,&quot;script&quot;:&quot;none&quot;},&quot;range&quot;:[0,2]}],&quot;text&quot;:&quot;DBD&quot;}],&quot;_lastCaretLocation&quot;:{&quot;lineIndex&quot;:0,&quot;runIndex&quot;:0,&quot;charIndex&quot;:0}},&quot;format&quot;:&quot;BETTER_TEXT&quot;,&quot;size&quot;:{&quot;x&quot;:280.8643837051175,&quot;y&quot;:85.69306455448623},&quot;targetSize&quot;:{&quot;x&quot;:280.8643837051175,&quot;y&quot;:85.69306455448623}},&quot;parent&quot;:{&quot;type&quot;:&quot;CHILD&quot;,&quot;parentId&quot;:&quot;74e8d166-3cc2-4630-8de9-a25f76044106&quot;,&quot;order&quot;:&quot;99999&quot;}},&quot;e69f538c-f55a-4562-91b2-e17b11cf1410&quot;:{&quot;id&quot;:&quot;e69f538c-f55a-4562-91b2-e17b11cf1410&quot;,&quot;type&quot;:&quot;FIGURE_OBJECT&quot;,&quot;relativeTransform&quot;:{&quot;translate&quot;:{&quot;x&quot;:525.3276156967726,&quot;y&quot;:-142.14981044809417},&quot;rotate&quot;:0,&quot;skewX&quot;:0,&quot;scale&quot;:{&quot;x&quot;:1,&quot;y&quot;:1}},&quot;text&quot;:{&quot;textData&quot;:{&quot;lineSpacing&quot;:&quot;onehalf&quot;,&quot;alignment&quot;:&quot;center&quot;,&quot;verticalAlign&quot;:&quot;TOP&quot;,&quot;lines&quot;:[{&quot;runs&quot;:[{&quot;style&quot;:{&quot;fontFamily&quot;:&quot;Arial&quot;,&quot;fontSize&quot;:24,&quot;color&quot;:&quot;rgba(90,170,70,1)&quot;,&quot;fontWeight&quot;:&quot;normal&quot;,&quot;fontStyle&quot;:&quot;normal&quot;,&quot;decoration&quot;:&quot;none&quot;},&quot;range&quot;:[0,20]}],&quot;text&quot;:&quot;Ligand Binding Domain&quot;},{&quot;runs&quot;:[{&quot;style&quot;:{&quot;fontFamily&quot;:&quot;Arial&quot;,&quot;fontSize&quot;:33.33333333333333,&quot;color&quot;:&quot;rgba(90,170,70,1)&quot;,&quot;fontWeight&quot;:&quot;bold&quot;,&quot;fontStyle&quot;:&quot;normal&quot;,&quot;decoration&quot;:&quot;none&quot;,&quot;script&quot;:&quot;none&quot;},&quot;range&quot;:[0,2]}],&quot;text&quot;:&quot;LBD&quot;}],&quot;_lastCaretLocation&quot;:{&quot;lineIndex&quot;:0,&quot;runIndex&quot;:0,&quot;charIndex&quot;:0}},&quot;format&quot;:&quot;BETTER_TEXT&quot;,&quot;size&quot;:{&quot;x&quot;:280.8643837051175,&quot;y&quot;:85.69306455448623},&quot;targetSize&quot;:{&quot;x&quot;:280.8643837051175,&quot;y&quot;:85.69306455448623}},&quot;parent&quot;:{&quot;type&quot;:&quot;CHILD&quot;,&quot;parentId&quot;:&quot;74e8d166-3cc2-4630-8de9-a25f76044106&quot;,&quot;order&quot;:&quot;999995&quot;}},&quot;12e26f60-4c87-47cc-b720-9eaa7253668c&quot;:{&quot;id&quot;:&quot;12e26f60-4c87-47cc-b720-9eaa7253668c&quot;,&quot;type&quot;:&quot;FIGURE_OBJECT&quot;,&quot;relativeTransform&quot;:{&quot;translate&quot;:{&quot;x&quot;:12.820211890466691,&quot;y&quot;:103.8537694793724},&quot;rotate&quot;:0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26.666666666666664,&quot;color&quot;:&quot;rgb(188, 77, 74)&quot;,&quot;fontWeight&quot;:&quot;bold&quot;,&quot;fontStyle&quot;:&quot;normal&quot;,&quot;decoration&quot;:&quot;none&quot;},&quot;range&quot;:[0,4]}],&quot;text&quot;:&quot;Tau-5&quot;}],&quot;_lastCaretLocation&quot;:{&quot;lineIndex&quot;:0,&quot;runIndex&quot;:0,&quot;charIndex&quot;:0}},&quot;format&quot;:&quot;BETTER_TEXT&quot;,&quot;size&quot;:{&quot;x&quot;:155.93663458859862,&quot;y&quot;:33.300129875558575},&quot;targetSize&quot;:{&quot;x&quot;:155.93663458859862,&quot;y&quot;:33.300129875558575}},&quot;parent&quot;:{&quot;type&quot;:&quot;CHILD&quot;,&quot;parentId&quot;:&quot;74e8d166-3cc2-4630-8de9-a25f76044106&quot;,&quot;order&quot;:&quot;999997&quot;}},&quot;a1357346-c014-4b02-ad5c-fcaa29750642&quot;:{&quot;type&quot;:&quot;FIGURE_OBJECT&quot;,&quot;id&quot;:&quot;a1357346-c014-4b02-ad5c-fcaa29750642&quot;,&quot;relativeTransform&quot;:{&quot;translate&quot;:{&quot;x&quot;:12.820170871616554,&quot;y&quot;:17.906276483652178},&quot;rotate&quot;:0,&quot;skewX&quot;:0,&quot;scale&quot;:{&quot;x&quot;:1,&quot;y&quot;:1}},&quot;opacity&quot;:1,&quot;path&quot;:{&quot;type&quot;:&quot;RECT&quot;,&quot;size&quot;:{&quot;x&quot;:268.020014247232,&quot;y&quot;:136.59573214901818},&quot;cornerRounding&quot;:{&quot;type&quot;:&quot;ARC_LENGTH&quot;,&quot;global&quot;:15.707963267948966}},&quot;pathStyles&quot;:[{&quot;type&quot;:&quot;FILL&quot;,&quot;fillStyle&quot;:&quot;rgb(254, 241, 240)&quot;},{&quot;type&quot;:&quot;STROKE&quot;,&quot;strokeStyle&quot;:&quot;rgba(192,56,48,1)&quot;,&quot;lineWidth&quot;:2,&quot;lineJoin&quot;:&quot;round&quot;,&quot;dashArray&quot;:[7]}],&quot;isLocked&quot;:false,&quot;parent&quot;:{&quot;type&quot;:&quot;CHILD&quot;,&quot;parentId&quot;:&quot;74e8d166-3cc2-4630-8de9-a25f76044106&quot;,&quot;order&quot;:&quot;2&quot;}},&quot;fa4c5c3d-0f8d-492c-a611-67fa571c431e&quot;:{&quot;id&quot;:&quot;fa4c5c3d-0f8d-492c-a611-67fa571c431e&quot;,&quot;type&quot;:&quot;FIGURE_OBJECT&quot;,&quot;relativeTransform&quot;:{&quot;translate&quot;:{&quot;x&quot;:12.820310284628404,&quot;y&quot;:139.36551007658196},&quot;rotate&quot;:0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25.333333333333332,&quot;color&quot;:&quot;rgb(188, 77, 74)&quot;,&quot;fontWeight&quot;:&quot;normal&quot;,&quot;fontStyle&quot;:&quot;normal&quot;,&quot;decoration&quot;:&quot;none&quot;},&quot;range&quot;:[0,23]}],&quot;text&quot;:&quot;(Transactivation Unit 5)&quot;}],&quot;_lastCaretLocation&quot;:{&quot;lineIndex&quot;:0,&quot;runIndex&quot;:-1,&quot;charIndex&quot;:-1,&quot;endOfLine&quot;:true}},&quot;format&quot;:&quot;BETTER_TEXT&quot;,&quot;size&quot;:{&quot;x&quot;:292.2837579860655,&quot;y&quot;:37.72211198571092},&quot;targetSize&quot;:{&quot;x&quot;:292.2837579860655,&quot;y&quot;:37.72211198571092}},&quot;parent&quot;:{&quot;type&quot;:&quot;CHILD&quot;,&quot;parentId&quot;:&quot;74e8d166-3cc2-4630-8de9-a25f76044106&quot;,&quot;order&quot;:&quot;999998&quot;}},&quot;0ea21c53-438e-44e0-ad80-289630b4b052&quot;:{&quot;id&quot;:&quot;0ea21c53-438e-44e0-ad80-289630b4b052&quot;,&quot;type&quot;:&quot;FIGURE_OBJECT&quot;,&quot;relativeTransform&quot;:{&quot;translate&quot;:{&quot;x&quot;:-299.76215631371423,&quot;y&quot;:233.62762550335728},&quot;rotate&quot;:0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26.666666666666664,&quot;color&quot;:&quot;rgb(188, 77, 74)&quot;,&quot;fontWeight&quot;:&quot;bold&quot;,&quot;fontStyle&quot;:&quot;normal&quot;,&quot;decoration&quot;:&quot;none&quot;},&quot;range&quot;:[0,4]}],&quot;text&quot;:&quot;Tau-1&quot;}],&quot;_lastCaretLocation&quot;:{&quot;lineIndex&quot;:0,&quot;runIndex&quot;:-1,&quot;charIndex&quot;:-1,&quot;endOfLine&quot;:true}},&quot;format&quot;:&quot;BETTER_TEXT&quot;,&quot;size&quot;:{&quot;x&quot;:155.93663458859862,&quot;y&quot;:33.300129875558575},&quot;targetSize&quot;:{&quot;x&quot;:155.93663458859862,&quot;y&quot;:33.300129875558575}},&quot;parent&quot;:{&quot;type&quot;:&quot;CHILD&quot;,&quot;parentId&quot;:&quot;37cc5f6c-2af4-4102-a931-a16ba50c2c54&quot;,&quot;order&quot;:&quot;5&quot;}},&quot;6025e252-d909-4fd4-a813-ce47f8af4120&quot;:{&quot;type&quot;:&quot;FIGURE_OBJECT&quot;,&quot;id&quot;:&quot;6025e252-d909-4fd4-a813-ce47f8af4120&quot;,&quot;relativeTransform&quot;:{&quot;translate&quot;:{&quot;x&quot;:-300.31112460078384,&quot;y&quot;:147.68013250763704},&quot;rotate&quot;:0},&quot;opacity&quot;:1,&quot;path&quot;:{&quot;type&quot;:&quot;RECT&quot;,&quot;size&quot;:{&quot;x&quot;:144.82433984609466,&quot;y&quot;:136.59573214901818},&quot;cornerRounding&quot;:{&quot;type&quot;:&quot;ARC_LENGTH&quot;,&quot;global&quot;:15.707963267948966}},&quot;pathStyles&quot;:[{&quot;type&quot;:&quot;FILL&quot;,&quot;fillStyle&quot;:&quot;rgb(254, 241, 240)&quot;},{&quot;type&quot;:&quot;STROKE&quot;,&quot;strokeStyle&quot;:&quot;rgba(192,56,48,1)&quot;,&quot;lineWidth&quot;:2,&quot;lineJoin&quot;:&quot;round&quot;,&quot;dashArray&quot;:[7]}],&quot;isLocked&quot;:false,&quot;parent&quot;:{&quot;type&quot;:&quot;CHILD&quot;,&quot;parentId&quot;:&quot;37cc5f6c-2af4-4102-a931-a16ba50c2c54&quot;,&quot;order&quot;:&quot;2&quot;}},&quot;b20f54de-e383-4879-9c53-120b1e3a1950&quot;:{&quot;id&quot;:&quot;b20f54de-e383-4879-9c53-120b1e3a1950&quot;,&quot;type&quot;:&quot;FIGURE_OBJECT&quot;,&quot;relativeTransform&quot;:{&quot;translate&quot;:{&quot;x&quot;:-299.7620579195525,&quot;y&quot;:269.1393661005668},&quot;rotate&quot;:0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25.333333333333332,&quot;color&quot;:&quot;rgb(188, 77, 74)&quot;,&quot;fontWeight&quot;:&quot;normal&quot;,&quot;fontStyle&quot;:&quot;normal&quot;,&quot;decoration&quot;:&quot;none&quot;},&quot;range&quot;:[0,23]}],&quot;text&quot;:&quot;(Transactivation Unit 1)&quot;}],&quot;_lastCaretLocation&quot;:{&quot;lineIndex&quot;:0,&quot;runIndex&quot;:0,&quot;charIndex&quot;:23}},&quot;format&quot;:&quot;BETTER_TEXT&quot;,&quot;size&quot;:{&quot;x&quot;:292.2837579860655,&quot;y&quot;:37.72211198571092},&quot;targetSize&quot;:{&quot;x&quot;:292.2837579860655,&quot;y&quot;:37.72211198571092}},&quot;parent&quot;:{&quot;type&quot;:&quot;CHILD&quot;,&quot;parentId&quot;:&quot;37cc5f6c-2af4-4102-a931-a16ba50c2c54&quot;,&quot;order&quot;:&quot;7&quot;}},&quot;37cc5f6c-2af4-4102-a931-a16ba50c2c54&quot;:{&quot;type&quot;:&quot;FIGURE_OBJECT&quot;,&quot;id&quot;:&quot;37cc5f6c-2af4-4102-a931-a16ba50c2c54&quot;,&quot;parent&quot;:{&quot;type&quot;:&quot;CHILD&quot;,&quot;parentId&quot;:&quot;74e8d166-3cc2-4630-8de9-a25f76044106&quot;,&quot;order&quot;:&quot;4&quot;},&quot;relativeTransform&quot;:{&quot;translate&quot;:{&quot;x&quot;:9.620491075621999,&quot;y&quot;:-126.38262000278795},&quot;rotate&quot;:0,&quot;skewX&quot;:0,&quot;scale&quot;:{&quot;x&quot;:1,&quot;y&quot;:1}}},&quot;0e05eb39-e4d7-428f-9c5d-62a5156e99cf&quot;:{&quot;id&quot;:&quot;0e05eb39-e4d7-428f-9c5d-62a5156e99cf&quot;,&quot;type&quot;:&quot;FIGURE_OBJECT&quot;,&quot;document&quot;:{&quot;type&quot;:&quot;DOCUMENT_GROUP&quot;,&quot;canvasType&quot;:&quot;SLIDE&quot;,&quot;units&quot;:&quot;in&quot;}}}}"/>
  <p:tag name="TRANSPARENTBACKGROUND" val="true"/>
  <p:tag name="VERSION" val="1745945575457"/>
  <p:tag name="TITLE" val="Androgen Receptor"/>
  <p:tag name="CREATORNAME" val="Natalie Loui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75fd4a31fba3439a3a11a2"/>
  <p:tag name="FIGURESLIDEID" val="74e8d166-3cc2-4630-8de9-a25f76044106"/>
  <p:tag name="DATEINSERTED" val="1745945613139"/>
  <p:tag name="BIOJSON" val="{&quot;id&quot;:&quot;0e05eb39-e4d7-428f-9c5d-62a5156e99cf&quot;,&quot;objects&quot;:{&quot;74e8d166-3cc2-4630-8de9-a25f76044106&quot;:{&quot;id&quot;:&quot;74e8d166-3cc2-4630-8de9-a25f76044106&quot;,&quot;type&quot;:&quot;FIGURE_OBJECT&quot;,&quot;document&quot;:{&quot;type&quot;:&quot;FIGURE&quot;,&quot;canvasType&quot;:&quot;FIGURE&quot;,&quot;units&quot;:&quot;in&quot;,&quot;aspectRatio&quot;:0,&quot;title&quot;:&quot;AR Annotated&quot;},&quot;parent&quot;:{&quot;type&quot;:&quot;DOCUMENT&quot;,&quot;parentId&quot;:&quot;0e05eb39-e4d7-428f-9c5d-62a5156e99cf&quot;,&quot;order&quot;:&quot;6&quot;}},&quot;16837fa6-35bd-4c3c-ab83-1dc31764c431&quot;:{&quot;id&quot;:&quot;16837fa6-35bd-4c3c-ab83-1dc31764c431&quot;,&quot;type&quot;:&quot;FIGURE_OBJECT&quot;,&quot;relativeTransform&quot;:{&quot;translate&quot;:{&quot;x&quot;:113.54048187870569,&quot;y&quot;:0},&quot;rotate&quot;:0,&quot;skewX&quot;:0,&quot;scale&quot;:{&quot;x&quot;:1,&quot;y&quot;:1}},&quot;path&quot;:{&quot;type&quot;:&quot;RECT&quot;,&quot;size&quot;:{&quot;x&quot;:1187.0809637574114,&quot;y&quot;:672}},&quot;pathStyles&quot;:[{&quot;type&quot;:&quot;FILL&quot;,&quot;fillStyle&quot;:&quot;rgba(0,0,0,0)&quot;}],&quot;parent&quot;:{&quot;type&quot;:&quot;FRAME&quot;,&quot;parentId&quot;:&quot;74e8d166-3cc2-4630-8de9-a25f76044106&quot;,&quot;order&quot;:&quot;5&quot;}},&quot;a789006d-4826-4e57-b04f-f187702da180&quot;:{&quot;type&quot;:&quot;FIGURE_OBJECT&quot;,&quot;id&quot;:&quot;a789006d-4826-4e57-b04f-f187702da180&quot;,&quot;parent&quot;:{&quot;type&quot;:&quot;CHILD&quot;,&quot;parentId&quot;:&quot;74e8d166-3cc2-4630-8de9-a25f76044106&quot;,&quot;order&quot;:&quot;99995&quot;},&quot;relativeTransform&quot;:{&quot;translate&quot;:{&quot;x&quot;:20.727663675870104,&quot;y&quot;:158.71774486680806},&quot;rotate&quot;:0,&quot;skewX&quot;:0,&quot;scale&quot;:{&quot;x&quot;:1,&quot;y&quot;:1}}},&quot;35eb444c-81f6-443b-9c18-36cf1edba0b0&quot;:{&quot;id&quot;:&quot;35eb444c-81f6-443b-9c18-36cf1edba0b0&quot;,&quot;name&quot;:&quot;3D - Cylinder&quot;,&quot;displayName&quot;:&quot;&quot;,&quot;type&quot;:&quot;FIGURE_OBJECT&quot;,&quot;relativeTransform&quot;:{&quot;translate&quot;:{&quot;x&quot;:-314.65964067808676,&quot;y&quot;:-152.61014254685952},&quot;rotate&quot;:-1.5707963267948961,&quot;skewX&quot;:-7.4243075057126e-17,&quot;scale&quot;:{&quot;x&quot;:0.3866941120629318,&quot;y&quot;:0.35715918104240396}},&quot;image&quot;:{&quot;url&quot;:&quot;https://icons.cdn.biorender.com/biorender/620184899dc6f70029e071ff/5a69f74088de6b0014333fb0.png&quot;,&quot;isPremium&quot;:false,&quot;isOrgIcon&quot;:false,&quot;size&quot;:{&quot;x&quot;:100,&quot;y&quot;:242.5},&quot;fallbackUrl&quot;:&quot;sources/icons/620184899dc6f70029e071ff/5a69f74088de6b0014333fb0.svg&quot;},&quot;source&quot;:{&quot;id&quot;:&quot;5a69f74088de6b0014333fb0&quot;,&quot;version&quot;:&quot;20220207165330&quot;,&quot;type&quot;:&quot;ASSETS&quot;},&quot;isPremium&quot;:false,&quot;parent&quot;:{&quot;type&quot;:&quot;CHILD&quot;,&quot;parentId&quot;:&quot;a789006d-4826-4e57-b04f-f187702da180&quot;,&quot;order&quot;:&quot;15&quot;},&quot;opacity&quot;:1,&quot;styles&quot;:{&quot;editable&quot;:[{&quot;styleName&quot;:&quot;MONOCHROME_COLOR&quot;,&quot;index&quot;:0,&quot;color&quot;:&quot;#818689&quot;}]}},&quot;cf424d2a-10c1-476f-9bca-eaa6540e651c&quot;:{&quot;id&quot;:&quot;cf424d2a-10c1-476f-9bca-eaa6540e651c&quot;,&quot;name&quot;:&quot;3D - Cylinder&quot;,&quot;displayName&quot;:&quot;&quot;,&quot;type&quot;:&quot;FIGURE_OBJECT&quot;,&quot;relativeTransform&quot;:{&quot;translate&quot;:{&quot;x&quot;:-51.57102333987154,&quot;y&quot;:-100.69628029248031},&quot;rotate&quot;:-1.570796326794896,&quot;skewX&quot;:-1.0686641019049056e-16,&quot;scale&quot;:{&quot;x&quot;:0.3866941120629318,&quot;y&quot;:0.35715918104240396}},&quot;image&quot;:{&quot;url&quot;:&quot;https://icons.cdn.biorender.com/biorender/620184899dc6f70029e071ff/5a69f74088de6b0014333fb0.png&quot;,&quot;isPremium&quot;:false,&quot;isOrgIcon&quot;:false,&quot;size&quot;:{&quot;x&quot;:100,&quot;y&quot;:242.5},&quot;fallbackUrl&quot;:&quot;sources/icons/620184899dc6f70029e071ff/5a69f74088de6b0014333fb0.svg&quot;},&quot;source&quot;:{&quot;id&quot;:&quot;5a69f74088de6b0014333fb0&quot;,&quot;version&quot;:&quot;20220207165330&quot;,&quot;type&quot;:&quot;ASSETS&quot;},&quot;isPremium&quot;:false,&quot;parent&quot;:{&quot;type&quot;:&quot;CHILD&quot;,&quot;parentId&quot;:&quot;a789006d-4826-4e57-b04f-f187702da180&quot;,&quot;order&quot;:&quot;25&quot;},&quot;opacity&quot;:1,&quot;styles&quot;:{&quot;&quot;:[{&quot;styleName&quot;:&quot;MONOCHROME_COLOR&quot;,&quot;index&quot;:0,&quot;color&quot;:&quot;#818689&quot;}]}},&quot;b9b9e432-bb87-4882-8a37-42eb385d123e&quot;:{&quot;id&quot;:&quot;b9b9e432-bb87-4882-8a37-42eb385d123e&quot;,&quot;name&quot;:&quot;3D - Cylinder&quot;,&quot;displayName&quot;:&quot;&quot;,&quot;type&quot;:&quot;FIGURE_OBJECT&quot;,&quot;relativeTransform&quot;:{&quot;translate&quot;:{&quot;x&quot;:-85.90176818563901,&quot;y&quot;:-180.6008568900519},&quot;rotate&quot;:-1.5707963267948961,&quot;skewX&quot;:-7.4243075057126e-17,&quot;scale&quot;:{&quot;x&quot;:0.3866941120629318,&quot;y&quot;:0.35715918104240396}},&quot;image&quot;:{&quot;url&quot;:&quot;https://icons.cdn.biorender.com/biorender/620184899dc6f70029e071ff/5a69f74088de6b0014333fb0.png&quot;,&quot;isPremium&quot;:false,&quot;isOrgIcon&quot;:false,&quot;size&quot;:{&quot;x&quot;:100,&quot;y&quot;:242.5},&quot;fallbackUrl&quot;:&quot;sources/icons/620184899dc6f70029e071ff/5a69f74088de6b0014333fb0.svg&quot;},&quot;source&quot;:{&quot;id&quot;:&quot;5a69f74088de6b0014333fb0&quot;,&quot;version&quot;:&quot;20220207165330&quot;,&quot;type&quot;:&quot;ASSETS&quot;},&quot;isPremium&quot;:false,&quot;parent&quot;:{&quot;type&quot;:&quot;CHILD&quot;,&quot;parentId&quot;:&quot;a789006d-4826-4e57-b04f-f187702da180&quot;,&quot;order&quot;:&quot;3&quot;},&quot;opacity&quot;:1,&quot;styles&quot;:{&quot;editable&quot;:[{&quot;styleName&quot;:&quot;MONOCHROME_COLOR&quot;,&quot;index&quot;:0,&quot;color&quot;:&quot;#818689&quot;}],&quot;&quot;:[{&quot;styleName&quot;:&quot;MONOCHROME_COLOR&quot;,&quot;index&quot;:0,&quot;color&quot;:&quot;#818689&quot;}]}},&quot;fdb89eb5-7d26-4f36-b7e6-11171e0512e3&quot;:{&quot;id&quot;:&quot;fdb89eb5-7d26-4f36-b7e6-11171e0512e3&quot;,&quot;name&quot;:&quot;3D - Cylinder&quot;,&quot;displayName&quot;:&quot;&quot;,&quot;type&quot;:&quot;FIGURE_OBJECT&quot;,&quot;relativeTransform&quot;:{&quot;translate&quot;:{&quot;x&quot;:53.66774406815674,&quot;y&quot;:-100.34728763119985},&quot;rotate&quot;:-1.5707963267948963,&quot;skewX&quot;:-4.16197399237614e-17,&quot;scale&quot;:{&quot;x&quot;:0.3866941120629318,&quot;y&quot;:0.35715918104240396}},&quot;image&quot;:{&quot;url&quot;:&quot;https://icons.cdn.biorender.com/biorender/620184899dc6f70029e071ff/5a69f74088de6b0014333fb0.png&quot;,&quot;isPremium&quot;:false,&quot;isOrgIcon&quot;:false,&quot;size&quot;:{&quot;x&quot;:100,&quot;y&quot;:242.5},&quot;fallbackUrl&quot;:&quot;sources/icons/620184899dc6f70029e071ff/5a69f74088de6b0014333fb0.svg&quot;},&quot;source&quot;:{&quot;id&quot;:&quot;5a69f74088de6b0014333fb0&quot;,&quot;version&quot;:&quot;20220207165330&quot;,&quot;type&quot;:&quot;ASSETS&quot;},&quot;isPremium&quot;:false,&quot;parent&quot;:{&quot;type&quot;:&quot;CHILD&quot;,&quot;parentId&quot;:&quot;a789006d-4826-4e57-b04f-f187702da180&quot;,&quot;order&quot;:&quot;05&quot;},&quot;opacity&quot;:1,&quot;styles&quot;:{&quot;&quot;:[{&quot;styleName&quot;:&quot;MONOCHROME_COLOR&quot;,&quot;index&quot;:0,&quot;color&quot;:&quot;#818689&quot;}]}},&quot;e96c2ff5-4ab0-48aa-bad6-e271f02b7055&quot;:{&quot;id&quot;:&quot;e96c2ff5-4ab0-48aa-bad6-e271f02b7055&quot;,&quot;type&quot;:&quot;FIGURE_OBJECT&quot;,&quot;relativeTransform&quot;:{&quot;translate&quot;:{&quot;x&quot;:-85.90189938802001,&quot;y&quot;:-181.87028850018012},&quot;rotate&quot;:-2.6518355496552284e-16,&quot;skewX&quot;:-4.218329123495719e-17,&quot;scale&quot;:{&quot;x&quot;:1,&quot;y&quot;:1}},&quot;text&quot;:{&quot;textData&quot;:{&quot;lineSpacing&quot;:&quot;half&quot;,&quot;alignment&quot;:&quot;center&quot;,&quot;verticalAlign&quot;:&quot;CENTER&quot;,&quot;lines&quot;:[{&quot;runs&quot;:[{&quot;style&quot;:{&quot;fontFamily&quot;:&quot;Arial&quot;,&quot;fontSize&quot;:25.273388870958367,&quot;color&quot;:&quot;rgb(255, 255, 255)&quot;,&quot;fontWeight&quot;:&quot;bold&quot;,&quot;fontStyle&quot;:&quot;italic&quot;,&quot;decoration&quot;:&quot;none&quot;},&quot;range&quot;:[0,1]}],&quot;text&quot;:&quot;R1&quot;}],&quot;_lastCaretLocation&quot;:{&quot;lineIndex&quot;:0,&quot;runIndex&quot;:-1,&quot;charIndex&quot;:-1,&quot;endOfLine&quot;:true}},&quot;format&quot;:&quot;BETTER_TEXT&quot;,&quot;size&quot;:{&quot;x&quot;:65.45809949597894,&quot;y&quot;:36.1303613177686},&quot;targetSize&quot;:{&quot;x&quot;:65.45809949597894,&quot;y&quot;:36.1303613177686}},&quot;parent&quot;:{&quot;type&quot;:&quot;CHILD&quot;,&quot;parentId&quot;:&quot;a789006d-4826-4e57-b04f-f187702da180&quot;,&quot;order&quot;:&quot;4&quot;}},&quot;784108f4-de30-4e40-a7a4-0bb74c7582cc&quot;:{&quot;id&quot;:&quot;784108f4-de30-4e40-a7a4-0bb74c7582cc&quot;,&quot;type&quot;:&quot;FIGURE_OBJECT&quot;,&quot;relativeTransform&quot;:{&quot;translate&quot;:{&quot;x&quot;:-51.57117982955288,&quot;y&quot;:-101.96614811680354},&quot;rotate&quot;:-2.6518355496552284e-16,&quot;skewX&quot;:-4.218329123495719e-17,&quot;scale&quot;:{&quot;x&quot;:1,&quot;y&quot;:1}},&quot;text&quot;:{&quot;textData&quot;:{&quot;lineSpacing&quot;:&quot;half&quot;,&quot;alignment&quot;:&quot;center&quot;,&quot;verticalAlign&quot;:&quot;CENTER&quot;,&quot;lines&quot;:[{&quot;runs&quot;:[{&quot;style&quot;:{&quot;fontFamily&quot;:&quot;Arial&quot;,&quot;fontSize&quot;:25.273388870958367,&quot;color&quot;:&quot;rgb(255, 255, 255)&quot;,&quot;fontWeight&quot;:&quot;bold&quot;,&quot;fontStyle&quot;:&quot;italic&quot;,&quot;decoration&quot;:&quot;none&quot;},&quot;range&quot;:[0,1]}],&quot;text&quot;:&quot;R2&quot;}],&quot;_lastCaretLocation&quot;:{&quot;lineIndex&quot;:0,&quot;runIndex&quot;:-1,&quot;charIndex&quot;:-1,&quot;endOfLine&quot;:true}},&quot;format&quot;:&quot;BETTER_TEXT&quot;,&quot;size&quot;:{&quot;x&quot;:65.45809949597894,&quot;y&quot;:36.1303613177686},&quot;targetSize&quot;:{&quot;x&quot;:65.45809949597894,&quot;y&quot;:36.1303613177686}},&quot;parent&quot;:{&quot;type&quot;:&quot;CHILD&quot;,&quot;parentId&quot;:&quot;a789006d-4826-4e57-b04f-f187702da180&quot;,&quot;order&quot;:&quot;55&quot;}},&quot;72342ced-7621-46be-b19a-7bc9f43c32e0&quot;:{&quot;id&quot;:&quot;72342ced-7621-46be-b19a-7bc9f43c32e0&quot;,&quot;type&quot;:&quot;FIGURE_OBJECT&quot;,&quot;relativeTransform&quot;:{&quot;translate&quot;:{&quot;x&quot;:53.667828293515285,&quot;y&quot;:-101.96599980921091},&quot;rotate&quot;:-2.6518355496552284e-16,&quot;skewX&quot;:-4.218329123495719e-17,&quot;scale&quot;:{&quot;x&quot;:1,&quot;y&quot;:1}},&quot;text&quot;:{&quot;textData&quot;:{&quot;lineSpacing&quot;:&quot;half&quot;,&quot;alignment&quot;:&quot;center&quot;,&quot;verticalAlign&quot;:&quot;CENTER&quot;,&quot;lines&quot;:[{&quot;runs&quot;:[{&quot;style&quot;:{&quot;fontFamily&quot;:&quot;Arial&quot;,&quot;fontSize&quot;:25.273388870958367,&quot;color&quot;:&quot;rgb(255, 255, 255)&quot;,&quot;fontWeight&quot;:&quot;bold&quot;,&quot;fontStyle&quot;:&quot;italic&quot;,&quot;decoration&quot;:&quot;none&quot;},&quot;range&quot;:[0,1]}],&quot;text&quot;:&quot;R3&quot;}],&quot;_lastCaretLocation&quot;:{&quot;lineIndex&quot;:0,&quot;runIndex&quot;:-1,&quot;charIndex&quot;:-1,&quot;endOfLine&quot;:true}},&quot;format&quot;:&quot;BETTER_TEXT&quot;,&quot;size&quot;:{&quot;x&quot;:65.45809949597894,&quot;y&quot;:36.1303613177686},&quot;targetSize&quot;:{&quot;x&quot;:65.45809949597894,&quot;y&quot;:36.1303613177686}},&quot;parent&quot;:{&quot;type&quot;:&quot;CHILD&quot;,&quot;parentId&quot;:&quot;a789006d-4826-4e57-b04f-f187702da180&quot;,&quot;order&quot;:&quot;1&quot;}},&quot;59bc6a23-cd88-48bf-974b-aead5ab48c6b&quot;:{&quot;id&quot;:&quot;59bc6a23-cd88-48bf-974b-aead5ab48c6b&quot;,&quot;displayName&quot;:&quot;1T7T&quot;,&quot;type&quot;:&quot;FIGURE_OBJECT&quot;,&quot;relativeTransform&quot;:{&quot;translate&quot;:{&quot;x&quot;:480.4646477825413,&quot;y&quot;:-142.95116134079237},&quot;rotate&quot;:0.40828709305277644,&quot;skewX&quot;:0.05790140967632146,&quot;scale&quot;:{&quot;x&quot;:0.8008329951435594,&quot;y&quot;:0.846975443565117}},&quot;image&quot;:{&quot;url&quot;:&quot;https://core.services.biorender.com/api/pdb/677601d787f31fbb8cd45761/1735786967194_f4c95054-b75e-444e-a271-863fbaf722e0_icon.png&quot;,&quot;isPremium&quot;:false,&quot;isSignedURL&quot;:true,&quot;size&quot;:{&quot;x&quot;:273,&quot;y&quot;:176.7}},&quot;source&quot;:{&quot;id&quot;:&quot;677601d787f31fbb8cd45761&quot;,&quot;type&quot;:&quot;PDBS&quot;},&quot;isPremium&quot;:false,&quot;parent&quot;:{&quot;type&quot;:&quot;CHILD&quot;,&quot;parentId&quot;:&quot;a789006d-4826-4e57-b04f-f187702da180&quot;,&quot;order&quot;:&quot;8&quot;}},&quot;32796fd3-b98d-44b7-9a0e-428c326eaf1e&quot;:{&quot;id&quot;:&quot;32796fd3-b98d-44b7-9a0e-428c326eaf1e&quot;,&quot;name&quot;:&quot;AR DBD.png&quot;,&quot;type&quot;:&quot;FIGURE_OBJECT&quot;,&quot;relativeTransform&quot;:{&quot;translate&quot;:{&quot;x&quot;:232.41351712255653,&quot;y&quot;:-84.21169205689282},&quot;rotate&quot;:0,&quot;skewX&quot;:0,&quot;scale&quot;:{&quot;x&quot;:0.9236219789772201,&quot;y&quot;:1}},&quot;image&quot;:{&quot;url&quot;:&quot;https://core.services.biorender.com/api/uploads/67760d554ef80500e56e0f7e/1735789909055_21775302-de81-40a9-b4ac-3e648b2a5216_icon.png&quot;,&quot;fallbackUrl&quot;:&quot;https://core.services.biorender.com/api/uploads/67760d554ef80500e56e0f7e/1735789909055_21775302-de81-40a9-b4ac-3e648b2a5216_icon.png&quot;,&quot;isPremium&quot;:false,&quot;isSignedURL&quot;:true,&quot;size&quot;:{&quot;x&quot;:300,&quot;y&quot;:231.44876325088342}},&quot;source&quot;:{&quot;id&quot;:&quot;67760d554ef80500e56e0f7e&quot;,&quot;type&quot;:&quot;UPLOADS&quot;},&quot;isPremium&quot;:false,&quot;parent&quot;:{&quot;type&quot;:&quot;CHILD&quot;,&quot;parentId&quot;:&quot;a789006d-4826-4e57-b04f-f187702da180&quot;,&quot;order&quot;:&quot;9&quot;}},&quot;a13347a1-a97b-4483-89bb-506bfcc14ad6&quot;:{&quot;type&quot;:&quot;FIGURE_OBJECT&quot;,&quot;id&quot;:&quot;a13347a1-a97b-4483-89bb-506bfcc14ad6&quot;,&quot;relativeTransform&quot;:{&quot;translate&quot;:{&quot;x&quot;:-11.856008512869465,&quot;y&quot;:0.9159999999999968},&quot;rotate&quot;:0},&quot;opacity&quot;:1,&quot;path&quot;:{&quot;type&quot;:&quot;POLY_LINE&quot;,&quot;points&quot;:[{&quot;x&quot;:-259.49808146382577,&quot;y&quot;:-152.6101425468595},{&quot;x&quot;:-216.89020224895933,&quot;y&quot;:-154.59001197854292},{&quot;x&quot;:-207.17015621956304,&quot;y&quot;:-166.14617819892095},{&quot;x&quot;:-156.66304736373746,&quot;y&quot;:-166.14617819892095},{&quot;x&quot;:-156.66304736373746,&quot;y&quot;:-179.30141900088879},{&quot;x&quot;:-110.95423860777741,&quot;y&quot;:-179.30141900088879}],&quot;closed&quot;:false},&quot;pathStyles&quot;:[{&quot;type&quot;:&quot;FILL&quot;,&quot;fillStyle&quot;:&quot;rgba(0,0,0,0)&quot;},{&quot;type&quot;:&quot;STROKE&quot;,&quot;strokeStyle&quot;:&quot;#232323&quot;,&quot;lineWidth&quot;:1.5,&quot;lineJoin&quot;:&quot;round&quot;}],&quot;pathSmoothing&quot;:{&quot;type&quot;:&quot;CATMULL_SMOOTHING&quot;,&quot;smoothing&quot;:0.2},&quot;isLocked&quot;:false,&quot;parent&quot;:{&quot;type&quot;:&quot;CHILD&quot;,&quot;parentId&quot;:&quot;a789006d-4826-4e57-b04f-f187702da180&quot;,&quot;order&quot;:&quot;6&quot;},&quot;connectorInfo&quot;:{&quot;connectedObjects&quot;:[],&quot;type&quot;:&quot;QUADRATIC&quot;,&quot;offset&quot;:{&quot;x&quot;:0,&quot;y&quot;:0},&quot;bending&quot;:-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3155f7a0-ce65-4d6e-9310-25cc9600aca5&quot;:{&quot;type&quot;:&quot;FIGURE_OBJECT&quot;,&quot;id&quot;:&quot;3155f7a0-ce65-4d6e-9310-25cc9600aca5&quot;,&quot;relativeTransform&quot;:{&quot;translate&quot;:{&quot;x&quot;:59.622241818295805,&quot;y&quot;:-15.213705983844562},&quot;rotate&quot;:0,&quot;skewX&quot;:0,&quot;scale&quot;:{&quot;x&quot;:1,&quot;y&quot;:1}},&quot;opacity&quot;:1,&quot;path&quot;:{&quot;type&quot;:&quot;POLY_LINE&quot;,&quot;points&quot;:[{&quot;x&quot;:-102.13749414968662,&quot;y&quot;:-165.80184792744453},{&quot;x&quot;:-77.91343418090788,&quot;y&quot;:-154.42533527550023},{&quot;x&quot;:-101.19074912659845,&quot;y&quot;:-130.5123986298833},{&quot;x&quot;:-174.47327261415276,&quot;y&quot;:-102.3142109181798},{&quot;x&quot;:-151.1934303701971,&quot;y&quot;:-84.50323531772348}],&quot;closed&quot;:false},&quot;pathStyles&quot;:[{&quot;type&quot;:&quot;FILL&quot;,&quot;fillStyle&quot;:&quot;rgba(0,0,0,0)&quot;},{&quot;type&quot;:&quot;STROKE&quot;,&quot;strokeStyle&quot;:&quot;#232323&quot;,&quot;lineWidth&quot;:1.5,&quot;lineJoin&quot;:&quot;round&quot;}],&quot;isLocked&quot;:false,&quot;parent&quot;:{&quot;type&quot;:&quot;CHILD&quot;,&quot;parentId&quot;:&quot;a789006d-4826-4e57-b04f-f187702da180&quot;,&quot;order&quot;:&quot;65&quot;},&quot;connectorInfo&quot;:{&quot;connectedObjects&quot;:[],&quot;type&quot;:&quot;CUBIC&quot;,&quot;offset&quot;:{&quot;x&quot;:0,&quot;y&quot;:0},&quot;bending&quot;:0.1,&quot;firstElementIsHead&quot;:true,&quot;customized&quot;:true},&quot;pathSmoothing&quot;:{&quot;type&quot;:&quot;CATMULL_SMOOTHING&quot;,&quot;smoothing&quot;:0.2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2021926e-0089-43c5-a320-8f13dd002cd9&quot;:{&quot;type&quot;:&quot;FIGURE_OBJECT&quot;,&quot;id&quot;:&quot;2021926e-0089-43c5-a320-8f13dd002cd9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-8.265472638480055,&quot;y&quot;:-100.69628029248028},{&quot;x&quot;:14.820457572360343,&quot;y&quot;:-100.69628029248037}],&quot;closed&quot;:false},&quot;pathStyles&quot;:[{&quot;type&quot;:&quot;FILL&quot;,&quot;fillStyle&quot;:&quot;rgba(0,0,0,0)&quot;},{&quot;type&quot;:&quot;STROKE&quot;,&quot;strokeStyle&quot;:&quot;#232323&quot;,&quot;lineWidth&quot;:1.5,&quot;lineJoin&quot;:&quot;round&quot;}],&quot;isLocked&quot;:false,&quot;parent&quot;:{&quot;type&quot;:&quot;CHILD&quot;,&quot;parentId&quot;:&quot;a789006d-4826-4e57-b04f-f187702da180&quot;,&quot;order&quot;:&quot;5&quot;},&quot;connectorInfo&quot;:{&quot;connectedObjects&quot;:[{&quot;objectId&quot;:&quot;cf424d2a-10c1-476f-9bca-eaa6540e651c&quot;,&quot;coordinates&quot;:{&quot;x&quot;:0.5,&quot;y&quot;:1}}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35c43c6d-0d84-4f1a-905a-3267412d0442&quot;:{&quot;type&quot;:&quot;FIGURE_OBJECT&quot;,&quot;id&quot;:&quot;35c43c6d-0d84-4f1a-905a-3267412d0442&quot;,&quot;relativeTransform&quot;:{&quot;translate&quot;:{&quot;x&quot;:119.76228617092356,&quot;y&quot;:-121.00310186030839},&quot;rotate&quot;:-0.8683914577869827},&quot;opacity&quot;:1,&quot;path&quot;:{&quot;type&quot;:&quot;POLY_LINE&quot;,&quot;points&quot;:[{&quot;x&quot;:-32.67090318163946,&quot;y&quot;:-2.002370387502438},{&quot;x&quot;:-15.874646916477502,&quot;y&quot;:17.841796397572956},{&quot;x&quot;:26.548846227370863,&quot;y&quot;:-3.0959305362703664},{&quot;x&quot;:41.25845629170252,&quot;y&quot;:29.961187990650235}],&quot;closed&quot;:false},&quot;pathStyles&quot;:[{&quot;type&quot;:&quot;FILL&quot;,&quot;fillStyle&quot;:&quot;rgba(0,0,0,0)&quot;},{&quot;type&quot;:&quot;STROKE&quot;,&quot;strokeStyle&quot;:&quot;#232323&quot;,&quot;lineWidth&quot;:1.5,&quot;lineJoin&quot;:&quot;round&quot;}],&quot;pathSmoothing&quot;:{&quot;type&quot;:&quot;CATMULL_SMOOTHING&quot;,&quot;smoothing&quot;:0.2},&quot;isLocked&quot;:false,&quot;parent&quot;:{&quot;type&quot;:&quot;CHILD&quot;,&quot;parentId&quot;:&quot;a789006d-4826-4e57-b04f-f187702da180&quot;,&quot;order&quot;:&quot;7&quot;},&quot;connectorInfo&quot;:{&quot;connectedObjects&quot;:[],&quot;type&quot;:&quot;CUBIC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872098e0-3fa0-4b9e-a153-8b73db273f3c&quot;:{&quot;type&quot;:&quot;FIGURE_OBJECT&quot;,&quot;id&quot;:&quot;872098e0-3fa0-4b9e-a153-8b73db273f3c&quot;,&quot;parent&quot;:{&quot;type&quot;:&quot;CHILD&quot;,&quot;parentId&quot;:&quot;a789006d-4826-4e57-b04f-f187702da180&quot;,&quot;order&quot;:&quot;2&quot;},&quot;relativeTransform&quot;:{&quot;translate&quot;:{&quot;x&quot;:-68.34520604552797,&quot;y&quot;:16.099072475303274},&quot;rotate&quot;:0,&quot;skewX&quot;:0,&quot;scale&quot;:{&quot;x&quot;:1,&quot;y&quot;:1}}},&quot;b7701bbd-ac56-4861-bd27-85253e6bfa52&quot;:{&quot;id&quot;:&quot;b7701bbd-ac56-4861-bd27-85253e6bfa52&quot;,&quot;name&quot;:&quot;Sine wave 4&quot;,&quot;displayName&quot;:&quot;&quot;,&quot;type&quot;:&quot;FIGURE_OBJECT&quot;,&quot;relativeTransform&quot;:{&quot;translate&quot;:{&quot;x&quot;:-325.407898362292,&quot;y&quot;:-168.87980483024782},&quot;rotate&quot;:0,&quot;skewX&quot;:0,&quot;scale&quot;:{&quot;x&quot;:0.4670401694615304,&quot;y&quot;:0.9999999999999998}},&quot;image&quot;:{&quot;url&quot;:&quot;https://icons.cdn.biorender.com/biorender/5cec63e41ef6550400bb1973/20190527223156/image/5cec63e41ef6550400bb1973.png&quot;,&quot;isPremium&quot;:false,&quot;isOrgIcon&quot;:false,&quot;size&quot;:{&quot;x&quot;:200,&quot;y&quot;:39.0092879256966}},&quot;source&quot;:{&quot;id&quot;:&quot;5cec63e41ef6550400bb1973&quot;,&quot;version&quot;:&quot;20190527223156&quot;,&quot;type&quot;:&quot;ASSETS&quot;},&quot;isPremium&quot;:false,&quot;parent&quot;:{&quot;type&quot;:&quot;CHILD&quot;,&quot;parentId&quot;:&quot;872098e0-3fa0-4b9e-a153-8b73db273f3c&quot;,&quot;order&quot;:&quot;5&quot;},&quot;styles&quot;:{&quot;editable&quot;:[{&quot;monochromeTargetColor&quot;:&quot;#818689&quot;,&quot;styleName&quot;:&quot;FILL&quot;},{&quot;monochromeTargetColor&quot;:&quot;#818689&quot;,&quot;styleName&quot;:&quot;STROKE&quot;,&quot;color&quot;:&quot;#2a2e31&quot;}]}},&quot;53775d1b-7e1a-47c0-82b7-431e31098a31&quot;:{&quot;type&quot;:&quot;FIGURE_OBJECT&quot;,&quot;id&quot;:&quot;53775d1b-7e1a-47c0-82b7-431e31098a31&quot;,&quot;parent&quot;:{&quot;type&quot;:&quot;CROP&quot;,&quot;parentId&quot;:&quot;872098e0-3fa0-4b9e-a153-8b73db273f3c&quot;,&quot;order&quot;:&quot;5&quot;},&quot;relativeTransform&quot;:{&quot;translate&quot;:{&quot;x&quot;:-315.73711561926706,&quot;y&quot;:-168.87980483024782},&quot;rotate&quot;:0,&quot;skewX&quot;:0,&quot;scale&quot;:{&quot;x&quot;:37.03323420312813,&quot;y&quot;:19.50464396284829}},&quot;path&quot;:{&quot;type&quot;:&quot;RECT&quot;,&quot;size&quot;:{&quot;x&quot;:2,&quot;y&quot;:2}},&quot;pathStyles&quot;:[{&quot;type&quot;:&quot;FILL&quot;,&quot;fillStyle&quot;:&quot;#fff&quot;}],&quot;isFrozen&quot;:true},&quot;b42c4fd6-e8ad-4d67-b493-38a18726a15e&quot;:{&quot;type&quot;:&quot;FIGURE_OBJECT&quot;,&quot;id&quot;:&quot;b42c4fd6-e8ad-4d67-b493-38a18726a15e&quot;,&quot;relativeTransform&quot;:{&quot;translate&quot;:{&quot;x&quot;:327.1344342626072,&quot;y&quot;:-163.6489971389967},&quot;rotate&quot;:0},&quot;opacity&quot;:1,&quot;path&quot;:{&quot;type&quot;:&quot;POLY_LINE&quot;,&quot;points&quot;:[{&quot;x&quot;:-22.587333355099975,&quot;y&quot;:-12.752821903942277},{&quot;x&quot;:0.48511992691319206,&quot;y&quot;:-8.170229610218115},{&quot;x&quot;:10.490567590882053,&quot;y&quot;:10.19908764039073},{&quot;x&quot;:49.89270230181015,&quot;y&quot;:4.927226644704973}],&quot;closed&quot;:false},&quot;pathStyles&quot;:[{&quot;type&quot;:&quot;FILL&quot;,&quot;fillStyle&quot;:&quot;rgba(0,0,0,0)&quot;},{&quot;type&quot;:&quot;STROKE&quot;,&quot;strokeStyle&quot;:&quot;#232323&quot;,&quot;lineWidth&quot;:1.5,&quot;lineJoin&quot;:&quot;round&quot;}],&quot;pathSmoothing&quot;:{&quot;type&quot;:&quot;CATMULL_SMOOTHING&quot;,&quot;smoothing&quot;:0.2},&quot;isLocked&quot;:false,&quot;parent&quot;:{&quot;type&quot;:&quot;CHILD&quot;,&quot;parentId&quot;:&quot;a789006d-4826-4e57-b04f-f187702da180&quot;,&quot;order&quot;:&quot;75&quot;},&quot;connectorInfo&quot;:{&quot;connectedObjects&quot;:[],&quot;type&quot;:&quot;CUBIC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af6cadc0-dd7a-44c9-82d9-a4415012498c&quot;:{&quot;id&quot;:&quot;af6cadc0-dd7a-44c9-82d9-a4415012498c&quot;,&quot;type&quot;:&quot;FIGURE_OBJECT&quot;,&quot;relativeTransform&quot;:{&quot;translate&quot;:{&quot;x&quot;:-103.07324127135742,&quot;y&quot;:-172.93400314021744},&quot;rotate&quot;:0},&quot;text&quot;:{&quot;textData&quot;:{&quot;lineSpacing&quot;:&quot;onehalf&quot;,&quot;alignment&quot;:&quot;center&quot;,&quot;verticalAlign&quot;:&quot;TOP&quot;,&quot;lines&quot;:[{&quot;runs&quot;:[{&quot;style&quot;:{&quot;fontFamily&quot;:&quot;Arial&quot;,&quot;fontSize&quot;:24,&quot;color&quot;:&quot;black&quot;,&quot;fontWeight&quot;:&quot;normal&quot;,&quot;fontStyle&quot;:&quot;normal&quot;,&quot;decoration&quot;:&quot;none&quot;},&quot;range&quot;:[0,32]}],&quot;text&quot;:&quot;N-Terminal Transactivation Domain&quot;},{&quot;runs&quot;:[{&quot;style&quot;:{&quot;fontFamily&quot;:&quot;Arial&quot;,&quot;fontSize&quot;:33.33333333333333,&quot;color&quot;:&quot;black&quot;,&quot;fontWeight&quot;:&quot;bold&quot;,&quot;fontStyle&quot;:&quot;normal&quot;,&quot;decoration&quot;:&quot;none&quot;,&quot;script&quot;:&quot;none&quot;},&quot;range&quot;:[0,2]}],&quot;text&quot;:&quot;NTD&quot;}],&quot;_lastCaretLocation&quot;:{&quot;lineIndex&quot;:0,&quot;runIndex&quot;:0,&quot;charIndex&quot;:27}},&quot;format&quot;:&quot;BETTER_TEXT&quot;,&quot;size&quot;:{&quot;x&quot;:613.1814984922622,&quot;y&quot;:85.69306455448623},&quot;targetSize&quot;:{&quot;x&quot;:613.1814984922622,&quot;y&quot;:85.69306455448623}},&quot;parent&quot;:{&quot;type&quot;:&quot;CHILD&quot;,&quot;parentId&quot;:&quot;9c44b773-3e2e-4c4c-b1cf-d3c6e17d12a1&quot;,&quot;order&quot;:&quot;2&quot;}},&quot;d2f9c7a5-5f0e-45e1-b72c-816400b0e577&quot;:{&quot;type&quot;:&quot;FIGURE_OBJECT&quot;,&quot;id&quot;:&quot;d2f9c7a5-5f0e-45e1-b72c-816400b0e577&quot;,&quot;relativeTransform&quot;:{&quot;translate&quot;:{&quot;x&quot;:-103.07352002284345,&quot;y&quot;:-113.26504071412074},&quot;rotate&quot;:1.5707963267948966,&quot;skewX&quot;:1.125225697245548e-18},&quot;opacity&quot;:0.77,&quot;path&quot;:{&quot;type&quot;:&quot;BRACKET&quot;,&quot;size&quot;:{&quot;x&quot;:28.644827729752254,&quot;y&quot;:571.1784288121963},&quot;handleBase&quot;:{&quot;x&quot;:-1,&quot;y&quot;:0},&quot;handleWidth&quot;:35.04290244738468,&quot;cornerRounding&quot;:{&quot;type&quot;:&quot;ARC_LENGTH&quot;,&quot;global&quot;:0},&quot;selectedObjectIds&quot;:[&quot;d2f9c7a5-5f0e-45e1-b72c-816400b0e577&quot;]},&quot;pathStyles&quot;:[{&quot;type&quot;:&quot;FILL&quot;,&quot;fillStyle&quot;:&quot;rgba(0,0,0,0)&quot;},{&quot;type&quot;:&quot;STROKE&quot;,&quot;strokeStyle&quot;:&quot;#232323&quot;,&quot;lineWidth&quot;:5,&quot;lineJoin&quot;:&quot;round&quot;}],&quot;isLocked&quot;:false,&quot;parent&quot;:{&quot;type&quot;:&quot;CHILD&quot;,&quot;parentId&quot;:&quot;9c44b773-3e2e-4c4c-b1cf-d3c6e17d12a1&quot;,&quot;order&quot;:&quot;5&quot;}},&quot;9c44b773-3e2e-4c4c-b1cf-d3c6e17d12a1&quot;:{&quot;type&quot;:&quot;FIGURE_OBJECT&quot;,&quot;id&quot;:&quot;9c44b773-3e2e-4c4c-b1cf-d3c6e17d12a1&quot;,&quot;parent&quot;:{&quot;type&quot;:&quot;CHILD&quot;,&quot;parentId&quot;:&quot;74e8d166-3cc2-4630-8de9-a25f76044106&quot;,&quot;order&quot;:&quot;99998&quot;},&quot;relativeTransform&quot;:{&quot;translate&quot;:{&quot;x&quot;:-13.338196229932715,&quot;y&quot;:30.78477318160037},&quot;rotate&quot;:0,&quot;skewX&quot;:0,&quot;scale&quot;:{&quot;x&quot;:1,&quot;y&quot;:1}}},&quot;3aa15120-64ef-4c50-8485-e530d6e466d2&quot;:{&quot;id&quot;:&quot;3aa15120-64ef-4c50-8485-e530d6e466d2&quot;,&quot;type&quot;:&quot;FIGURE_OBJECT&quot;,&quot;relativeTransform&quot;:{&quot;translate&quot;:{&quot;x&quot;:263.50617534662837,&quot;y&quot;:-142.1497787349246},&quot;rotate&quot;:0,&quot;skewX&quot;:0,&quot;scale&quot;:{&quot;x&quot;:1,&quot;y&quot;:1}},&quot;text&quot;:{&quot;textData&quot;:{&quot;lineSpacing&quot;:&quot;onehalf&quot;,&quot;alignment&quot;:&quot;center&quot;,&quot;verticalAlign&quot;:&quot;TOP&quot;,&quot;lines&quot;:[{&quot;runs&quot;:[{&quot;style&quot;:{&quot;fontFamily&quot;:&quot;Arial&quot;,&quot;fontSize&quot;:24,&quot;color&quot;:&quot;rgba(130,92,166,1)&quot;,&quot;fontWeight&quot;:&quot;normal&quot;,&quot;fontStyle&quot;:&quot;normal&quot;,&quot;decoration&quot;:&quot;none&quot;},&quot;range&quot;:[0,17]}],&quot;text&quot;:&quot;DNA Binding Domain&quot;},{&quot;runs&quot;:[{&quot;style&quot;:{&quot;fontFamily&quot;:&quot;Arial&quot;,&quot;fontSize&quot;:33.33333333333333,&quot;color&quot;:&quot;rgba(130,92,166,1)&quot;,&quot;fontWeight&quot;:&quot;bold&quot;,&quot;fontStyle&quot;:&quot;normal&quot;,&quot;decoration&quot;:&quot;none&quot;,&quot;script&quot;:&quot;none&quot;},&quot;range&quot;:[0,2]}],&quot;text&quot;:&quot;DBD&quot;}],&quot;_lastCaretLocation&quot;:{&quot;lineIndex&quot;:0,&quot;runIndex&quot;:0,&quot;charIndex&quot;:0}},&quot;format&quot;:&quot;BETTER_TEXT&quot;,&quot;size&quot;:{&quot;x&quot;:280.8643837051175,&quot;y&quot;:85.69306455448623},&quot;targetSize&quot;:{&quot;x&quot;:280.8643837051175,&quot;y&quot;:85.69306455448623}},&quot;parent&quot;:{&quot;type&quot;:&quot;CHILD&quot;,&quot;parentId&quot;:&quot;74e8d166-3cc2-4630-8de9-a25f76044106&quot;,&quot;order&quot;:&quot;99999&quot;}},&quot;e69f538c-f55a-4562-91b2-e17b11cf1410&quot;:{&quot;id&quot;:&quot;e69f538c-f55a-4562-91b2-e17b11cf1410&quot;,&quot;type&quot;:&quot;FIGURE_OBJECT&quot;,&quot;relativeTransform&quot;:{&quot;translate&quot;:{&quot;x&quot;:525.3276156967726,&quot;y&quot;:-142.14981044809417},&quot;rotate&quot;:0,&quot;skewX&quot;:0,&quot;scale&quot;:{&quot;x&quot;:1,&quot;y&quot;:1}},&quot;text&quot;:{&quot;textData&quot;:{&quot;lineSpacing&quot;:&quot;onehalf&quot;,&quot;alignment&quot;:&quot;center&quot;,&quot;verticalAlign&quot;:&quot;TOP&quot;,&quot;lines&quot;:[{&quot;runs&quot;:[{&quot;style&quot;:{&quot;fontFamily&quot;:&quot;Arial&quot;,&quot;fontSize&quot;:24,&quot;color&quot;:&quot;rgba(90,170,70,1)&quot;,&quot;fontWeight&quot;:&quot;normal&quot;,&quot;fontStyle&quot;:&quot;normal&quot;,&quot;decoration&quot;:&quot;none&quot;},&quot;range&quot;:[0,20]}],&quot;text&quot;:&quot;Ligand Binding Domain&quot;},{&quot;runs&quot;:[{&quot;style&quot;:{&quot;fontFamily&quot;:&quot;Arial&quot;,&quot;fontSize&quot;:33.33333333333333,&quot;color&quot;:&quot;rgba(90,170,70,1)&quot;,&quot;fontWeight&quot;:&quot;bold&quot;,&quot;fontStyle&quot;:&quot;normal&quot;,&quot;decoration&quot;:&quot;none&quot;,&quot;script&quot;:&quot;none&quot;},&quot;range&quot;:[0,2]}],&quot;text&quot;:&quot;LBD&quot;}],&quot;_lastCaretLocation&quot;:{&quot;lineIndex&quot;:0,&quot;runIndex&quot;:0,&quot;charIndex&quot;:0}},&quot;format&quot;:&quot;BETTER_TEXT&quot;,&quot;size&quot;:{&quot;x&quot;:280.8643837051175,&quot;y&quot;:85.69306455448623},&quot;targetSize&quot;:{&quot;x&quot;:280.8643837051175,&quot;y&quot;:85.69306455448623}},&quot;parent&quot;:{&quot;type&quot;:&quot;CHILD&quot;,&quot;parentId&quot;:&quot;74e8d166-3cc2-4630-8de9-a25f76044106&quot;,&quot;order&quot;:&quot;999995&quot;}},&quot;12e26f60-4c87-47cc-b720-9eaa7253668c&quot;:{&quot;id&quot;:&quot;12e26f60-4c87-47cc-b720-9eaa7253668c&quot;,&quot;type&quot;:&quot;FIGURE_OBJECT&quot;,&quot;relativeTransform&quot;:{&quot;translate&quot;:{&quot;x&quot;:12.820211890466691,&quot;y&quot;:103.8537694793724},&quot;rotate&quot;:0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26.666666666666664,&quot;color&quot;:&quot;rgb(188, 77, 74)&quot;,&quot;fontWeight&quot;:&quot;bold&quot;,&quot;fontStyle&quot;:&quot;normal&quot;,&quot;decoration&quot;:&quot;none&quot;},&quot;range&quot;:[0,4]}],&quot;text&quot;:&quot;Tau-5&quot;}],&quot;_lastCaretLocation&quot;:{&quot;lineIndex&quot;:0,&quot;runIndex&quot;:0,&quot;charIndex&quot;:0}},&quot;format&quot;:&quot;BETTER_TEXT&quot;,&quot;size&quot;:{&quot;x&quot;:155.93663458859862,&quot;y&quot;:33.300129875558575},&quot;targetSize&quot;:{&quot;x&quot;:155.93663458859862,&quot;y&quot;:33.300129875558575}},&quot;parent&quot;:{&quot;type&quot;:&quot;CHILD&quot;,&quot;parentId&quot;:&quot;74e8d166-3cc2-4630-8de9-a25f76044106&quot;,&quot;order&quot;:&quot;999997&quot;}},&quot;a1357346-c014-4b02-ad5c-fcaa29750642&quot;:{&quot;type&quot;:&quot;FIGURE_OBJECT&quot;,&quot;id&quot;:&quot;a1357346-c014-4b02-ad5c-fcaa29750642&quot;,&quot;relativeTransform&quot;:{&quot;translate&quot;:{&quot;x&quot;:12.820170871616554,&quot;y&quot;:17.906276483652178},&quot;rotate&quot;:0,&quot;skewX&quot;:0,&quot;scale&quot;:{&quot;x&quot;:1,&quot;y&quot;:1}},&quot;opacity&quot;:1,&quot;path&quot;:{&quot;type&quot;:&quot;RECT&quot;,&quot;size&quot;:{&quot;x&quot;:268.020014247232,&quot;y&quot;:136.59573214901818},&quot;cornerRounding&quot;:{&quot;type&quot;:&quot;ARC_LENGTH&quot;,&quot;global&quot;:15.707963267948966}},&quot;pathStyles&quot;:[{&quot;type&quot;:&quot;FILL&quot;,&quot;fillStyle&quot;:&quot;rgb(254, 241, 240)&quot;},{&quot;type&quot;:&quot;STROKE&quot;,&quot;strokeStyle&quot;:&quot;rgba(192,56,48,1)&quot;,&quot;lineWidth&quot;:2,&quot;lineJoin&quot;:&quot;round&quot;,&quot;dashArray&quot;:[7]}],&quot;isLocked&quot;:false,&quot;parent&quot;:{&quot;type&quot;:&quot;CHILD&quot;,&quot;parentId&quot;:&quot;74e8d166-3cc2-4630-8de9-a25f76044106&quot;,&quot;order&quot;:&quot;2&quot;}},&quot;fa4c5c3d-0f8d-492c-a611-67fa571c431e&quot;:{&quot;id&quot;:&quot;fa4c5c3d-0f8d-492c-a611-67fa571c431e&quot;,&quot;type&quot;:&quot;FIGURE_OBJECT&quot;,&quot;relativeTransform&quot;:{&quot;translate&quot;:{&quot;x&quot;:12.820310284628404,&quot;y&quot;:139.36551007658196},&quot;rotate&quot;:0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25.333333333333332,&quot;color&quot;:&quot;rgb(188, 77, 74)&quot;,&quot;fontWeight&quot;:&quot;normal&quot;,&quot;fontStyle&quot;:&quot;normal&quot;,&quot;decoration&quot;:&quot;none&quot;},&quot;range&quot;:[0,23]}],&quot;text&quot;:&quot;(Transactivation Unit 5)&quot;}],&quot;_lastCaretLocation&quot;:{&quot;lineIndex&quot;:0,&quot;runIndex&quot;:-1,&quot;charIndex&quot;:-1,&quot;endOfLine&quot;:true}},&quot;format&quot;:&quot;BETTER_TEXT&quot;,&quot;size&quot;:{&quot;x&quot;:292.2837579860655,&quot;y&quot;:37.72211198571092},&quot;targetSize&quot;:{&quot;x&quot;:292.2837579860655,&quot;y&quot;:37.72211198571092}},&quot;parent&quot;:{&quot;type&quot;:&quot;CHILD&quot;,&quot;parentId&quot;:&quot;74e8d166-3cc2-4630-8de9-a25f76044106&quot;,&quot;order&quot;:&quot;999998&quot;}},&quot;0ea21c53-438e-44e0-ad80-289630b4b052&quot;:{&quot;id&quot;:&quot;0ea21c53-438e-44e0-ad80-289630b4b052&quot;,&quot;type&quot;:&quot;FIGURE_OBJECT&quot;,&quot;relativeTransform&quot;:{&quot;translate&quot;:{&quot;x&quot;:-299.76215631371423,&quot;y&quot;:233.62762550335728},&quot;rotate&quot;:0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26.666666666666664,&quot;color&quot;:&quot;rgb(188, 77, 74)&quot;,&quot;fontWeight&quot;:&quot;bold&quot;,&quot;fontStyle&quot;:&quot;normal&quot;,&quot;decoration&quot;:&quot;none&quot;},&quot;range&quot;:[0,4]}],&quot;text&quot;:&quot;Tau-1&quot;}],&quot;_lastCaretLocation&quot;:{&quot;lineIndex&quot;:0,&quot;runIndex&quot;:-1,&quot;charIndex&quot;:-1,&quot;endOfLine&quot;:true}},&quot;format&quot;:&quot;BETTER_TEXT&quot;,&quot;size&quot;:{&quot;x&quot;:155.93663458859862,&quot;y&quot;:33.300129875558575},&quot;targetSize&quot;:{&quot;x&quot;:155.93663458859862,&quot;y&quot;:33.300129875558575}},&quot;parent&quot;:{&quot;type&quot;:&quot;CHILD&quot;,&quot;parentId&quot;:&quot;37cc5f6c-2af4-4102-a931-a16ba50c2c54&quot;,&quot;order&quot;:&quot;5&quot;}},&quot;6025e252-d909-4fd4-a813-ce47f8af4120&quot;:{&quot;type&quot;:&quot;FIGURE_OBJECT&quot;,&quot;id&quot;:&quot;6025e252-d909-4fd4-a813-ce47f8af4120&quot;,&quot;relativeTransform&quot;:{&quot;translate&quot;:{&quot;x&quot;:-300.31112460078384,&quot;y&quot;:147.68013250763704},&quot;rotate&quot;:0},&quot;opacity&quot;:1,&quot;path&quot;:{&quot;type&quot;:&quot;RECT&quot;,&quot;size&quot;:{&quot;x&quot;:144.82433984609466,&quot;y&quot;:136.59573214901818},&quot;cornerRounding&quot;:{&quot;type&quot;:&quot;ARC_LENGTH&quot;,&quot;global&quot;:15.707963267948966}},&quot;pathStyles&quot;:[{&quot;type&quot;:&quot;FILL&quot;,&quot;fillStyle&quot;:&quot;rgb(254, 241, 240)&quot;},{&quot;type&quot;:&quot;STROKE&quot;,&quot;strokeStyle&quot;:&quot;rgba(192,56,48,1)&quot;,&quot;lineWidth&quot;:2,&quot;lineJoin&quot;:&quot;round&quot;,&quot;dashArray&quot;:[7]}],&quot;isLocked&quot;:false,&quot;parent&quot;:{&quot;type&quot;:&quot;CHILD&quot;,&quot;parentId&quot;:&quot;37cc5f6c-2af4-4102-a931-a16ba50c2c54&quot;,&quot;order&quot;:&quot;2&quot;}},&quot;b20f54de-e383-4879-9c53-120b1e3a1950&quot;:{&quot;id&quot;:&quot;b20f54de-e383-4879-9c53-120b1e3a1950&quot;,&quot;type&quot;:&quot;FIGURE_OBJECT&quot;,&quot;relativeTransform&quot;:{&quot;translate&quot;:{&quot;x&quot;:-299.7620579195525,&quot;y&quot;:269.1393661005668},&quot;rotate&quot;:0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25.333333333333332,&quot;color&quot;:&quot;rgb(188, 77, 74)&quot;,&quot;fontWeight&quot;:&quot;normal&quot;,&quot;fontStyle&quot;:&quot;normal&quot;,&quot;decoration&quot;:&quot;none&quot;},&quot;range&quot;:[0,23]}],&quot;text&quot;:&quot;(Transactivation Unit 1)&quot;}],&quot;_lastCaretLocation&quot;:{&quot;lineIndex&quot;:0,&quot;runIndex&quot;:0,&quot;charIndex&quot;:23}},&quot;format&quot;:&quot;BETTER_TEXT&quot;,&quot;size&quot;:{&quot;x&quot;:292.2837579860655,&quot;y&quot;:37.72211198571092},&quot;targetSize&quot;:{&quot;x&quot;:292.2837579860655,&quot;y&quot;:37.72211198571092}},&quot;parent&quot;:{&quot;type&quot;:&quot;CHILD&quot;,&quot;parentId&quot;:&quot;37cc5f6c-2af4-4102-a931-a16ba50c2c54&quot;,&quot;order&quot;:&quot;7&quot;}},&quot;37cc5f6c-2af4-4102-a931-a16ba50c2c54&quot;:{&quot;type&quot;:&quot;FIGURE_OBJECT&quot;,&quot;id&quot;:&quot;37cc5f6c-2af4-4102-a931-a16ba50c2c54&quot;,&quot;parent&quot;:{&quot;type&quot;:&quot;CHILD&quot;,&quot;parentId&quot;:&quot;74e8d166-3cc2-4630-8de9-a25f76044106&quot;,&quot;order&quot;:&quot;4&quot;},&quot;relativeTransform&quot;:{&quot;translate&quot;:{&quot;x&quot;:9.620491075621999,&quot;y&quot;:-126.38262000278795},&quot;rotate&quot;:0,&quot;skewX&quot;:0,&quot;scale&quot;:{&quot;x&quot;:1,&quot;y&quot;:1}}},&quot;0e05eb39-e4d7-428f-9c5d-62a5156e99cf&quot;:{&quot;id&quot;:&quot;0e05eb39-e4d7-428f-9c5d-62a5156e99cf&quot;,&quot;type&quot;:&quot;FIGURE_OBJECT&quot;,&quot;document&quot;:{&quot;type&quot;:&quot;DOCUMENT_GROUP&quot;,&quot;canvasType&quot;:&quot;SLIDE&quot;,&quot;units&quot;:&quot;in&quot;}}}}"/>
  <p:tag name="TRANSPARENTBACKGROUND" val="true"/>
  <p:tag name="VERSION" val="1745945575457"/>
  <p:tag name="TITLE" val="Androgen Receptor"/>
  <p:tag name="CREATORNAME" val="Natalie Loui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874</Words>
  <Application>Microsoft Macintosh PowerPoint</Application>
  <PresentationFormat>Widescreen</PresentationFormat>
  <Paragraphs>131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Office Theme</vt:lpstr>
      <vt:lpstr>PowerPoint Presentation</vt:lpstr>
      <vt:lpstr>1 - WT Tau5 apo </vt:lpstr>
      <vt:lpstr>2 - AA Tau5 apo</vt:lpstr>
      <vt:lpstr>3 - GG Tau5 apo</vt:lpstr>
      <vt:lpstr>4 - WT Tau5 + EPI-001</vt:lpstr>
      <vt:lpstr>APS WT apo Batch</vt:lpstr>
      <vt:lpstr>APS WT DMSO Batch</vt:lpstr>
      <vt:lpstr>APS WT EPI-001 in DMSO Batch</vt:lpstr>
      <vt:lpstr>APS AA apo Batch</vt:lpstr>
      <vt:lpstr>APS AA DMSO Batch</vt:lpstr>
      <vt:lpstr>APS AA EPI-001 in DMSO Batch</vt:lpstr>
      <vt:lpstr>APS GG apo Batch</vt:lpstr>
      <vt:lpstr>APS GG DMSO Batch</vt:lpstr>
      <vt:lpstr>APS GG EPI-001 in DMSO Batch</vt:lpstr>
      <vt:lpstr>From BNL, WT SEC-SAXS</vt:lpstr>
      <vt:lpstr>PowerPoint Presentation</vt:lpstr>
      <vt:lpstr>PowerPoint Presentation</vt:lpstr>
      <vt:lpstr>PowerPoint Presentation</vt:lpstr>
      <vt:lpstr>From BNL, W397A/W433A SEC-SAXS</vt:lpstr>
      <vt:lpstr>PowerPoint Presentation</vt:lpstr>
      <vt:lpstr>PowerPoint Presentation</vt:lpstr>
      <vt:lpstr>PowerPoint Presentation</vt:lpstr>
      <vt:lpstr>PowerPoint Presentation</vt:lpstr>
      <vt:lpstr>Castration resistant prostate cancer drug candidates target the disordered  N-terminal domain of the androgen receptor</vt:lpstr>
      <vt:lpstr>Questions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Natalie Loui</dc:creator>
  <cp:lastModifiedBy>Natalie Loui</cp:lastModifiedBy>
  <cp:revision>1</cp:revision>
  <dcterms:created xsi:type="dcterms:W3CDTF">2026-09-01T13:45:04Z</dcterms:created>
  <dcterms:modified xsi:type="dcterms:W3CDTF">2026-09-02T14:49:36Z</dcterms:modified>
</cp:coreProperties>
</file>