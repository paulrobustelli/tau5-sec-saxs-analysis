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c42062fcace4be7" /><Relationship Type="http://schemas.openxmlformats.org/officeDocument/2006/relationships/extended-properties" Target="/docProps/app.xml" Id="R950cbaf2986d4224" /><Relationship Type="http://schemas.openxmlformats.org/officeDocument/2006/relationships/officeDocument" Target="/ppt/presentation.xml" Id="R3b89c14b24a04cee" /></Relationships>
</file>

<file path=ppt/presentation.xml><?xml version="1.0" encoding="utf-8"?>
<p:presentation xmlns:p="http://schemas.openxmlformats.org/presentationml/2006/main">
  <p:sldMasterIdLst>
    <p:sldMasterId xmlns:r="http://schemas.openxmlformats.org/officeDocument/2006/relationships" id="2147483648" r:id="Raf4cb70e633e4556"/>
  </p:sldMasterIdLst>
  <p:notesMasterIdLst>
    <p:notesMasterId xmlns:r="http://schemas.openxmlformats.org/officeDocument/2006/relationships" r:id="R178b5c89219147e3"/>
  </p:notesMasterIdLst>
  <p:sldIdLst>
    <p:sldId xmlns:r="http://schemas.openxmlformats.org/officeDocument/2006/relationships" id="256" r:id="R0ac9fae61f964d34"/>
    <p:sldId xmlns:r="http://schemas.openxmlformats.org/officeDocument/2006/relationships" id="257" r:id="Rad14f632baac42d6"/>
    <p:sldId xmlns:r="http://schemas.openxmlformats.org/officeDocument/2006/relationships" id="258" r:id="Rd341d7d3a7b045f6"/>
    <p:sldId xmlns:r="http://schemas.openxmlformats.org/officeDocument/2006/relationships" id="259" r:id="Reb3dce2815414062"/>
    <p:sldId xmlns:r="http://schemas.openxmlformats.org/officeDocument/2006/relationships" id="260" r:id="R8ce68103ee72413a"/>
    <p:sldId xmlns:r="http://schemas.openxmlformats.org/officeDocument/2006/relationships" id="261" r:id="R7d0ef24546f34b1e"/>
    <p:sldId xmlns:r="http://schemas.openxmlformats.org/officeDocument/2006/relationships" id="262" r:id="R93d96fe36cdf4336"/>
    <p:sldId xmlns:r="http://schemas.openxmlformats.org/officeDocument/2006/relationships" id="263" r:id="Ra57dc948ae0a42ca"/>
    <p:sldId xmlns:r="http://schemas.openxmlformats.org/officeDocument/2006/relationships" id="264" r:id="R625592053aae44dc"/>
    <p:sldId xmlns:r="http://schemas.openxmlformats.org/officeDocument/2006/relationships" id="265" r:id="Racbfad8b25c9427d"/>
    <p:sldId xmlns:r="http://schemas.openxmlformats.org/officeDocument/2006/relationships" id="266" r:id="R5177e108442c4921"/>
    <p:sldId xmlns:r="http://schemas.openxmlformats.org/officeDocument/2006/relationships" id="267" r:id="R4a52d2caedb04c92"/>
    <p:sldId xmlns:r="http://schemas.openxmlformats.org/officeDocument/2006/relationships" id="268" r:id="Ra8a546af1a724560"/>
    <p:sldId xmlns:r="http://schemas.openxmlformats.org/officeDocument/2006/relationships" id="269" r:id="Rf61b5c5b952f420e"/>
    <p:sldId xmlns:r="http://schemas.openxmlformats.org/officeDocument/2006/relationships" id="270" r:id="R96c220d148e04d32"/>
    <p:sldId xmlns:r="http://schemas.openxmlformats.org/officeDocument/2006/relationships" id="271" r:id="Rf2c81716d0914135"/>
    <p:sldId xmlns:r="http://schemas.openxmlformats.org/officeDocument/2006/relationships" id="272" r:id="R2a4cf6b58f914638"/>
    <p:sldId xmlns:r="http://schemas.openxmlformats.org/officeDocument/2006/relationships" id="273" r:id="Rf0f66d3c51eb4eae"/>
    <p:sldId xmlns:r="http://schemas.openxmlformats.org/officeDocument/2006/relationships" id="274" r:id="R992521ef3487405f"/>
    <p:sldId xmlns:r="http://schemas.openxmlformats.org/officeDocument/2006/relationships" id="275" r:id="R85514be93f354fbd"/>
    <p:sldId xmlns:r="http://schemas.openxmlformats.org/officeDocument/2006/relationships" id="276" r:id="R42218a662ab54681"/>
    <p:sldId xmlns:r="http://schemas.openxmlformats.org/officeDocument/2006/relationships" id="277" r:id="Ra493da9154d34fe1"/>
    <p:sldId xmlns:r="http://schemas.openxmlformats.org/officeDocument/2006/relationships" id="278" r:id="Reab18adc5d4c4544"/>
    <p:sldId xmlns:r="http://schemas.openxmlformats.org/officeDocument/2006/relationships" id="279" r:id="R05152c96e13e405f"/>
    <p:sldId xmlns:r="http://schemas.openxmlformats.org/officeDocument/2006/relationships" id="280" r:id="R57ed99d495664c15"/>
    <p:sldId xmlns:r="http://schemas.openxmlformats.org/officeDocument/2006/relationships" id="281" r:id="Rf48bab56f28f40e0"/>
    <p:sldId xmlns:r="http://schemas.openxmlformats.org/officeDocument/2006/relationships" id="282" r:id="Re99a1789600a4e88"/>
    <p:sldId xmlns:r="http://schemas.openxmlformats.org/officeDocument/2006/relationships" id="283" r:id="R7684555dea7a40dd"/>
    <p:sldId xmlns:r="http://schemas.openxmlformats.org/officeDocument/2006/relationships" id="284" r:id="R99e200b2b8c6498b"/>
    <p:sldId xmlns:r="http://schemas.openxmlformats.org/officeDocument/2006/relationships" id="285" r:id="R28deeb37a72b4ca7"/>
    <p:sldId xmlns:r="http://schemas.openxmlformats.org/officeDocument/2006/relationships" id="286" r:id="R80528021bff24629"/>
    <p:sldId xmlns:r="http://schemas.openxmlformats.org/officeDocument/2006/relationships" id="287" r:id="R7af7bc906a524940"/>
    <p:sldId xmlns:r="http://schemas.openxmlformats.org/officeDocument/2006/relationships" id="288" r:id="R3e0596890ede46d5"/>
    <p:sldId xmlns:r="http://schemas.openxmlformats.org/officeDocument/2006/relationships" id="289" r:id="Raf605254b7f74434"/>
    <p:sldId xmlns:r="http://schemas.openxmlformats.org/officeDocument/2006/relationships" id="290" r:id="Ra08929cb0446480f"/>
    <p:sldId xmlns:r="http://schemas.openxmlformats.org/officeDocument/2006/relationships" id="291" r:id="Rf3a0855fdc4a473e"/>
    <p:sldId xmlns:r="http://schemas.openxmlformats.org/officeDocument/2006/relationships" id="292" r:id="R727b5596c608412a"/>
    <p:sldId xmlns:r="http://schemas.openxmlformats.org/officeDocument/2006/relationships" id="293" r:id="R8e31ad8d8d7e4917"/>
    <p:sldId xmlns:r="http://schemas.openxmlformats.org/officeDocument/2006/relationships" id="294" r:id="R61218b0c9c84497f"/>
    <p:sldId xmlns:r="http://schemas.openxmlformats.org/officeDocument/2006/relationships" id="295" r:id="R23fc6659438145d5"/>
    <p:sldId xmlns:r="http://schemas.openxmlformats.org/officeDocument/2006/relationships" id="296" r:id="R99938118a0154455"/>
    <p:sldId xmlns:r="http://schemas.openxmlformats.org/officeDocument/2006/relationships" id="297" r:id="Read02688922d4316"/>
    <p:sldId xmlns:r="http://schemas.openxmlformats.org/officeDocument/2006/relationships" id="298" r:id="Re59290a102f04a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54200c41254b3a" /><Relationship Type="http://schemas.openxmlformats.org/officeDocument/2006/relationships/slideMaster" Target="/ppt/slideMasters/slideMaster1.xml" Id="Raf4cb70e633e4556" /><Relationship Type="http://schemas.openxmlformats.org/officeDocument/2006/relationships/notesMaster" Target="/ppt/notesMasters/notesMaster1.xml" Id="R178b5c89219147e3" /><Relationship Type="http://schemas.openxmlformats.org/officeDocument/2006/relationships/presProps" Target="/ppt/presProps.xml" Id="Rcac11b17821d4379" /><Relationship Type="http://schemas.openxmlformats.org/officeDocument/2006/relationships/tableStyles" Target="/ppt/tableStyles.xml" Id="Raf99183feb7f470f" /><Relationship Type="http://schemas.openxmlformats.org/officeDocument/2006/relationships/slide" Target="/ppt/slides/slide1.xml" Id="R0ac9fae61f964d34" /><Relationship Type="http://schemas.openxmlformats.org/officeDocument/2006/relationships/slide" Target="/ppt/slides/slide2.xml" Id="Rad14f632baac42d6" /><Relationship Type="http://schemas.openxmlformats.org/officeDocument/2006/relationships/slide" Target="/ppt/slides/slide3.xml" Id="Rd341d7d3a7b045f6" /><Relationship Type="http://schemas.openxmlformats.org/officeDocument/2006/relationships/slide" Target="/ppt/slides/slide4.xml" Id="Reb3dce2815414062" /><Relationship Type="http://schemas.openxmlformats.org/officeDocument/2006/relationships/slide" Target="/ppt/slides/slide5.xml" Id="R8ce68103ee72413a" /><Relationship Type="http://schemas.openxmlformats.org/officeDocument/2006/relationships/slide" Target="/ppt/slides/slide6.xml" Id="R7d0ef24546f34b1e" /><Relationship Type="http://schemas.openxmlformats.org/officeDocument/2006/relationships/slide" Target="/ppt/slides/slide7.xml" Id="R93d96fe36cdf4336" /><Relationship Type="http://schemas.openxmlformats.org/officeDocument/2006/relationships/slide" Target="/ppt/slides/slide8.xml" Id="Ra57dc948ae0a42ca" /><Relationship Type="http://schemas.openxmlformats.org/officeDocument/2006/relationships/slide" Target="/ppt/slides/slide9.xml" Id="R625592053aae44dc" /><Relationship Type="http://schemas.openxmlformats.org/officeDocument/2006/relationships/slide" Target="/ppt/slides/slide10.xml" Id="Racbfad8b25c9427d" /><Relationship Type="http://schemas.openxmlformats.org/officeDocument/2006/relationships/slide" Target="/ppt/slides/slide11.xml" Id="R5177e108442c4921" /><Relationship Type="http://schemas.openxmlformats.org/officeDocument/2006/relationships/slide" Target="/ppt/slides/slide12.xml" Id="R4a52d2caedb04c92" /><Relationship Type="http://schemas.openxmlformats.org/officeDocument/2006/relationships/slide" Target="/ppt/slides/slide13.xml" Id="Ra8a546af1a724560" /><Relationship Type="http://schemas.openxmlformats.org/officeDocument/2006/relationships/slide" Target="/ppt/slides/slide14.xml" Id="Rf61b5c5b952f420e" /><Relationship Type="http://schemas.openxmlformats.org/officeDocument/2006/relationships/slide" Target="/ppt/slides/slide15.xml" Id="R96c220d148e04d32" /><Relationship Type="http://schemas.openxmlformats.org/officeDocument/2006/relationships/slide" Target="/ppt/slides/slide16.xml" Id="Rf2c81716d0914135" /><Relationship Type="http://schemas.openxmlformats.org/officeDocument/2006/relationships/slide" Target="/ppt/slides/slide17.xml" Id="R2a4cf6b58f914638" /><Relationship Type="http://schemas.openxmlformats.org/officeDocument/2006/relationships/slide" Target="/ppt/slides/slide18.xml" Id="Rf0f66d3c51eb4eae" /><Relationship Type="http://schemas.openxmlformats.org/officeDocument/2006/relationships/slide" Target="/ppt/slides/slide19.xml" Id="R992521ef3487405f" /><Relationship Type="http://schemas.openxmlformats.org/officeDocument/2006/relationships/slide" Target="/ppt/slides/slide20.xml" Id="R85514be93f354fbd" /><Relationship Type="http://schemas.openxmlformats.org/officeDocument/2006/relationships/slide" Target="/ppt/slides/slide21.xml" Id="R42218a662ab54681" /><Relationship Type="http://schemas.openxmlformats.org/officeDocument/2006/relationships/slide" Target="/ppt/slides/slide22.xml" Id="Ra493da9154d34fe1" /><Relationship Type="http://schemas.openxmlformats.org/officeDocument/2006/relationships/slide" Target="/ppt/slides/slide23.xml" Id="Reab18adc5d4c4544" /><Relationship Type="http://schemas.openxmlformats.org/officeDocument/2006/relationships/slide" Target="/ppt/slides/slide24.xml" Id="R05152c96e13e405f" /><Relationship Type="http://schemas.openxmlformats.org/officeDocument/2006/relationships/slide" Target="/ppt/slides/slide25.xml" Id="R57ed99d495664c15" /><Relationship Type="http://schemas.openxmlformats.org/officeDocument/2006/relationships/slide" Target="/ppt/slides/slide26.xml" Id="Rf48bab56f28f40e0" /><Relationship Type="http://schemas.openxmlformats.org/officeDocument/2006/relationships/slide" Target="/ppt/slides/slide27.xml" Id="Re99a1789600a4e88" /><Relationship Type="http://schemas.openxmlformats.org/officeDocument/2006/relationships/slide" Target="/ppt/slides/slide28.xml" Id="R7684555dea7a40dd" /><Relationship Type="http://schemas.openxmlformats.org/officeDocument/2006/relationships/slide" Target="/ppt/slides/slide29.xml" Id="R99e200b2b8c6498b" /><Relationship Type="http://schemas.openxmlformats.org/officeDocument/2006/relationships/slide" Target="/ppt/slides/slide30.xml" Id="R28deeb37a72b4ca7" /><Relationship Type="http://schemas.openxmlformats.org/officeDocument/2006/relationships/slide" Target="/ppt/slides/slide31.xml" Id="R80528021bff24629" /><Relationship Type="http://schemas.openxmlformats.org/officeDocument/2006/relationships/slide" Target="/ppt/slides/slide32.xml" Id="R7af7bc906a524940" /><Relationship Type="http://schemas.openxmlformats.org/officeDocument/2006/relationships/slide" Target="/ppt/slides/slide33.xml" Id="R3e0596890ede46d5" /><Relationship Type="http://schemas.openxmlformats.org/officeDocument/2006/relationships/slide" Target="/ppt/slides/slide34.xml" Id="Raf605254b7f74434" /><Relationship Type="http://schemas.openxmlformats.org/officeDocument/2006/relationships/slide" Target="/ppt/slides/slide35.xml" Id="Ra08929cb0446480f" /><Relationship Type="http://schemas.openxmlformats.org/officeDocument/2006/relationships/slide" Target="/ppt/slides/slide36.xml" Id="Rf3a0855fdc4a473e" /><Relationship Type="http://schemas.openxmlformats.org/officeDocument/2006/relationships/slide" Target="/ppt/slides/slide37.xml" Id="R727b5596c608412a" /><Relationship Type="http://schemas.openxmlformats.org/officeDocument/2006/relationships/slide" Target="/ppt/slides/slide38.xml" Id="R8e31ad8d8d7e4917" /><Relationship Type="http://schemas.openxmlformats.org/officeDocument/2006/relationships/slide" Target="/ppt/slides/slide39.xml" Id="R61218b0c9c84497f" /><Relationship Type="http://schemas.openxmlformats.org/officeDocument/2006/relationships/slide" Target="/ppt/slides/slide40.xml" Id="R23fc6659438145d5" /><Relationship Type="http://schemas.openxmlformats.org/officeDocument/2006/relationships/slide" Target="/ppt/slides/slide41.xml" Id="R99938118a0154455" /><Relationship Type="http://schemas.openxmlformats.org/officeDocument/2006/relationships/slide" Target="/ppt/slides/slide42.xml" Id="Read02688922d4316" /><Relationship Type="http://schemas.openxmlformats.org/officeDocument/2006/relationships/slide" Target="/ppt/slides/slide43.xml" Id="Re59290a102f04a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870163a35a40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e07cc58d814db3" /><Relationship Type="http://schemas.openxmlformats.org/officeDocument/2006/relationships/notesMaster" Target="/ppt/notesMasters/notesMaster1.xml" Id="Ree7b9626269d4d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934efa31474851" /><Relationship Type="http://schemas.openxmlformats.org/officeDocument/2006/relationships/notesMaster" Target="/ppt/notesMasters/notesMaster1.xml" Id="R416b17bbc6184a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7623a60ffc4379" /><Relationship Type="http://schemas.openxmlformats.org/officeDocument/2006/relationships/notesMaster" Target="/ppt/notesMasters/notesMaster1.xml" Id="R0b1b907c15a441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3c381e8c5e47a8" /><Relationship Type="http://schemas.openxmlformats.org/officeDocument/2006/relationships/notesMaster" Target="/ppt/notesMasters/notesMaster1.xml" Id="Rd2619d899ca746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0972216e424d9f" /><Relationship Type="http://schemas.openxmlformats.org/officeDocument/2006/relationships/notesMaster" Target="/ppt/notesMasters/notesMaster1.xml" Id="Rf32f82dfd6bb46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bb3f6447a0459b" /><Relationship Type="http://schemas.openxmlformats.org/officeDocument/2006/relationships/notesMaster" Target="/ppt/notesMasters/notesMaster1.xml" Id="R94dd7ddc2db749b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d7367916024486" /><Relationship Type="http://schemas.openxmlformats.org/officeDocument/2006/relationships/notesMaster" Target="/ppt/notesMasters/notesMaster1.xml" Id="Rd4fbff145c5b41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9a008eca9345dc" /><Relationship Type="http://schemas.openxmlformats.org/officeDocument/2006/relationships/notesMaster" Target="/ppt/notesMasters/notesMaster1.xml" Id="Rbf9bf7cae6a44c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0700340d0c4f37" /><Relationship Type="http://schemas.openxmlformats.org/officeDocument/2006/relationships/notesMaster" Target="/ppt/notesMasters/notesMaster1.xml" Id="R3ed61e86663848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4d6f524d0c645ff" /><Relationship Type="http://schemas.openxmlformats.org/officeDocument/2006/relationships/notesMaster" Target="/ppt/notesMasters/notesMaster1.xml" Id="R97827510359f40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71a9f766a44cea" /><Relationship Type="http://schemas.openxmlformats.org/officeDocument/2006/relationships/notesMaster" Target="/ppt/notesMasters/notesMaster1.xml" Id="Rb692428127c34ac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9159c951fa4146" /><Relationship Type="http://schemas.openxmlformats.org/officeDocument/2006/relationships/notesMaster" Target="/ppt/notesMasters/notesMaster1.xml" Id="R8e28becd1e5343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b94fb562ca4783" /><Relationship Type="http://schemas.openxmlformats.org/officeDocument/2006/relationships/notesMaster" Target="/ppt/notesMasters/notesMaster1.xml" Id="Rbe49e23120cc40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e842574ac54801" /><Relationship Type="http://schemas.openxmlformats.org/officeDocument/2006/relationships/notesMaster" Target="/ppt/notesMasters/notesMaster1.xml" Id="Rf6b59e85a6ea4fa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9fed91306fa4be0" /><Relationship Type="http://schemas.openxmlformats.org/officeDocument/2006/relationships/notesMaster" Target="/ppt/notesMasters/notesMaster1.xml" Id="Raa86c24eb01e4d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b9df319acad4956" /><Relationship Type="http://schemas.openxmlformats.org/officeDocument/2006/relationships/notesMaster" Target="/ppt/notesMasters/notesMaster1.xml" Id="R0db543a8590c4d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2b26b4e8e134558" /><Relationship Type="http://schemas.openxmlformats.org/officeDocument/2006/relationships/notesMaster" Target="/ppt/notesMasters/notesMaster1.xml" Id="Rc49e45195a80498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d06ec0d241849a8" /><Relationship Type="http://schemas.openxmlformats.org/officeDocument/2006/relationships/notesMaster" Target="/ppt/notesMasters/notesMaster1.xml" Id="Rc6d685eeb6334f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cdc8c8ac6b742f1" /><Relationship Type="http://schemas.openxmlformats.org/officeDocument/2006/relationships/notesMaster" Target="/ppt/notesMasters/notesMaster1.xml" Id="Ra0f1a76adabf452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a0bd607438d4867" /><Relationship Type="http://schemas.openxmlformats.org/officeDocument/2006/relationships/notesMaster" Target="/ppt/notesMasters/notesMaster1.xml" Id="R42799a2d16b842e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288004b5632460f" /><Relationship Type="http://schemas.openxmlformats.org/officeDocument/2006/relationships/notesMaster" Target="/ppt/notesMasters/notesMaster1.xml" Id="Rcf81a06b1daf46f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7625119c4fb4734" /><Relationship Type="http://schemas.openxmlformats.org/officeDocument/2006/relationships/notesMaster" Target="/ppt/notesMasters/notesMaster1.xml" Id="R9b286ef1cf65487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7b07884489b4704" /><Relationship Type="http://schemas.openxmlformats.org/officeDocument/2006/relationships/notesMaster" Target="/ppt/notesMasters/notesMaster1.xml" Id="Re90249f876284ba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8eb88ec6a3e4b38" /><Relationship Type="http://schemas.openxmlformats.org/officeDocument/2006/relationships/notesMaster" Target="/ppt/notesMasters/notesMaster1.xml" Id="Rebfc35edfc234b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734b7e657c44c03" /><Relationship Type="http://schemas.openxmlformats.org/officeDocument/2006/relationships/notesMaster" Target="/ppt/notesMasters/notesMaster1.xml" Id="R55b203e62e594fb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d86f41e95c4572" /><Relationship Type="http://schemas.openxmlformats.org/officeDocument/2006/relationships/notesMaster" Target="/ppt/notesMasters/notesMaster1.xml" Id="Rddf0349d06164fc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26f92d382ad4aa0" /><Relationship Type="http://schemas.openxmlformats.org/officeDocument/2006/relationships/notesMaster" Target="/ppt/notesMasters/notesMaster1.xml" Id="Rb6f78b52a3164c6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4b0040e0bbb4a31" /><Relationship Type="http://schemas.openxmlformats.org/officeDocument/2006/relationships/notesMaster" Target="/ppt/notesMasters/notesMaster1.xml" Id="R1c4c1a1dc7924f5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70f02537ec54c74" /><Relationship Type="http://schemas.openxmlformats.org/officeDocument/2006/relationships/notesMaster" Target="/ppt/notesMasters/notesMaster1.xml" Id="R7ef60cfaf8ca4df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1e28c20e64f4c35" /><Relationship Type="http://schemas.openxmlformats.org/officeDocument/2006/relationships/notesMaster" Target="/ppt/notesMasters/notesMaster1.xml" Id="R072ace0c7474455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1cbe93bbcd54b4e" /><Relationship Type="http://schemas.openxmlformats.org/officeDocument/2006/relationships/notesMaster" Target="/ppt/notesMasters/notesMaster1.xml" Id="R7598bf1d951d4a0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391eab7fd754f3f" /><Relationship Type="http://schemas.openxmlformats.org/officeDocument/2006/relationships/notesMaster" Target="/ppt/notesMasters/notesMaster1.xml" Id="R44f31317227b4ac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8ebb415bbe54750" /><Relationship Type="http://schemas.openxmlformats.org/officeDocument/2006/relationships/notesMaster" Target="/ppt/notesMasters/notesMaster1.xml" Id="R7a373dfb089246e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01f3afcc45645e7" /><Relationship Type="http://schemas.openxmlformats.org/officeDocument/2006/relationships/notesMaster" Target="/ppt/notesMasters/notesMaster1.xml" Id="Reb774d46e6b944c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eed33797f1f4647" /><Relationship Type="http://schemas.openxmlformats.org/officeDocument/2006/relationships/notesMaster" Target="/ppt/notesMasters/notesMaster1.xml" Id="Rbd0979ed3998493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a4fc33d9dca45ea" /><Relationship Type="http://schemas.openxmlformats.org/officeDocument/2006/relationships/notesMaster" Target="/ppt/notesMasters/notesMaster1.xml" Id="Rb4e3a48cc49046c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6de02bfff594eae" /><Relationship Type="http://schemas.openxmlformats.org/officeDocument/2006/relationships/notesMaster" Target="/ppt/notesMasters/notesMaster1.xml" Id="R6ea22cad38a4410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be2cf86f8ac4b4c" /><Relationship Type="http://schemas.openxmlformats.org/officeDocument/2006/relationships/notesMaster" Target="/ppt/notesMasters/notesMaster1.xml" Id="Rc4183721836e461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856c12b295e40f2" /><Relationship Type="http://schemas.openxmlformats.org/officeDocument/2006/relationships/notesMaster" Target="/ppt/notesMasters/notesMaster1.xml" Id="R96eefa79d93b46f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2ad1482afbd4407" /><Relationship Type="http://schemas.openxmlformats.org/officeDocument/2006/relationships/notesMaster" Target="/ppt/notesMasters/notesMaster1.xml" Id="R894fce4dfae54de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85f54f09da84984" /><Relationship Type="http://schemas.openxmlformats.org/officeDocument/2006/relationships/notesMaster" Target="/ppt/notesMasters/notesMaster1.xml" Id="Rfa9816f336344b6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1f4eb5000bf4a10" /><Relationship Type="http://schemas.openxmlformats.org/officeDocument/2006/relationships/notesMaster" Target="/ppt/notesMasters/notesMaster1.xml" Id="R72f5b7b02bec4fd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44b7f74b29541a9" /><Relationship Type="http://schemas.openxmlformats.org/officeDocument/2006/relationships/notesMaster" Target="/ppt/notesMasters/notesMaster1.xml" Id="R3927539fd1604b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Methods and results snapshot, 29 September 2026. Tau-5* refers to the androgen-receptor transactivation domain, not the MAPT protein. Current selection results are from the first candidate pool.</a:t>
            </a:r>
          </a:p>
          <a:p xmlns:a="http://schemas.openxmlformats.org/drawingml/2006/main">
            <a:r>
              <a:t/>
            </a:r>
          </a:p>
          <a:p xmlns:a="http://schemas.openxmlformats.org/drawingml/2006/main">
            <a:r>
              <a:t>Sources:</a:t>
            </a:r>
          </a:p>
          <a:p xmlns:a="http://schemas.openxmlformats.org/drawingml/2006/main">
            <a:r>
              <a:t>Zhu et al., Nature Communications (2022)</a:t>
            </a:r>
          </a:p>
          <a:p xmlns:a="http://schemas.openxmlformats.org/drawingml/2006/main">
            <a:r>
              <a:t>https://doi.org/10.1038/s41467-022-34077-z</a:t>
            </a:r>
          </a:p>
          <a:p xmlns:a="http://schemas.openxmlformats.org/drawingml/2006/main">
            <a:r>
              <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Hypothesis for future pool comparison, not a conclusion of the current fits. The 2022 study motivates collapsed helical states and aromatic interactions.</a:t>
            </a:r>
          </a:p>
          <a:p xmlns:a="http://schemas.openxmlformats.org/drawingml/2006/main">
            <a:r>
              <a:t/>
            </a:r>
          </a:p>
          <a:p xmlns:a="http://schemas.openxmlformats.org/drawingml/2006/main">
            <a:r>
              <a:t>Sources:</a:t>
            </a:r>
          </a:p>
          <a:p xmlns:a="http://schemas.openxmlformats.org/drawingml/2006/main">
            <a:r>
              <a:t>Zhu et al., Nature Communications (2022)</a:t>
            </a:r>
          </a:p>
          <a:p xmlns:a="http://schemas.openxmlformats.org/drawingml/2006/main">
            <a:r>
              <a:t>https://doi.org/10.1038/s41467-022-34077-z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GP is modeled. Model residue = AR residue − 327. Histidine naming variants were normalized only for sequence checks. Old MD caps are excluded in the matched segment comparison.</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a:p xmlns:a="http://schemas.openxmlformats.org/drawingml/2006/main">
            <a:r>
              <a:t/>
            </a:r>
          </a:p>
          <a:p xmlns:a="http://schemas.openxmlformats.org/drawingml/2006/main">
            <a:r>
              <a:t>Zhu et al., Nature Communications (2022)</a:t>
            </a:r>
          </a:p>
          <a:p xmlns:a="http://schemas.openxmlformats.org/drawingml/2006/main">
            <a:r>
              <a:t>https://doi.org/10.1038/s41467-022-34077-z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data flow: sequence-checked inputs; delta2D-guided IDPConfGen proposals; optional geometric helix supplements; SPARTA+ and CRYSOL per structure; equal-weight subset selection; structural diagnostics.</a:t>
            </a:r>
          </a:p>
          <a:p xmlns:a="http://schemas.openxmlformats.org/drawingml/2006/main">
            <a:r>
              <a:t/>
            </a:r>
          </a:p>
          <a:p xmlns:a="http://schemas.openxmlformats.org/drawingml/2006/main">
            <a:r>
              <a:t>Sources:</a:t>
            </a:r>
          </a:p>
          <a:p xmlns:a="http://schemas.openxmlformats.org/drawingml/2006/main">
            <a:r>
              <a:t>Teixeira et al., J. Phys. Chem. A (2022)</a:t>
            </a:r>
          </a:p>
          <a:p xmlns:a="http://schemas.openxmlformats.org/drawingml/2006/main">
            <a:r>
              <a:t>https://doi.org/10.1021/acs.jpca.2c03726</a:t>
            </a:r>
          </a:p>
          <a:p xmlns:a="http://schemas.openxmlformats.org/drawingml/2006/main">
            <a:r>
              <a:t/>
            </a:r>
          </a:p>
          <a:p xmlns:a="http://schemas.openxmlformats.org/drawingml/2006/main">
            <a:r>
              <a:t>Shen &amp; Bax, J. Biomol. NMR (2010)</a:t>
            </a:r>
          </a:p>
          <a:p xmlns:a="http://schemas.openxmlformats.org/drawingml/2006/main">
            <a:r>
              <a:t>https://doi.org/10.1007/s10858-010-9433-9</a:t>
            </a:r>
          </a:p>
          <a:p xmlns:a="http://schemas.openxmlformats.org/drawingml/2006/main">
            <a:r>
              <a:t/>
            </a:r>
          </a:p>
          <a:p xmlns:a="http://schemas.openxmlformats.org/drawingml/2006/main">
            <a:r>
              <a:t>Svergun et al., J. Appl. Crystallogr. (1995)</a:t>
            </a:r>
          </a:p>
          <a:p xmlns:a="http://schemas.openxmlformats.org/drawingml/2006/main">
            <a:r>
              <a:t>https://doi.org/10.1107/S0021889895007047</a:t>
            </a:r>
          </a:p>
          <a:p xmlns:a="http://schemas.openxmlformats.org/drawingml/2006/main">
            <a:r>
              <a:t/>
            </a:r>
          </a:p>
          <a:p xmlns:a="http://schemas.openxmlformats.org/drawingml/2006/main">
            <a:r>
              <a:t>Schwalbe et al., Structure (2014)</a:t>
            </a:r>
          </a:p>
          <a:p xmlns:a="http://schemas.openxmlformats.org/drawingml/2006/main">
            <a:r>
              <a:t>https://doi.org/10.1016/j.str.2013.10.020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ensemble-inference identity. Continuous weights can reach the convex hull of the candidate observable vectors. A unique 500-member subset reaches only a discrete subset of that hull; arbitrary accuracy is not guaranteed.</a:t>
            </a:r>
          </a:p>
          <a:p xmlns:a="http://schemas.openxmlformats.org/drawingml/2006/main">
            <a:r>
              <a:t/>
            </a:r>
          </a:p>
          <a:p xmlns:a="http://schemas.openxmlformats.org/drawingml/2006/main">
            <a:r>
              <a:t>Sources:</a:t>
            </a:r>
          </a:p>
          <a:p xmlns:a="http://schemas.openxmlformats.org/drawingml/2006/main">
            <a:r>
              <a:t>Schwalbe et al., Structure (2014)</a:t>
            </a:r>
          </a:p>
          <a:p xmlns:a="http://schemas.openxmlformats.org/drawingml/2006/main">
            <a:r>
              <a:t>https://doi.org/10.1016/j.str.2013.10.020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options in work/run_joint_pipeline.py: build -db work/software/idpconfgen_database_2024.json -csss ... --dloop-off -et pairs; seeded builds. A statistically generated proposal ensemble is not an equilibrium MD trajectory.</a:t>
            </a:r>
          </a:p>
          <a:p xmlns:a="http://schemas.openxmlformats.org/drawingml/2006/main">
            <a:r>
              <a:t/>
            </a:r>
          </a:p>
          <a:p xmlns:a="http://schemas.openxmlformats.org/drawingml/2006/main">
            <a:r>
              <a:t>Sources:</a:t>
            </a:r>
          </a:p>
          <a:p xmlns:a="http://schemas.openxmlformats.org/drawingml/2006/main">
            <a:r>
              <a:t>Teixeira et al., J. Phys. Chem. A (2022)</a:t>
            </a:r>
          </a:p>
          <a:p xmlns:a="http://schemas.openxmlformats.org/drawingml/2006/main">
            <a:r>
              <a:t>https://doi.org/10.1021/acs.jpca.2c03726</a:t>
            </a:r>
          </a:p>
          <a:p xmlns:a="http://schemas.openxmlformats.org/drawingml/2006/main">
            <a:r>
              <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DSSP H is the primary plotted definition. H/G/I can be reported separately if desired. Ramachandran basin occupancies have been removed from the requested analysis.</a:t>
            </a:r>
          </a:p>
          <a:p xmlns:a="http://schemas.openxmlformats.org/drawingml/2006/main">
            <a:r>
              <a:t/>
            </a:r>
          </a:p>
          <a:p xmlns:a="http://schemas.openxmlformats.org/drawingml/2006/main">
            <a:r>
              <a:t>Sources:</a:t>
            </a:r>
          </a:p>
          <a:p xmlns:a="http://schemas.openxmlformats.org/drawingml/2006/main">
            <a:r>
              <a:t>Camilloni et al., Biochemistry (2012)</a:t>
            </a:r>
          </a:p>
          <a:p xmlns:a="http://schemas.openxmlformats.org/drawingml/2006/main">
            <a:r>
              <a:t>https://doi.org/10.1021/bi3001825</a:t>
            </a:r>
          </a:p>
          <a:p xmlns:a="http://schemas.openxmlformats.org/drawingml/2006/main">
            <a:r>
              <a:t/>
            </a:r>
          </a:p>
          <a:p xmlns:a="http://schemas.openxmlformats.org/drawingml/2006/main">
            <a:r>
              <a:t>Schwalbe et al., Structure (2014)</a:t>
            </a:r>
          </a:p>
          <a:p xmlns:a="http://schemas.openxmlformats.org/drawingml/2006/main">
            <a:r>
              <a:t>https://doi.org/10.1016/j.str.2013.10.020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work/build_helix_lengths.py. Window start is clipped to the modeled interior; duplicate windows are removed. Two copies per unique window. Imposed core length is not the same as observed DSSP run length. Immediate flanking psi angles are set near +140 degrees.</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Schematic single-helix occupancy model. With multiple overlapping helices in one conformer, use the union occupancy rather than summing overlapping indicators. This explains why matching center density alone is insufficient.</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implementation work/asteroids/rebalance_d2d.py uses mixed-integer optimization. This is a prior-pool calibration exercise, not additional independent experimental evidence. δ2D and direct shifts originate from the same shift data.</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SPARTA+ output fields SHIFT, RC_SHIFT and SS_SHIFT are used. Average per-conformer predictions, not coordinates. Use available Cα, C′, Cβ, N and HN shifts; WT lacks Cβ in current restraints. No Hα restraints are available in this snapshot.</a:t>
            </a:r>
          </a:p>
          <a:p xmlns:a="http://schemas.openxmlformats.org/drawingml/2006/main">
            <a:r>
              <a:t/>
            </a:r>
          </a:p>
          <a:p xmlns:a="http://schemas.openxmlformats.org/drawingml/2006/main">
            <a:r>
              <a:t>Sources:</a:t>
            </a:r>
          </a:p>
          <a:p xmlns:a="http://schemas.openxmlformats.org/drawingml/2006/main">
            <a:r>
              <a:t>Shen &amp; Bax, J. Biomol. NMR (2010)</a:t>
            </a:r>
          </a:p>
          <a:p xmlns:a="http://schemas.openxmlformats.org/drawingml/2006/main">
            <a:r>
              <a:t>https://doi.org/10.1007/s10858-010-9433-9</a:t>
            </a:r>
          </a:p>
          <a:p xmlns:a="http://schemas.openxmlformats.org/drawingml/2006/main">
            <a:r>
              <a:t/>
            </a:r>
          </a:p>
          <a:p xmlns:a="http://schemas.openxmlformats.org/drawingml/2006/main">
            <a:r>
              <a:t>Cavender et al., LiveCoMS (2025)</a:t>
            </a:r>
          </a:p>
          <a:p xmlns:a="http://schemas.openxmlformats.org/drawingml/2006/main">
            <a:r>
              <a:t>https://doi.org/10.33011/livecoms.6.1.3871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Cavender et al. discusses static-structure training, implicit averaging, baseline offsets and interpretation of residuals. The covariance expression is a general statistical identity, not an empirical estimate of SPARTA+ errors for these constructs.</a:t>
            </a:r>
          </a:p>
          <a:p xmlns:a="http://schemas.openxmlformats.org/drawingml/2006/main">
            <a:r>
              <a:t/>
            </a:r>
          </a:p>
          <a:p xmlns:a="http://schemas.openxmlformats.org/drawingml/2006/main">
            <a:r>
              <a:t>Sources:</a:t>
            </a:r>
          </a:p>
          <a:p xmlns:a="http://schemas.openxmlformats.org/drawingml/2006/main">
            <a:r>
              <a:t>Cavender et al., LiveCoMS (2025)</a:t>
            </a:r>
          </a:p>
          <a:p xmlns:a="http://schemas.openxmlformats.org/drawingml/2006/main">
            <a:r>
              <a:t>https://doi.org/10.33011/livecoms.6.1.3871</a:t>
            </a:r>
          </a:p>
          <a:p xmlns:a="http://schemas.openxmlformats.org/drawingml/2006/main">
            <a:r>
              <a:t/>
            </a:r>
          </a:p>
          <a:p xmlns:a="http://schemas.openxmlformats.org/drawingml/2006/main">
            <a:r>
              <a:t>Shen &amp; Bax, J. Biomol. NMR (2010)</a:t>
            </a:r>
          </a:p>
          <a:p xmlns:a="http://schemas.openxmlformats.org/drawingml/2006/main">
            <a:r>
              <a:t>https://doi.org/10.1007/s10858-010-9433-9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Debye expression shown for an orientationally averaged collection of scatterers with real scattering factors. It is explanatory theory, not a claim that the current CRYSOL implementation explicitly computes this double sum.</a:t>
            </a:r>
          </a:p>
          <a:p xmlns:a="http://schemas.openxmlformats.org/drawingml/2006/main">
            <a:r>
              <a:t/>
            </a:r>
          </a:p>
          <a:p xmlns:a="http://schemas.openxmlformats.org/drawingml/2006/main">
            <a:r>
              <a:t>Sources:</a:t>
            </a:r>
          </a:p>
          <a:p xmlns:a="http://schemas.openxmlformats.org/drawingml/2006/main">
            <a:r>
              <a:t>Svergun et al., J. Appl. Crystallogr. (1995)</a:t>
            </a:r>
          </a:p>
          <a:p xmlns:a="http://schemas.openxmlformats.org/drawingml/2006/main">
            <a:r>
              <a:t>https://doi.org/10.1107/S0021889895007047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work/backcalculate_joint.py: CRYSOL ATSAS 3.2.1. OpenMM adds hydrogen atoms; heavy-atom positions checked unchanged to 1e-7 angstrom. Curves interpolated onto measured q points without extrapolation.</a:t>
            </a:r>
          </a:p>
          <a:p xmlns:a="http://schemas.openxmlformats.org/drawingml/2006/main">
            <a:r>
              <a:t/>
            </a:r>
          </a:p>
          <a:p xmlns:a="http://schemas.openxmlformats.org/drawingml/2006/main">
            <a:r>
              <a:t>Sources:</a:t>
            </a:r>
          </a:p>
          <a:p xmlns:a="http://schemas.openxmlformats.org/drawingml/2006/main">
            <a:r>
              <a:t>Svergun et al., J. Appl. Crystallogr. (1995)</a:t>
            </a:r>
          </a:p>
          <a:p xmlns:a="http://schemas.openxmlformats.org/drawingml/2006/main">
            <a:r>
              <a:t>https://doi.org/10.1107/S0021889895007047</a:t>
            </a:r>
          </a:p>
          <a:p xmlns:a="http://schemas.openxmlformats.org/drawingml/2006/main">
            <a:r>
              <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equation is the current custom implementation, not an attribution of identical scaling to the original ASTEROIDS papers. Lower values are preferred. The same shift data are not separately added again through δ2D.</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a:p xmlns:a="http://schemas.openxmlformats.org/drawingml/2006/main">
            <a:r>
              <a:t/>
            </a:r>
          </a:p>
          <a:p xmlns:a="http://schemas.openxmlformats.org/drawingml/2006/main">
            <a:r>
              <a:t>Schwalbe et al., Structure (2014)</a:t>
            </a:r>
          </a:p>
          <a:p xmlns:a="http://schemas.openxmlformats.org/drawingml/2006/main">
            <a:r>
              <a:t>https://doi.org/10.1016/j.str.2013.10.020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 is the number of fitted SAXS points. Background is zero. q-point correlation and fitted scale mean that χ²/point is primarily a diagnostic here, not an exact calibrated goodness-of-fit probability.</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User-chosen scales are optimization weights, not estimated prediction errors or fit tolerances. A nucleus with more observed residues contributes more at equal per-point standardized error. Halving a scale multiplies that contribution by four.</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a:p xmlns:a="http://schemas.openxmlformats.org/drawingml/2006/main">
            <a:r>
              <a:t/>
            </a:r>
          </a:p>
          <a:p xmlns:a="http://schemas.openxmlformats.org/drawingml/2006/main">
            <a:r>
              <a:t>Cavender et al., LiveCoMS (2025)</a:t>
            </a:r>
          </a:p>
          <a:p xmlns:a="http://schemas.openxmlformats.org/drawingml/2006/main">
            <a:r>
              <a:t>https://doi.org/10.33011/livecoms.6.1.3871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work/asteroids/selection.py and run_selection.py. The implementation uses a genetic search inspired by ASTEROIDS, not the original unpublished code. Population 100, 1000 generations, crossover, mutation, random immigrants, tournaments and elitism.</a:t>
            </a:r>
          </a:p>
          <a:p xmlns:a="http://schemas.openxmlformats.org/drawingml/2006/main">
            <a:r>
              <a:t/>
            </a:r>
          </a:p>
          <a:p xmlns:a="http://schemas.openxmlformats.org/drawingml/2006/main">
            <a:r>
              <a:t>Sources:</a:t>
            </a:r>
          </a:p>
          <a:p xmlns:a="http://schemas.openxmlformats.org/drawingml/2006/main">
            <a:r>
              <a:t>Ozenne et al., JACS (2012)</a:t>
            </a:r>
          </a:p>
          <a:p xmlns:a="http://schemas.openxmlformats.org/drawingml/2006/main">
            <a:r>
              <a:t>https://doi.org/10.1021/ja306905s</a:t>
            </a:r>
          </a:p>
          <a:p xmlns:a="http://schemas.openxmlformats.org/drawingml/2006/main">
            <a:r>
              <a:t/>
            </a:r>
          </a:p>
          <a:p xmlns:a="http://schemas.openxmlformats.org/drawingml/2006/main">
            <a:r>
              <a:t>Schwalbe et al., Structure (2014)</a:t>
            </a:r>
          </a:p>
          <a:p xmlns:a="http://schemas.openxmlformats.org/drawingml/2006/main">
            <a:r>
              <a:t>https://doi.org/10.1016/j.str.2013.10.020</a:t>
            </a:r>
          </a:p>
          <a:p xmlns:a="http://schemas.openxmlformats.org/drawingml/2006/main">
            <a:r>
              <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ASTEROIDS uses ensemble selection with NMR and SAXS observables, statistical-coil proposals and validation. Our IDPConfGen proposals, genetic operators and user scales are implementation choices, not a literal replication. EOM similarly selects conformers against SAXS.</a:t>
            </a:r>
          </a:p>
          <a:p xmlns:a="http://schemas.openxmlformats.org/drawingml/2006/main">
            <a:r>
              <a:t/>
            </a:r>
          </a:p>
          <a:p xmlns:a="http://schemas.openxmlformats.org/drawingml/2006/main">
            <a:r>
              <a:t>Sources:</a:t>
            </a:r>
          </a:p>
          <a:p xmlns:a="http://schemas.openxmlformats.org/drawingml/2006/main">
            <a:r>
              <a:t>Ozenne et al., JACS (2012)</a:t>
            </a:r>
          </a:p>
          <a:p xmlns:a="http://schemas.openxmlformats.org/drawingml/2006/main">
            <a:r>
              <a:t>https://doi.org/10.1021/ja306905s</a:t>
            </a:r>
          </a:p>
          <a:p xmlns:a="http://schemas.openxmlformats.org/drawingml/2006/main">
            <a:r>
              <a:t/>
            </a:r>
          </a:p>
          <a:p xmlns:a="http://schemas.openxmlformats.org/drawingml/2006/main">
            <a:r>
              <a:t>Schwalbe et al., Structure (2014)</a:t>
            </a:r>
          </a:p>
          <a:p xmlns:a="http://schemas.openxmlformats.org/drawingml/2006/main">
            <a:r>
              <a:t>https://doi.org/10.1016/j.str.2013.10.020</a:t>
            </a:r>
          </a:p>
          <a:p xmlns:a="http://schemas.openxmlformats.org/drawingml/2006/main">
            <a:r>
              <a:t/>
            </a:r>
          </a:p>
          <a:p xmlns:a="http://schemas.openxmlformats.org/drawingml/2006/main">
            <a:r>
              <a:t>Bernadó et al., JACS (2007)</a:t>
            </a:r>
          </a:p>
          <a:p xmlns:a="http://schemas.openxmlformats.org/drawingml/2006/main">
            <a:r>
              <a:t>https://doi.org/10.1021/ja069124n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General maximum-entropy regularization framework provided for contrast. Chi-squared measures data mismatch; theta controls the relative-entropy regularization strength. This slide does not assert that the earlier comparison repository used precisely this objective. N_eff is the inverse-Simpson effective sample size, one of several conventions.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polydisperse conformations, Guinier Rg reflects intensity-weighted mean squared size under the relevant contrast assumptions. Do not fit a single structure to an average-coordinate model.</a:t>
            </a:r>
          </a:p>
          <a:p xmlns:a="http://schemas.openxmlformats.org/drawingml/2006/main">
            <a:r>
              <a:t/>
            </a:r>
          </a:p>
          <a:p xmlns:a="http://schemas.openxmlformats.org/drawingml/2006/main">
            <a:r>
              <a:t>Sources:</a:t>
            </a:r>
          </a:p>
          <a:p xmlns:a="http://schemas.openxmlformats.org/drawingml/2006/main">
            <a:r>
              <a:t>Svergun et al., J. Appl. Crystallogr. (1995)</a:t>
            </a:r>
          </a:p>
          <a:p xmlns:a="http://schemas.openxmlformats.org/drawingml/2006/main">
            <a:r>
              <a:t>https://doi.org/10.1107/S0021889895007047</a:t>
            </a:r>
          </a:p>
          <a:p xmlns:a="http://schemas.openxmlformats.org/drawingml/2006/main">
            <a:r>
              <a:t/>
            </a:r>
          </a:p>
          <a:p xmlns:a="http://schemas.openxmlformats.org/drawingml/2006/main">
            <a:r>
              <a:t>Original AR analysis code and MD comparison</a:t>
            </a:r>
          </a:p>
          <a:p xmlns:a="http://schemas.openxmlformats.org/drawingml/2006/main">
            <a:r>
              <a:t>https://github.com/paulrobustelli/AR_ligand_binding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implementation in work/compute_sa_rg.py, based on the user’s executable repository cell. Numerically stable form: with t=(R/r0)^4, f=(1+t)/(1+t+t^2). This removes the removable singularity at R=r0.</a:t>
            </a:r>
          </a:p>
          <a:p xmlns:a="http://schemas.openxmlformats.org/drawingml/2006/main">
            <a:r>
              <a:t/>
            </a:r>
          </a:p>
          <a:p xmlns:a="http://schemas.openxmlformats.org/drawingml/2006/main">
            <a:r>
              <a:t>Sources:</a:t>
            </a:r>
          </a:p>
          <a:p xmlns:a="http://schemas.openxmlformats.org/drawingml/2006/main">
            <a:r>
              <a:t>Original AR analysis code and MD comparison</a:t>
            </a:r>
          </a:p>
          <a:p xmlns:a="http://schemas.openxmlformats.org/drawingml/2006/main">
            <a:r>
              <a:t>https://github.com/paulrobustelli/AR_ligand_binding</a:t>
            </a:r>
          </a:p>
          <a:p xmlns:a="http://schemas.openxmlformats.org/drawingml/2006/main">
            <a:r>
              <a:t/>
            </a:r>
          </a:p>
          <a:p xmlns:a="http://schemas.openxmlformats.org/drawingml/2006/main">
            <a:r>
              <a:t>Zhu et al., Nature Communications (2022)</a:t>
            </a:r>
          </a:p>
          <a:p xmlns:a="http://schemas.openxmlformats.org/drawingml/2006/main">
            <a:r>
              <a:t>https://doi.org/10.1038/s41467-022-34077-z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MD comparison: 57,144 uniformly weighted apo WT R2_R3 frames; periodic-distance treatment follows the original code. All contact maps on the comparison page currently describe the source pools/MD, not the newly selected 500-member ensembles.</a:t>
            </a:r>
          </a:p>
          <a:p xmlns:a="http://schemas.openxmlformats.org/drawingml/2006/main">
            <a:r>
              <a:t/>
            </a:r>
          </a:p>
          <a:p xmlns:a="http://schemas.openxmlformats.org/drawingml/2006/main">
            <a:r>
              <a:t>Sources:</a:t>
            </a:r>
          </a:p>
          <a:p xmlns:a="http://schemas.openxmlformats.org/drawingml/2006/main">
            <a:r>
              <a:t>Original AR analysis code and MD comparison</a:t>
            </a:r>
          </a:p>
          <a:p xmlns:a="http://schemas.openxmlformats.org/drawingml/2006/main">
            <a:r>
              <a:t>https://github.com/paulrobustelli/AR_ligand_binding</a:t>
            </a:r>
          </a:p>
          <a:p xmlns:a="http://schemas.openxmlformats.org/drawingml/2006/main">
            <a:r>
              <a:t/>
            </a:r>
          </a:p>
          <a:p xmlns:a="http://schemas.openxmlformats.org/drawingml/2006/main">
            <a:r>
              <a:t>Zhu et al., Nature Communications (2022)</a:t>
            </a:r>
          </a:p>
          <a:p xmlns:a="http://schemas.openxmlformats.org/drawingml/2006/main">
            <a:r>
              <a:t>https://doi.org/10.1038/s41467-022-34077-z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current runs: 2 sequences × 2 pool definitions × 3 optimizer seeds. Base WT/AA 2000; expanded WT2110/AA2090. These are first-pool results. Independent candidate-pool convergence remains untested.</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Range across three optimizer seeds. Units ppm for shifts; SAXS is mean standardized squared residual. C denotes C-prime. WT has no C-beta restraints. Readout reflects the chosen joint objective and finite candidate pools.</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editable chart. Selected curves are means of the three optimizer seeds. The raw pool is the same for all optimizer seeds. DSSP H and delta2D helix are distinct observables.</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a:p xmlns:a="http://schemas.openxmlformats.org/drawingml/2006/main">
            <a:r>
              <a:t/>
            </a:r>
          </a:p>
          <a:p xmlns:a="http://schemas.openxmlformats.org/drawingml/2006/main">
            <a:r>
              <a:t>Camilloni et al., Biochemistry (2012)</a:t>
            </a:r>
          </a:p>
          <a:p xmlns:a="http://schemas.openxmlformats.org/drawingml/2006/main">
            <a:r>
              <a:t>https://doi.org/10.1021/bi3001825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editable chart. Selected curves are means of the three optimizer seeds. The raw pool is the same for all optimizer seeds. DSSP H and delta2D helix are distinct observables.</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a:p xmlns:a="http://schemas.openxmlformats.org/drawingml/2006/main">
            <a:r>
              <a:t/>
            </a:r>
          </a:p>
          <a:p xmlns:a="http://schemas.openxmlformats.org/drawingml/2006/main">
            <a:r>
              <a:t>Camilloni et al., Biochemistry (2012)</a:t>
            </a:r>
          </a:p>
          <a:p xmlns:a="http://schemas.openxmlformats.org/drawingml/2006/main">
            <a:r>
              <a:t>https://doi.org/10.1021/bi3001825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charts show seed 20260929, expanded pool, before and after equal-weight selection. Other nuclei and signed residuals are in the numerical archive. Absolute residual = |experimental secondary shift − calculated secondary shift|; same as raw-shift residual when reference is shared.</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Native charts show seed 20260929, expanded pool, before and after equal-weight selection. Other nuclei and signed residuals are in the numerical archive. Absolute residual = |experimental secondary shift − calculated secondary shift|; same as raw-shift residual when reference is shared.</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RMSD ranges across optimizer seeds. These are results, not target tolerances. All available nuclei contribute under the chosen scales. Missing H-alpha and WT C-beta data have not been imputed.</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Expanded pool, seed20260929. Predicted intensities in saxs.csv have their independently fitted scales applied. This native plot uses the experimental uncertainties provided in that file.</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Convergence data in convergence.json and Rg_convergence.json. Maximum helix range is max over residues of (max seed population − min seed population). Last100 objective improvements span0.34–1.56%. Independent candidate pools and contacts remain untested.</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reproduced from the current analysis output. AR 391–446; Rg in nm. Color: −RT ln(density + 10⁻⁶), T = 300 K. For raw pools this is a display transform, not a thermodynamic free energy.</a:t>
            </a:r>
          </a:p>
          <a:p xmlns:a="http://schemas.openxmlformats.org/drawingml/2006/main">
            <a:r>
              <a:t>Local source: outputs/publish_snapshot/Ensemble_Comparisons/Sa_Rg/R2R3_side_by_side.png</a:t>
            </a:r>
          </a:p>
          <a:p xmlns:a="http://schemas.openxmlformats.org/drawingml/2006/main">
            <a:r>
              <a:t/>
            </a:r>
          </a:p>
          <a:p xmlns:a="http://schemas.openxmlformats.org/drawingml/2006/main">
            <a:r>
              <a:t>Sources:</a:t>
            </a:r>
          </a:p>
          <a:p xmlns:a="http://schemas.openxmlformats.org/drawingml/2006/main">
            <a:r>
              <a:t>Original AR analysis code and MD comparison</a:t>
            </a:r>
          </a:p>
          <a:p xmlns:a="http://schemas.openxmlformats.org/drawingml/2006/main">
            <a:r>
              <a:t>https://github.com/paulrobustelli/AR_ligand_binding</a:t>
            </a:r>
          </a:p>
          <a:p xmlns:a="http://schemas.openxmlformats.org/drawingml/2006/main">
            <a:r>
              <a:t/>
            </a:r>
          </a:p>
          <a:p xmlns:a="http://schemas.openxmlformats.org/drawingml/2006/main">
            <a:r>
              <a:t>Zhu et al., Nature Communications (2022)</a:t>
            </a:r>
          </a:p>
          <a:p xmlns:a="http://schemas.openxmlformats.org/drawingml/2006/main">
            <a:r>
              <a:t>https://doi.org/10.1038/s41467-022-34077-z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reproduced from the current analysis output. Identical residue segment and contact definition. MD is apo WT; no AA MD comparison is implied.</a:t>
            </a:r>
          </a:p>
          <a:p xmlns:a="http://schemas.openxmlformats.org/drawingml/2006/main">
            <a:r>
              <a:t>Local source: outputs/publish_snapshot/Ensemble_Comparisons/Contact_Maps/R2R3_WT_AA_MD.png</a:t>
            </a:r>
          </a:p>
          <a:p xmlns:a="http://schemas.openxmlformats.org/drawingml/2006/main">
            <a:r>
              <a:t/>
            </a:r>
          </a:p>
          <a:p xmlns:a="http://schemas.openxmlformats.org/drawingml/2006/main">
            <a:r>
              <a:t>Sources:</a:t>
            </a:r>
          </a:p>
          <a:p xmlns:a="http://schemas.openxmlformats.org/drawingml/2006/main">
            <a:r>
              <a:t>Original AR analysis code and MD comparison</a:t>
            </a:r>
          </a:p>
          <a:p xmlns:a="http://schemas.openxmlformats.org/drawingml/2006/main">
            <a:r>
              <a:t>https://github.com/paulrobustelli/AR_ligand_binding</a:t>
            </a:r>
          </a:p>
          <a:p xmlns:a="http://schemas.openxmlformats.org/drawingml/2006/main">
            <a:r>
              <a:t/>
            </a:r>
          </a:p>
          <a:p xmlns:a="http://schemas.openxmlformats.org/drawingml/2006/main">
            <a:r>
              <a:t>Zhu et al., Nature Communications (2022)</a:t>
            </a:r>
          </a:p>
          <a:p xmlns:a="http://schemas.openxmlformats.org/drawingml/2006/main">
            <a:r>
              <a:t>https://doi.org/10.1038/s41467-022-34077-z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bAIes source uses amber99SB-ILDN bonded terms, a repulsive truncated-shifted Lennard-Jones potential and coil-derived CMAPs. kB is Boltzmann constant, T temperature; Pcoil and PFF are torsion distributions. This is a planned comparison for Tau-5*, not completed production sampling.</a:t>
            </a:r>
          </a:p>
          <a:p xmlns:a="http://schemas.openxmlformats.org/drawingml/2006/main">
            <a:r>
              <a:t/>
            </a:r>
          </a:p>
          <a:p xmlns:a="http://schemas.openxmlformats.org/drawingml/2006/main">
            <a:r>
              <a:t>Sources:</a:t>
            </a:r>
          </a:p>
          <a:p xmlns:a="http://schemas.openxmlformats.org/drawingml/2006/main">
            <a:r>
              <a:t>Schnapka et al., Nature Communications (2026)</a:t>
            </a:r>
          </a:p>
          <a:p xmlns:a="http://schemas.openxmlformats.org/drawingml/2006/main">
            <a:r>
              <a:t>https://doi.org/10.1038/s41467-026-69172-y</a:t>
            </a:r>
          </a:p>
          <a:p xmlns:a="http://schemas.openxmlformats.org/drawingml/2006/main">
            <a:r>
              <a:t/>
            </a:r>
          </a:p>
          <a:p xmlns:a="http://schemas.openxmlformats.org/drawingml/2006/main">
            <a:r>
              <a:t>bAIes-IDP source and tutorial</a:t>
            </a:r>
          </a:p>
          <a:p xmlns:a="http://schemas.openxmlformats.org/drawingml/2006/main">
            <a:r>
              <a:t>https://github.com/COSBlab/bAIes-IDP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Jeffreys-prior marginal likelihood rewritten with an explicit lower bound: integral from sigma_min to infinity of Normal(delta;0,sigma^2) d sigma/sigma. Selected AF2 C-beta distances (C-alpha for glycine), excluding sequence separation less than3 and filtered for likely contacts, define the restraints. The published protocol chooses the highest global-pLDDT AF2 model rather than automatically averaging all five.</a:t>
            </a:r>
          </a:p>
          <a:p xmlns:a="http://schemas.openxmlformats.org/drawingml/2006/main">
            <a:r>
              <a:t/>
            </a:r>
          </a:p>
          <a:p xmlns:a="http://schemas.openxmlformats.org/drawingml/2006/main">
            <a:r>
              <a:t>Sources:</a:t>
            </a:r>
          </a:p>
          <a:p xmlns:a="http://schemas.openxmlformats.org/drawingml/2006/main">
            <a:r>
              <a:t>Schnapka et al., Nature Communications (2026)</a:t>
            </a:r>
          </a:p>
          <a:p xmlns:a="http://schemas.openxmlformats.org/drawingml/2006/main">
            <a:r>
              <a:t>https://doi.org/10.1038/s41467-026-69172-y</a:t>
            </a:r>
          </a:p>
          <a:p xmlns:a="http://schemas.openxmlformats.org/drawingml/2006/main">
            <a:r>
              <a:t/>
            </a:r>
          </a:p>
          <a:p xmlns:a="http://schemas.openxmlformats.org/drawingml/2006/main">
            <a:r>
              <a:t>bAIes-IDP source and tutorial</a:t>
            </a:r>
          </a:p>
          <a:p xmlns:a="http://schemas.openxmlformats.org/drawingml/2006/main">
            <a:r>
              <a:t>https://github.com/COSBlab/bAIes-IDP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as of29September2026. WT and AA archives contain five AF2 models and distogram outputs;120×120×64. Native Mac LAMMPS compilation finished but smoke run hit PLUMED API version compatibility check. No Tau-5* bAIes trajectory exists yet.</a:t>
            </a:r>
          </a:p>
          <a:p xmlns:a="http://schemas.openxmlformats.org/drawingml/2006/main">
            <a:r>
              <a:t/>
            </a:r>
          </a:p>
          <a:p xmlns:a="http://schemas.openxmlformats.org/drawingml/2006/main">
            <a:r>
              <a:t>Sources:</a:t>
            </a:r>
          </a:p>
          <a:p xmlns:a="http://schemas.openxmlformats.org/drawingml/2006/main">
            <a:r>
              <a:t>bAIes-IDP source and tutorial</a:t>
            </a:r>
          </a:p>
          <a:p xmlns:a="http://schemas.openxmlformats.org/drawingml/2006/main">
            <a:r>
              <a:t>https://github.com/COSBlab/bAIes-IDP</a:t>
            </a:r>
          </a:p>
          <a:p xmlns:a="http://schemas.openxmlformats.org/drawingml/2006/main">
            <a:r>
              <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inequality is a general ensemble-scattering identity. DENSS reconstructs electron density from solution scattering; interpretation is particularly nonunique for disordered ensembles. It can be informative as a comparison, but cannot create independent information from the same curve.</a:t>
            </a:r>
          </a:p>
          <a:p xmlns:a="http://schemas.openxmlformats.org/drawingml/2006/main">
            <a:r>
              <a:t/>
            </a:r>
          </a:p>
          <a:p xmlns:a="http://schemas.openxmlformats.org/drawingml/2006/main">
            <a:r>
              <a:t>Sources:</a:t>
            </a:r>
          </a:p>
          <a:p xmlns:a="http://schemas.openxmlformats.org/drawingml/2006/main">
            <a:r>
              <a:t>Grant, Nature Methods (2018)</a:t>
            </a:r>
          </a:p>
          <a:p xmlns:a="http://schemas.openxmlformats.org/drawingml/2006/main">
            <a:r>
              <a:t>https://doi.org/10.1038/nmeth.4581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experiments on pool design, not completed results. Hydrophobic solvent-accessible surface area and aromatic coordination targets should be measured consistently across the matched MD segment and generated pools. MD distributions are comparison priors, not experimental truth.</a:t>
            </a:r>
          </a:p>
          <a:p xmlns:a="http://schemas.openxmlformats.org/drawingml/2006/main">
            <a:r>
              <a:t/>
            </a:r>
          </a:p>
          <a:p xmlns:a="http://schemas.openxmlformats.org/drawingml/2006/main">
            <a:r>
              <a:t>Sources:</a:t>
            </a:r>
          </a:p>
          <a:p xmlns:a="http://schemas.openxmlformats.org/drawingml/2006/main">
            <a:r>
              <a:t>Zhu et al., Nature Communications (2022)</a:t>
            </a:r>
          </a:p>
          <a:p xmlns:a="http://schemas.openxmlformats.org/drawingml/2006/main">
            <a:r>
              <a:t>https://doi.org/10.1038/s41467-022-34077-z</a:t>
            </a:r>
          </a:p>
          <a:p xmlns:a="http://schemas.openxmlformats.org/drawingml/2006/main">
            <a:r>
              <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summary. Improvements do not establish the unique physical ensemble. Report definitions, sampling and fit residuals alongside structural interpretations.</a:t>
            </a:r>
          </a:p>
          <a:p xmlns:a="http://schemas.openxmlformats.org/drawingml/2006/main">
            <a:r>
              <a:t/>
            </a:r>
          </a:p>
          <a:p xmlns:a="http://schemas.openxmlformats.org/drawingml/2006/main">
            <a:r>
              <a:t>Sources:</a:t>
            </a:r>
          </a:p>
          <a:p xmlns:a="http://schemas.openxmlformats.org/drawingml/2006/main">
            <a:r>
              <a:t>Current analysis: code, selected members and numerical results</a:t>
            </a:r>
          </a:p>
          <a:p xmlns:a="http://schemas.openxmlformats.org/drawingml/2006/main">
            <a:r>
              <a:t>https://github.com/paulrobustelli/tau5-sec-saxs-analysis/tree/main/Ensemble_Comparisons/CS_SAXS_Selection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and reproducibility locations.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and reproducibility locations.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and reproducibility locations.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61403a63bb411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016f5f874c4590" /><Relationship Type="http://schemas.openxmlformats.org/officeDocument/2006/relationships/slideLayout" Target="/ppt/slideLayouts/slideLayout1.xml" Id="R04eb268d6afb43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eb268d6afb43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7faad43d5e2403f" /><Relationship Type="http://schemas.openxmlformats.org/officeDocument/2006/relationships/notesSlide" Target="/ppt/notesSlides/notesSlide1.xml" Id="R3aa96f4c1f6141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a0d0124c6b4b29" /><Relationship Type="http://schemas.openxmlformats.org/officeDocument/2006/relationships/notesSlide" Target="/ppt/notesSlides/notesSlide2.xml" Id="R55dd3c7a2c2043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c71671c9a84ae6" /><Relationship Type="http://schemas.openxmlformats.org/officeDocument/2006/relationships/notesSlide" Target="/ppt/notesSlides/notesSlide3.xml" Id="R6fde5627677b4f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27da5aa33e4313" /><Relationship Type="http://schemas.openxmlformats.org/officeDocument/2006/relationships/notesSlide" Target="/ppt/notesSlides/notesSlide4.xml" Id="R6908c5eb58434b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ee032fe0c243ab" /><Relationship Type="http://schemas.openxmlformats.org/officeDocument/2006/relationships/notesSlide" Target="/ppt/notesSlides/notesSlide5.xml" Id="R298f466b4d4844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a5e4c9199e429d" /><Relationship Type="http://schemas.openxmlformats.org/officeDocument/2006/relationships/notesSlide" Target="/ppt/notesSlides/notesSlide6.xml" Id="R6ef65fb68d5c4f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f3bf20b0bd94c94" /><Relationship Type="http://schemas.openxmlformats.org/officeDocument/2006/relationships/notesSlide" Target="/ppt/notesSlides/notesSlide7.xml" Id="R2a2219743b204f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f986771b39e4fa5" /><Relationship Type="http://schemas.openxmlformats.org/officeDocument/2006/relationships/notesSlide" Target="/ppt/notesSlides/notesSlide8.xml" Id="Rf559379bdb064f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4f168a7e99472b" /><Relationship Type="http://schemas.openxmlformats.org/officeDocument/2006/relationships/notesSlide" Target="/ppt/notesSlides/notesSlide9.xml" Id="Raa4fd1df7a2045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154ef95f8134918" /><Relationship Type="http://schemas.openxmlformats.org/officeDocument/2006/relationships/notesSlide" Target="/ppt/notesSlides/notesSlide10.xml" Id="R1cd56fea048c4d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8b1b08746140f3" /><Relationship Type="http://schemas.openxmlformats.org/officeDocument/2006/relationships/notesSlide" Target="/ppt/notesSlides/notesSlide11.xml" Id="R593235b3efe34a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55c0a1778364df0" /><Relationship Type="http://schemas.openxmlformats.org/officeDocument/2006/relationships/notesSlide" Target="/ppt/notesSlides/notesSlide12.xml" Id="R13f13c92a7ba44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fb47d66211b42f7" /><Relationship Type="http://schemas.openxmlformats.org/officeDocument/2006/relationships/notesSlide" Target="/ppt/notesSlides/notesSlide13.xml" Id="R70b9baf71d9e4e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181dfd7dc8b4c9e" /><Relationship Type="http://schemas.openxmlformats.org/officeDocument/2006/relationships/notesSlide" Target="/ppt/notesSlides/notesSlide14.xml" Id="Rb31d5c56b3a144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f625111a307416c" /><Relationship Type="http://schemas.openxmlformats.org/officeDocument/2006/relationships/notesSlide" Target="/ppt/notesSlides/notesSlide15.xml" Id="Rb6cd42c7a53e448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68d5e0b6bbe45c2" /><Relationship Type="http://schemas.openxmlformats.org/officeDocument/2006/relationships/notesSlide" Target="/ppt/notesSlides/notesSlide16.xml" Id="Rf73ba1faa5e8471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307e8d626aa4d1f" /><Relationship Type="http://schemas.openxmlformats.org/officeDocument/2006/relationships/notesSlide" Target="/ppt/notesSlides/notesSlide17.xml" Id="Rd8055c1cc7f745a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d40deb708bc4bd5" /><Relationship Type="http://schemas.openxmlformats.org/officeDocument/2006/relationships/notesSlide" Target="/ppt/notesSlides/notesSlide18.xml" Id="R86013c5c8b4e41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65d4c28d3664d15" /><Relationship Type="http://schemas.openxmlformats.org/officeDocument/2006/relationships/notesSlide" Target="/ppt/notesSlides/notesSlide19.xml" Id="R0de94f62a5b34d0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3c9347225314063" /><Relationship Type="http://schemas.openxmlformats.org/officeDocument/2006/relationships/notesSlide" Target="/ppt/notesSlides/notesSlide20.xml" Id="Rcd7c28a544ae41a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0be91f2c39e4421" /><Relationship Type="http://schemas.openxmlformats.org/officeDocument/2006/relationships/notesSlide" Target="/ppt/notesSlides/notesSlide21.xml" Id="R786a2346412e48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6f792c52d724afb" /><Relationship Type="http://schemas.openxmlformats.org/officeDocument/2006/relationships/notesSlide" Target="/ppt/notesSlides/notesSlide22.xml" Id="R9b63cfb124294e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7b7c60daf8542e5" /><Relationship Type="http://schemas.openxmlformats.org/officeDocument/2006/relationships/notesSlide" Target="/ppt/notesSlides/notesSlide23.xml" Id="R261037f3bf7141a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db693a7ace748ad" /><Relationship Type="http://schemas.openxmlformats.org/officeDocument/2006/relationships/notesSlide" Target="/ppt/notesSlides/notesSlide24.xml" Id="R3aa9d7b833ea49b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edee659606f4792" /><Relationship Type="http://schemas.openxmlformats.org/officeDocument/2006/relationships/notesSlide" Target="/ppt/notesSlides/notesSlide25.xml" Id="R90983d88653b463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ffd78cb02154d0b" /><Relationship Type="http://schemas.openxmlformats.org/officeDocument/2006/relationships/chart" Target="/ppt/slides/charts/chart1.xml" Id="R42ea213866384f66" /><Relationship Type="http://schemas.openxmlformats.org/officeDocument/2006/relationships/notesSlide" Target="/ppt/notesSlides/notesSlide26.xml" Id="R27cd4f871a2247c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75e3623d2f740d4" /><Relationship Type="http://schemas.openxmlformats.org/officeDocument/2006/relationships/chart" Target="/ppt/slides/charts/chart2.xml" Id="R9fb8429ed1cc4c77" /><Relationship Type="http://schemas.openxmlformats.org/officeDocument/2006/relationships/notesSlide" Target="/ppt/notesSlides/notesSlide27.xml" Id="Rdba5470879bd4b2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e8aed87ef7848c4" /><Relationship Type="http://schemas.openxmlformats.org/officeDocument/2006/relationships/chart" Target="/ppt/slides/charts/chart3.xml" Id="R6ccdc616f98e4d4a" /><Relationship Type="http://schemas.openxmlformats.org/officeDocument/2006/relationships/chart" Target="/ppt/slides/charts/chart4.xml" Id="R845045acb914492d" /><Relationship Type="http://schemas.openxmlformats.org/officeDocument/2006/relationships/notesSlide" Target="/ppt/notesSlides/notesSlide28.xml" Id="R81eb1c4c0a234b0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814ca45dee24c8f" /><Relationship Type="http://schemas.openxmlformats.org/officeDocument/2006/relationships/chart" Target="/ppt/slides/charts/chart5.xml" Id="R10762e15595848a0" /><Relationship Type="http://schemas.openxmlformats.org/officeDocument/2006/relationships/chart" Target="/ppt/slides/charts/chart6.xml" Id="R9df02f93f9064e71" /><Relationship Type="http://schemas.openxmlformats.org/officeDocument/2006/relationships/notesSlide" Target="/ppt/notesSlides/notesSlide29.xml" Id="R8132edacebfb46b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2f2c4b14e3d4fc5" /><Relationship Type="http://schemas.openxmlformats.org/officeDocument/2006/relationships/notesSlide" Target="/ppt/notesSlides/notesSlide30.xml" Id="R7067acb8d78347c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68a637e077141da" /><Relationship Type="http://schemas.openxmlformats.org/officeDocument/2006/relationships/chart" Target="/ppt/slides/charts/chart7.xml" Id="R6a1275f09dc94af6" /><Relationship Type="http://schemas.openxmlformats.org/officeDocument/2006/relationships/chart" Target="/ppt/slides/charts/chart8.xml" Id="R6694a3631f98462c" /><Relationship Type="http://schemas.openxmlformats.org/officeDocument/2006/relationships/notesSlide" Target="/ppt/notesSlides/notesSlide31.xml" Id="R3b92aaf20609423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6f38a6afde54216" /><Relationship Type="http://schemas.openxmlformats.org/officeDocument/2006/relationships/notesSlide" Target="/ppt/notesSlides/notesSlide32.xml" Id="Recce423dfbde424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46cbc70cb754702" /><Relationship Type="http://schemas.openxmlformats.org/officeDocument/2006/relationships/image" Target="/ppt/media/image.png" Id="Rdf084e8d44ef4a49" /><Relationship Type="http://schemas.openxmlformats.org/officeDocument/2006/relationships/notesSlide" Target="/ppt/notesSlides/notesSlide33.xml" Id="R7176a2c96cdc47f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be83ce8ea65341be" /><Relationship Type="http://schemas.openxmlformats.org/officeDocument/2006/relationships/image" Target="/ppt/media/image2.png" Id="Rcc11fffa9ef34caa" /><Relationship Type="http://schemas.openxmlformats.org/officeDocument/2006/relationships/notesSlide" Target="/ppt/notesSlides/notesSlide34.xml" Id="Raf51b16b00c142d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e1fcaea211140d1" /><Relationship Type="http://schemas.openxmlformats.org/officeDocument/2006/relationships/notesSlide" Target="/ppt/notesSlides/notesSlide35.xml" Id="R0a55c7c32823431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36b05c5deac405b" /><Relationship Type="http://schemas.openxmlformats.org/officeDocument/2006/relationships/notesSlide" Target="/ppt/notesSlides/notesSlide36.xml" Id="Racf857c25c3f49b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e34517d453424949" /><Relationship Type="http://schemas.openxmlformats.org/officeDocument/2006/relationships/notesSlide" Target="/ppt/notesSlides/notesSlide37.xml" Id="R6f21855a8c794d7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3e98e3fea02465c" /><Relationship Type="http://schemas.openxmlformats.org/officeDocument/2006/relationships/notesSlide" Target="/ppt/notesSlides/notesSlide38.xml" Id="Rb5394e2e94f941b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d8591c77b0c4dfb" /><Relationship Type="http://schemas.openxmlformats.org/officeDocument/2006/relationships/notesSlide" Target="/ppt/notesSlides/notesSlide39.xml" Id="R400b5568354b489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2194896232a44684" /><Relationship Type="http://schemas.openxmlformats.org/officeDocument/2006/relationships/notesSlide" Target="/ppt/notesSlides/notesSlide40.xml" Id="R3a013f02ede1430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29cd387c4c74fd1" /><Relationship Type="http://schemas.openxmlformats.org/officeDocument/2006/relationships/notesSlide" Target="/ppt/notesSlides/notesSlide41.xml" Id="Rdf527388b363411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e462c5e30bf54b99" /><Relationship Type="http://schemas.openxmlformats.org/officeDocument/2006/relationships/notesSlide" Target="/ppt/notesSlides/notesSlide42.xml" Id="R0b332231040548f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ff4458e23bb4f38" /><Relationship Type="http://schemas.openxmlformats.org/officeDocument/2006/relationships/notesSlide" Target="/ppt/notesSlides/notesSlide43.xml" Id="R87c6be4fe481432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δ2D</c:v>
          </c:tx>
          <c:spPr>
            <a:ln xmlns:a="http://schemas.openxmlformats.org/drawingml/2006/main" w="23813">
              <a:solidFill>
                <a:srgbClr val="151515"/>
              </a:solidFill>
            </a:ln>
          </c:spPr>
          <c:marker>
            <c:symbol val="none"/>
          </c:marker>
          <c:xVal>
            <c:numRef>
              <c:f>'Chart Data'!$A$2:$A$104</c:f>
              <c:numCache>
                <c:formatCode>General</c:formatCode>
                <c:ptCount val="103"/>
                <c:pt idx="0">
                  <c:v>330</c:v>
                </c:pt>
                <c:pt idx="1">
                  <c:v>331</c:v>
                </c:pt>
                <c:pt idx="2">
                  <c:v>332</c:v>
                </c:pt>
                <c:pt idx="3">
                  <c:v>333</c:v>
                </c:pt>
                <c:pt idx="4">
                  <c:v>334</c:v>
                </c:pt>
                <c:pt idx="5">
                  <c:v>335</c:v>
                </c:pt>
                <c:pt idx="6">
                  <c:v>336</c:v>
                </c:pt>
                <c:pt idx="7">
                  <c:v>337</c:v>
                </c:pt>
                <c:pt idx="8">
                  <c:v>338</c:v>
                </c:pt>
                <c:pt idx="9">
                  <c:v>339</c:v>
                </c:pt>
                <c:pt idx="10">
                  <c:v>341</c:v>
                </c:pt>
                <c:pt idx="11">
                  <c:v>342</c:v>
                </c:pt>
                <c:pt idx="12">
                  <c:v>343</c:v>
                </c:pt>
                <c:pt idx="13">
                  <c:v>344</c:v>
                </c:pt>
                <c:pt idx="14">
                  <c:v>345</c:v>
                </c:pt>
                <c:pt idx="15">
                  <c:v>346</c:v>
                </c:pt>
                <c:pt idx="16">
                  <c:v>347</c:v>
                </c:pt>
                <c:pt idx="17">
                  <c:v>348</c:v>
                </c:pt>
                <c:pt idx="18">
                  <c:v>349</c:v>
                </c:pt>
                <c:pt idx="19">
                  <c:v>350</c:v>
                </c:pt>
                <c:pt idx="20">
                  <c:v>351</c:v>
                </c:pt>
                <c:pt idx="21">
                  <c:v>352</c:v>
                </c:pt>
                <c:pt idx="22">
                  <c:v>353</c:v>
                </c:pt>
                <c:pt idx="23">
                  <c:v>354</c:v>
                </c:pt>
                <c:pt idx="24">
                  <c:v>355</c:v>
                </c:pt>
                <c:pt idx="25">
                  <c:v>356</c:v>
                </c:pt>
                <c:pt idx="26">
                  <c:v>357</c:v>
                </c:pt>
                <c:pt idx="27">
                  <c:v>358</c:v>
                </c:pt>
                <c:pt idx="28">
                  <c:v>359</c:v>
                </c:pt>
                <c:pt idx="29">
                  <c:v>360</c:v>
                </c:pt>
                <c:pt idx="30">
                  <c:v>361</c:v>
                </c:pt>
                <c:pt idx="31">
                  <c:v>362</c:v>
                </c:pt>
                <c:pt idx="32">
                  <c:v>363</c:v>
                </c:pt>
                <c:pt idx="33">
                  <c:v>364</c:v>
                </c:pt>
                <c:pt idx="34">
                  <c:v>365</c:v>
                </c:pt>
                <c:pt idx="35">
                  <c:v>367</c:v>
                </c:pt>
                <c:pt idx="36">
                  <c:v>368</c:v>
                </c:pt>
                <c:pt idx="37">
                  <c:v>369</c:v>
                </c:pt>
                <c:pt idx="38">
                  <c:v>370</c:v>
                </c:pt>
                <c:pt idx="39">
                  <c:v>371</c:v>
                </c:pt>
                <c:pt idx="40">
                  <c:v>380</c:v>
                </c:pt>
                <c:pt idx="41">
                  <c:v>382</c:v>
                </c:pt>
                <c:pt idx="42">
                  <c:v>383</c:v>
                </c:pt>
                <c:pt idx="43">
                  <c:v>384</c:v>
                </c:pt>
                <c:pt idx="44">
                  <c:v>385</c:v>
                </c:pt>
                <c:pt idx="45">
                  <c:v>386</c:v>
                </c:pt>
                <c:pt idx="46">
                  <c:v>387</c:v>
                </c:pt>
                <c:pt idx="47">
                  <c:v>388</c:v>
                </c:pt>
                <c:pt idx="48">
                  <c:v>389</c:v>
                </c:pt>
                <c:pt idx="49">
                  <c:v>391</c:v>
                </c:pt>
                <c:pt idx="50">
                  <c:v>392</c:v>
                </c:pt>
                <c:pt idx="51">
                  <c:v>393</c:v>
                </c:pt>
                <c:pt idx="52">
                  <c:v>394</c:v>
                </c:pt>
                <c:pt idx="53">
                  <c:v>395</c:v>
                </c:pt>
                <c:pt idx="54">
                  <c:v>396</c:v>
                </c:pt>
                <c:pt idx="55">
                  <c:v>397</c:v>
                </c:pt>
                <c:pt idx="56">
                  <c:v>398</c:v>
                </c:pt>
                <c:pt idx="57">
                  <c:v>399</c:v>
                </c:pt>
                <c:pt idx="58">
                  <c:v>400</c:v>
                </c:pt>
                <c:pt idx="59">
                  <c:v>401</c:v>
                </c:pt>
                <c:pt idx="60">
                  <c:v>402</c:v>
                </c:pt>
                <c:pt idx="61">
                  <c:v>403</c:v>
                </c:pt>
                <c:pt idx="62">
                  <c:v>404</c:v>
                </c:pt>
                <c:pt idx="63">
                  <c:v>405</c:v>
                </c:pt>
                <c:pt idx="64">
                  <c:v>406</c:v>
                </c:pt>
                <c:pt idx="65">
                  <c:v>407</c:v>
                </c:pt>
                <c:pt idx="66">
                  <c:v>408</c:v>
                </c:pt>
                <c:pt idx="67">
                  <c:v>409</c:v>
                </c:pt>
                <c:pt idx="68">
                  <c:v>410</c:v>
                </c:pt>
                <c:pt idx="69">
                  <c:v>411</c:v>
                </c:pt>
                <c:pt idx="70">
                  <c:v>412</c:v>
                </c:pt>
                <c:pt idx="71">
                  <c:v>413</c:v>
                </c:pt>
                <c:pt idx="72">
                  <c:v>414</c:v>
                </c:pt>
                <c:pt idx="73">
                  <c:v>415</c:v>
                </c:pt>
                <c:pt idx="74">
                  <c:v>416</c:v>
                </c:pt>
                <c:pt idx="75">
                  <c:v>417</c:v>
                </c:pt>
                <c:pt idx="76">
                  <c:v>418</c:v>
                </c:pt>
                <c:pt idx="77">
                  <c:v>419</c:v>
                </c:pt>
                <c:pt idx="78">
                  <c:v>421</c:v>
                </c:pt>
                <c:pt idx="79">
                  <c:v>422</c:v>
                </c:pt>
                <c:pt idx="80">
                  <c:v>423</c:v>
                </c:pt>
                <c:pt idx="81">
                  <c:v>424</c:v>
                </c:pt>
                <c:pt idx="82">
                  <c:v>426</c:v>
                </c:pt>
                <c:pt idx="83">
                  <c:v>427</c:v>
                </c:pt>
                <c:pt idx="84">
                  <c:v>428</c:v>
                </c:pt>
                <c:pt idx="85">
                  <c:v>429</c:v>
                </c:pt>
                <c:pt idx="86">
                  <c:v>430</c:v>
                </c:pt>
                <c:pt idx="87">
                  <c:v>431</c:v>
                </c:pt>
                <c:pt idx="88">
                  <c:v>432</c:v>
                </c:pt>
                <c:pt idx="89">
                  <c:v>433</c:v>
                </c:pt>
                <c:pt idx="90">
                  <c:v>434</c:v>
                </c:pt>
                <c:pt idx="91">
                  <c:v>435</c:v>
                </c:pt>
                <c:pt idx="92">
                  <c:v>436</c:v>
                </c:pt>
                <c:pt idx="93">
                  <c:v>437</c:v>
                </c:pt>
                <c:pt idx="94">
                  <c:v>438</c:v>
                </c:pt>
                <c:pt idx="95">
                  <c:v>439</c:v>
                </c:pt>
                <c:pt idx="96">
                  <c:v>440</c:v>
                </c:pt>
                <c:pt idx="97">
                  <c:v>441</c:v>
                </c:pt>
                <c:pt idx="98">
                  <c:v>442</c:v>
                </c:pt>
                <c:pt idx="99">
                  <c:v>443</c:v>
                </c:pt>
                <c:pt idx="100">
                  <c:v>444</c:v>
                </c:pt>
                <c:pt idx="101">
                  <c:v>445</c:v>
                </c:pt>
                <c:pt idx="102">
                  <c:v>446</c:v>
                </c:pt>
              </c:numCache>
            </c:numRef>
          </c:xVal>
          <c:yVal>
            <c:numRef>
              <c:f>'Chart Data'!$B$2:$B$104</c:f>
              <c:numCache>
                <c:formatCode>0.0</c:formatCode>
                <c:ptCount val="103"/>
                <c:pt idx="0">
                  <c:v>0.003072</c:v>
                </c:pt>
                <c:pt idx="1">
                  <c:v>0.004442</c:v>
                </c:pt>
                <c:pt idx="2">
                  <c:v>0.005026</c:v>
                </c:pt>
                <c:pt idx="3">
                  <c:v>0.006193</c:v>
                </c:pt>
                <c:pt idx="4">
                  <c:v>0.006654</c:v>
                </c:pt>
                <c:pt idx="5">
                  <c:v>0.006585</c:v>
                </c:pt>
                <c:pt idx="6">
                  <c:v>0.004127</c:v>
                </c:pt>
                <c:pt idx="7">
                  <c:v>0.001827</c:v>
                </c:pt>
                <c:pt idx="8">
                  <c:v>0.000298</c:v>
                </c:pt>
                <c:pt idx="9">
                  <c:v>0.000275</c:v>
                </c:pt>
                <c:pt idx="10">
                  <c:v>0.001626</c:v>
                </c:pt>
                <c:pt idx="11">
                  <c:v>0.002631</c:v>
                </c:pt>
                <c:pt idx="12">
                  <c:v>0.003431</c:v>
                </c:pt>
                <c:pt idx="13">
                  <c:v>0.003321</c:v>
                </c:pt>
                <c:pt idx="14">
                  <c:v>0.002966</c:v>
                </c:pt>
                <c:pt idx="15">
                  <c:v>0.002308</c:v>
                </c:pt>
                <c:pt idx="16">
                  <c:v>0.002292</c:v>
                </c:pt>
                <c:pt idx="17">
                  <c:v>0.00284</c:v>
                </c:pt>
                <c:pt idx="18">
                  <c:v>0.005003</c:v>
                </c:pt>
                <c:pt idx="19">
                  <c:v>0.006865</c:v>
                </c:pt>
                <c:pt idx="20">
                  <c:v>0.012444</c:v>
                </c:pt>
                <c:pt idx="21">
                  <c:v>0.021629</c:v>
                </c:pt>
                <c:pt idx="22">
                  <c:v>0.031709</c:v>
                </c:pt>
                <c:pt idx="23">
                  <c:v>0.033426</c:v>
                </c:pt>
                <c:pt idx="24">
                  <c:v>0.031055</c:v>
                </c:pt>
                <c:pt idx="25">
                  <c:v>0.028026</c:v>
                </c:pt>
                <c:pt idx="26">
                  <c:v>0.024222</c:v>
                </c:pt>
                <c:pt idx="27">
                  <c:v>0.014551</c:v>
                </c:pt>
                <c:pt idx="28">
                  <c:v>0.005723</c:v>
                </c:pt>
                <c:pt idx="29">
                  <c:v>0.008123</c:v>
                </c:pt>
                <c:pt idx="30">
                  <c:v>0.01931</c:v>
                </c:pt>
                <c:pt idx="31">
                  <c:v>0.02787</c:v>
                </c:pt>
                <c:pt idx="32">
                  <c:v>0.022151</c:v>
                </c:pt>
                <c:pt idx="33">
                  <c:v>0.011836</c:v>
                </c:pt>
                <c:pt idx="34">
                  <c:v>0.002816</c:v>
                </c:pt>
                <c:pt idx="35">
                  <c:v>0.001669</c:v>
                </c:pt>
                <c:pt idx="36">
                  <c:v>0.001483</c:v>
                </c:pt>
                <c:pt idx="37">
                  <c:v>0.001379</c:v>
                </c:pt>
                <c:pt idx="38">
                  <c:v>0.001387</c:v>
                </c:pt>
                <c:pt idx="39">
                  <c:v>0.001336</c:v>
                </c:pt>
                <c:pt idx="40">
                  <c:v>0.000525</c:v>
                </c:pt>
                <c:pt idx="41">
                  <c:v>0.001556</c:v>
                </c:pt>
                <c:pt idx="42">
                  <c:v>0.001446</c:v>
                </c:pt>
                <c:pt idx="43">
                  <c:v>0.000962</c:v>
                </c:pt>
                <c:pt idx="44">
                  <c:v>0.000569</c:v>
                </c:pt>
                <c:pt idx="45">
                  <c:v>0.000321</c:v>
                </c:pt>
                <c:pt idx="46">
                  <c:v>0.000244</c:v>
                </c:pt>
                <c:pt idx="47">
                  <c:v>0.00015</c:v>
                </c:pt>
                <c:pt idx="48">
                  <c:v>0.001216</c:v>
                </c:pt>
                <c:pt idx="49">
                  <c:v>0.021937</c:v>
                </c:pt>
                <c:pt idx="50">
                  <c:v>0.03984</c:v>
                </c:pt>
                <c:pt idx="51">
                  <c:v>0.057538</c:v>
                </c:pt>
                <c:pt idx="52">
                  <c:v>0.100751</c:v>
                </c:pt>
                <c:pt idx="53">
                  <c:v>0.199339</c:v>
                </c:pt>
                <c:pt idx="54">
                  <c:v>0.331471</c:v>
                </c:pt>
                <c:pt idx="55">
                  <c:v>0.425891</c:v>
                </c:pt>
                <c:pt idx="56">
                  <c:v>0.452485</c:v>
                </c:pt>
                <c:pt idx="57">
                  <c:v>0.41443</c:v>
                </c:pt>
                <c:pt idx="58">
                  <c:v>0.357638</c:v>
                </c:pt>
                <c:pt idx="59">
                  <c:v>0.283075</c:v>
                </c:pt>
                <c:pt idx="60">
                  <c:v>0.205927</c:v>
                </c:pt>
                <c:pt idx="61">
                  <c:v>0.107898</c:v>
                </c:pt>
                <c:pt idx="62">
                  <c:v>0.041554</c:v>
                </c:pt>
                <c:pt idx="63">
                  <c:v>0.01187</c:v>
                </c:pt>
                <c:pt idx="64">
                  <c:v>0.017132</c:v>
                </c:pt>
                <c:pt idx="65">
                  <c:v>0.034518</c:v>
                </c:pt>
                <c:pt idx="66">
                  <c:v>0.06934</c:v>
                </c:pt>
                <c:pt idx="67">
                  <c:v>0.100755</c:v>
                </c:pt>
                <c:pt idx="68">
                  <c:v>0.093833</c:v>
                </c:pt>
                <c:pt idx="69">
                  <c:v>0.069061</c:v>
                </c:pt>
                <c:pt idx="70">
                  <c:v>0.051953</c:v>
                </c:pt>
                <c:pt idx="71">
                  <c:v>0.048516</c:v>
                </c:pt>
                <c:pt idx="72">
                  <c:v>0.036427</c:v>
                </c:pt>
                <c:pt idx="73">
                  <c:v>0.023403</c:v>
                </c:pt>
                <c:pt idx="74">
                  <c:v>0.017328</c:v>
                </c:pt>
                <c:pt idx="75">
                  <c:v>0.01738</c:v>
                </c:pt>
                <c:pt idx="76">
                  <c:v>0.016509</c:v>
                </c:pt>
                <c:pt idx="77">
                  <c:v>0.011729</c:v>
                </c:pt>
                <c:pt idx="78">
                  <c:v>0.011994</c:v>
                </c:pt>
                <c:pt idx="79">
                  <c:v>0.014183</c:v>
                </c:pt>
                <c:pt idx="80">
                  <c:v>0.011003</c:v>
                </c:pt>
                <c:pt idx="81">
                  <c:v>0.006042</c:v>
                </c:pt>
                <c:pt idx="82">
                  <c:v>0.012171</c:v>
                </c:pt>
                <c:pt idx="83">
                  <c:v>0.026423</c:v>
                </c:pt>
                <c:pt idx="84">
                  <c:v>0.035238</c:v>
                </c:pt>
                <c:pt idx="85">
                  <c:v>0.027104</c:v>
                </c:pt>
                <c:pt idx="86">
                  <c:v>0.012722</c:v>
                </c:pt>
                <c:pt idx="87">
                  <c:v>0.006409</c:v>
                </c:pt>
                <c:pt idx="88">
                  <c:v>0.012322</c:v>
                </c:pt>
                <c:pt idx="89">
                  <c:v>0.017916</c:v>
                </c:pt>
                <c:pt idx="90">
                  <c:v>0.014393</c:v>
                </c:pt>
                <c:pt idx="91">
                  <c:v>0.008736</c:v>
                </c:pt>
                <c:pt idx="92">
                  <c:v>0.004923</c:v>
                </c:pt>
                <c:pt idx="93">
                  <c:v>0.004794</c:v>
                </c:pt>
                <c:pt idx="94">
                  <c:v>0.003783</c:v>
                </c:pt>
                <c:pt idx="95">
                  <c:v>0.003908</c:v>
                </c:pt>
                <c:pt idx="96">
                  <c:v>0.004965</c:v>
                </c:pt>
                <c:pt idx="97">
                  <c:v>0.005591</c:v>
                </c:pt>
                <c:pt idx="98">
                  <c:v>0.004374</c:v>
                </c:pt>
                <c:pt idx="99">
                  <c:v>0.003709</c:v>
                </c:pt>
                <c:pt idx="100">
                  <c:v>0.004032</c:v>
                </c:pt>
                <c:pt idx="101">
                  <c:v>0.00442</c:v>
                </c:pt>
                <c:pt idx="102">
                  <c:v>0.003564</c:v>
                </c:pt>
              </c:numCache>
            </c:numRef>
          </c:yVal>
        </c:ser>
        <c:ser>
          <c:idx val="1"/>
          <c:order val="1"/>
          <c:tx>
            <c:v>base raw</c:v>
          </c:tx>
          <c:spPr>
            <a:ln xmlns:a="http://schemas.openxmlformats.org/drawingml/2006/main" w="23813">
              <a:solidFill>
                <a:srgbClr val="89B5DA"/>
              </a:solidFill>
            </a:ln>
          </c:spPr>
          <c:marker>
            <c:symbol val="none"/>
          </c:marker>
          <c:xVal>
            <c:numRef>
              <c:f>'Chart Data'!$C$2:$C$118</c:f>
              <c:numCache>
                <c:formatCode>General</c:formatCode>
                <c:ptCount val="11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372</c:v>
                </c:pt>
                <c:pt idx="43">
                  <c:v>373</c:v>
                </c:pt>
                <c:pt idx="44">
                  <c:v>374</c:v>
                </c:pt>
                <c:pt idx="45">
                  <c:v>375</c:v>
                </c:pt>
                <c:pt idx="46">
                  <c:v>376</c:v>
                </c:pt>
                <c:pt idx="47">
                  <c:v>377</c:v>
                </c:pt>
                <c:pt idx="48">
                  <c:v>378</c:v>
                </c:pt>
                <c:pt idx="49">
                  <c:v>379</c:v>
                </c:pt>
                <c:pt idx="50">
                  <c:v>380</c:v>
                </c:pt>
                <c:pt idx="51">
                  <c:v>381</c:v>
                </c:pt>
                <c:pt idx="52">
                  <c:v>382</c:v>
                </c:pt>
                <c:pt idx="53">
                  <c:v>383</c:v>
                </c:pt>
                <c:pt idx="54">
                  <c:v>384</c:v>
                </c:pt>
                <c:pt idx="55">
                  <c:v>385</c:v>
                </c:pt>
                <c:pt idx="56">
                  <c:v>386</c:v>
                </c:pt>
                <c:pt idx="57">
                  <c:v>387</c:v>
                </c:pt>
                <c:pt idx="58">
                  <c:v>388</c:v>
                </c:pt>
                <c:pt idx="59">
                  <c:v>389</c:v>
                </c:pt>
                <c:pt idx="60">
                  <c:v>390</c:v>
                </c:pt>
                <c:pt idx="61">
                  <c:v>391</c:v>
                </c:pt>
                <c:pt idx="62">
                  <c:v>392</c:v>
                </c:pt>
                <c:pt idx="63">
                  <c:v>393</c:v>
                </c:pt>
                <c:pt idx="64">
                  <c:v>394</c:v>
                </c:pt>
                <c:pt idx="65">
                  <c:v>395</c:v>
                </c:pt>
                <c:pt idx="66">
                  <c:v>396</c:v>
                </c:pt>
                <c:pt idx="67">
                  <c:v>397</c:v>
                </c:pt>
                <c:pt idx="68">
                  <c:v>398</c:v>
                </c:pt>
                <c:pt idx="69">
                  <c:v>399</c:v>
                </c:pt>
                <c:pt idx="70">
                  <c:v>400</c:v>
                </c:pt>
                <c:pt idx="71">
                  <c:v>401</c:v>
                </c:pt>
                <c:pt idx="72">
                  <c:v>402</c:v>
                </c:pt>
                <c:pt idx="73">
                  <c:v>403</c:v>
                </c:pt>
                <c:pt idx="74">
                  <c:v>404</c:v>
                </c:pt>
                <c:pt idx="75">
                  <c:v>405</c:v>
                </c:pt>
                <c:pt idx="76">
                  <c:v>406</c:v>
                </c:pt>
                <c:pt idx="77">
                  <c:v>407</c:v>
                </c:pt>
                <c:pt idx="78">
                  <c:v>408</c:v>
                </c:pt>
                <c:pt idx="79">
                  <c:v>409</c:v>
                </c:pt>
                <c:pt idx="80">
                  <c:v>410</c:v>
                </c:pt>
                <c:pt idx="81">
                  <c:v>411</c:v>
                </c:pt>
                <c:pt idx="82">
                  <c:v>412</c:v>
                </c:pt>
                <c:pt idx="83">
                  <c:v>413</c:v>
                </c:pt>
                <c:pt idx="84">
                  <c:v>414</c:v>
                </c:pt>
                <c:pt idx="85">
                  <c:v>415</c:v>
                </c:pt>
                <c:pt idx="86">
                  <c:v>416</c:v>
                </c:pt>
                <c:pt idx="87">
                  <c:v>417</c:v>
                </c:pt>
                <c:pt idx="88">
                  <c:v>418</c:v>
                </c:pt>
                <c:pt idx="89">
                  <c:v>419</c:v>
                </c:pt>
                <c:pt idx="90">
                  <c:v>420</c:v>
                </c:pt>
                <c:pt idx="91">
                  <c:v>421</c:v>
                </c:pt>
                <c:pt idx="92">
                  <c:v>422</c:v>
                </c:pt>
                <c:pt idx="93">
                  <c:v>423</c:v>
                </c:pt>
                <c:pt idx="94">
                  <c:v>424</c:v>
                </c:pt>
                <c:pt idx="95">
                  <c:v>425</c:v>
                </c:pt>
                <c:pt idx="96">
                  <c:v>426</c:v>
                </c:pt>
                <c:pt idx="97">
                  <c:v>427</c:v>
                </c:pt>
                <c:pt idx="98">
                  <c:v>428</c:v>
                </c:pt>
                <c:pt idx="99">
                  <c:v>429</c:v>
                </c:pt>
                <c:pt idx="100">
                  <c:v>430</c:v>
                </c:pt>
                <c:pt idx="101">
                  <c:v>431</c:v>
                </c:pt>
                <c:pt idx="102">
                  <c:v>432</c:v>
                </c:pt>
                <c:pt idx="103">
                  <c:v>433</c:v>
                </c:pt>
                <c:pt idx="104">
                  <c:v>434</c:v>
                </c:pt>
                <c:pt idx="105">
                  <c:v>435</c:v>
                </c:pt>
                <c:pt idx="106">
                  <c:v>436</c:v>
                </c:pt>
                <c:pt idx="107">
                  <c:v>437</c:v>
                </c:pt>
                <c:pt idx="108">
                  <c:v>438</c:v>
                </c:pt>
                <c:pt idx="109">
                  <c:v>439</c:v>
                </c:pt>
                <c:pt idx="110">
                  <c:v>440</c:v>
                </c:pt>
                <c:pt idx="111">
                  <c:v>441</c:v>
                </c:pt>
                <c:pt idx="112">
                  <c:v>442</c:v>
                </c:pt>
                <c:pt idx="113">
                  <c:v>443</c:v>
                </c:pt>
                <c:pt idx="114">
                  <c:v>444</c:v>
                </c:pt>
                <c:pt idx="115">
                  <c:v>445</c:v>
                </c:pt>
                <c:pt idx="116">
                  <c:v>446</c:v>
                </c:pt>
              </c:numCache>
            </c:numRef>
          </c:xVal>
          <c:yVal>
            <c:numRef>
              <c:f>'Chart Data'!$D$2:$D$118</c:f>
              <c:numCache>
                <c:formatCode>0.0</c:formatCode>
                <c:ptCount val="117"/>
                <c:pt idx="0">
                  <c:v>0.0015</c:v>
                </c:pt>
                <c:pt idx="1">
                  <c:v>0.0035</c:v>
                </c:pt>
                <c:pt idx="2">
                  <c:v>0.0045</c:v>
                </c:pt>
                <c:pt idx="3">
                  <c:v>0.0055</c:v>
                </c:pt>
                <c:pt idx="4">
                  <c:v>0.006</c:v>
                </c:pt>
                <c:pt idx="5">
                  <c:v>0.007</c:v>
                </c:pt>
                <c:pt idx="6">
                  <c:v>0.006</c:v>
                </c:pt>
                <c:pt idx="7">
                  <c:v>0.004</c:v>
                </c:pt>
                <c:pt idx="8">
                  <c:v>0.003</c:v>
                </c:pt>
                <c:pt idx="9">
                  <c:v>0</c:v>
                </c:pt>
                <c:pt idx="10">
                  <c:v>0.0015</c:v>
                </c:pt>
                <c:pt idx="11">
                  <c:v>0.0025</c:v>
                </c:pt>
                <c:pt idx="12">
                  <c:v>0.0045</c:v>
                </c:pt>
                <c:pt idx="13">
                  <c:v>0.0065</c:v>
                </c:pt>
                <c:pt idx="14">
                  <c:v>0.0085</c:v>
                </c:pt>
                <c:pt idx="15">
                  <c:v>0.01</c:v>
                </c:pt>
                <c:pt idx="16">
                  <c:v>0.01</c:v>
                </c:pt>
                <c:pt idx="17">
                  <c:v>0.008</c:v>
                </c:pt>
                <c:pt idx="18">
                  <c:v>0.007</c:v>
                </c:pt>
                <c:pt idx="19">
                  <c:v>0.005</c:v>
                </c:pt>
                <c:pt idx="20">
                  <c:v>0.0045</c:v>
                </c:pt>
                <c:pt idx="21">
                  <c:v>0.0085</c:v>
                </c:pt>
                <c:pt idx="22">
                  <c:v>0.0215</c:v>
                </c:pt>
                <c:pt idx="23">
                  <c:v>0.0505</c:v>
                </c:pt>
                <c:pt idx="24">
                  <c:v>0.0645</c:v>
                </c:pt>
                <c:pt idx="25">
                  <c:v>0.069</c:v>
                </c:pt>
                <c:pt idx="26">
                  <c:v>0.066</c:v>
                </c:pt>
                <c:pt idx="27">
                  <c:v>0.053</c:v>
                </c:pt>
                <c:pt idx="28">
                  <c:v>0.031</c:v>
                </c:pt>
                <c:pt idx="29">
                  <c:v>0.0215</c:v>
                </c:pt>
                <c:pt idx="30">
                  <c:v>0.0245</c:v>
                </c:pt>
                <c:pt idx="31">
                  <c:v>0.0325</c:v>
                </c:pt>
                <c:pt idx="32">
                  <c:v>0.0305</c:v>
                </c:pt>
                <c:pt idx="33">
                  <c:v>0.0265</c:v>
                </c:pt>
                <c:pt idx="34">
                  <c:v>0.019</c:v>
                </c:pt>
                <c:pt idx="35">
                  <c:v>0.0015</c:v>
                </c:pt>
                <c:pt idx="36">
                  <c:v>0.01</c:v>
                </c:pt>
                <c:pt idx="37">
                  <c:v>0.0115</c:v>
                </c:pt>
                <c:pt idx="38">
                  <c:v>0.0115</c:v>
                </c:pt>
                <c:pt idx="39">
                  <c:v>0.0115</c:v>
                </c:pt>
                <c:pt idx="40">
                  <c:v>0.0015</c:v>
                </c:pt>
                <c:pt idx="41">
                  <c:v>0</c:v>
                </c:pt>
                <c:pt idx="42">
                  <c:v>0</c:v>
                </c:pt>
                <c:pt idx="43">
                  <c:v>0</c:v>
                </c:pt>
                <c:pt idx="44">
                  <c:v>0</c:v>
                </c:pt>
                <c:pt idx="45">
                  <c:v>0</c:v>
                </c:pt>
                <c:pt idx="46">
                  <c:v>0</c:v>
                </c:pt>
                <c:pt idx="47">
                  <c:v>0</c:v>
                </c:pt>
                <c:pt idx="48">
                  <c:v>0</c:v>
                </c:pt>
                <c:pt idx="49">
                  <c:v>0</c:v>
                </c:pt>
                <c:pt idx="50">
                  <c:v>0</c:v>
                </c:pt>
                <c:pt idx="51">
                  <c:v>0.0035</c:v>
                </c:pt>
                <c:pt idx="52">
                  <c:v>0.007</c:v>
                </c:pt>
                <c:pt idx="53">
                  <c:v>0.009</c:v>
                </c:pt>
                <c:pt idx="54">
                  <c:v>0.0095</c:v>
                </c:pt>
                <c:pt idx="55">
                  <c:v>0.0065</c:v>
                </c:pt>
                <c:pt idx="56">
                  <c:v>0.003</c:v>
                </c:pt>
                <c:pt idx="57">
                  <c:v>0.002</c:v>
                </c:pt>
                <c:pt idx="58">
                  <c:v>0.0015</c:v>
                </c:pt>
                <c:pt idx="59">
                  <c:v>0</c:v>
                </c:pt>
                <c:pt idx="60">
                  <c:v>0.021</c:v>
                </c:pt>
                <c:pt idx="61">
                  <c:v>0.022</c:v>
                </c:pt>
                <c:pt idx="62">
                  <c:v>0.027</c:v>
                </c:pt>
                <c:pt idx="63">
                  <c:v>0.0355</c:v>
                </c:pt>
                <c:pt idx="64">
                  <c:v>0.0515</c:v>
                </c:pt>
                <c:pt idx="65">
                  <c:v>0.109</c:v>
                </c:pt>
                <c:pt idx="66">
                  <c:v>0.217</c:v>
                </c:pt>
                <c:pt idx="67">
                  <c:v>0.276</c:v>
                </c:pt>
                <c:pt idx="68">
                  <c:v>0.415</c:v>
                </c:pt>
                <c:pt idx="69">
                  <c:v>0.46</c:v>
                </c:pt>
                <c:pt idx="70">
                  <c:v>0.4685</c:v>
                </c:pt>
                <c:pt idx="71">
                  <c:v>0.4605</c:v>
                </c:pt>
                <c:pt idx="72">
                  <c:v>0.4285</c:v>
                </c:pt>
                <c:pt idx="73">
                  <c:v>0.3035</c:v>
                </c:pt>
                <c:pt idx="74">
                  <c:v>0.193</c:v>
                </c:pt>
                <c:pt idx="75">
                  <c:v>0.1075</c:v>
                </c:pt>
                <c:pt idx="76">
                  <c:v>0.035</c:v>
                </c:pt>
                <c:pt idx="77">
                  <c:v>0.0195</c:v>
                </c:pt>
                <c:pt idx="78">
                  <c:v>0.034</c:v>
                </c:pt>
                <c:pt idx="79">
                  <c:v>0.052</c:v>
                </c:pt>
                <c:pt idx="80">
                  <c:v>0.061</c:v>
                </c:pt>
                <c:pt idx="81">
                  <c:v>0.061</c:v>
                </c:pt>
                <c:pt idx="82">
                  <c:v>0.0645</c:v>
                </c:pt>
                <c:pt idx="83">
                  <c:v>0.0535</c:v>
                </c:pt>
                <c:pt idx="84">
                  <c:v>0.0405</c:v>
                </c:pt>
                <c:pt idx="85">
                  <c:v>0.042</c:v>
                </c:pt>
                <c:pt idx="86">
                  <c:v>0.021</c:v>
                </c:pt>
                <c:pt idx="87">
                  <c:v>0.0155</c:v>
                </c:pt>
                <c:pt idx="88">
                  <c:v>0.01</c:v>
                </c:pt>
                <c:pt idx="89">
                  <c:v>0.002</c:v>
                </c:pt>
                <c:pt idx="90">
                  <c:v>0.002</c:v>
                </c:pt>
                <c:pt idx="91">
                  <c:v>0.002</c:v>
                </c:pt>
                <c:pt idx="92">
                  <c:v>0.0015</c:v>
                </c:pt>
                <c:pt idx="93">
                  <c:v>0.0005</c:v>
                </c:pt>
                <c:pt idx="94">
                  <c:v>0.001</c:v>
                </c:pt>
                <c:pt idx="95">
                  <c:v>0.0185</c:v>
                </c:pt>
                <c:pt idx="96">
                  <c:v>0.024</c:v>
                </c:pt>
                <c:pt idx="97">
                  <c:v>0.031</c:v>
                </c:pt>
                <c:pt idx="98">
                  <c:v>0.0375</c:v>
                </c:pt>
                <c:pt idx="99">
                  <c:v>0.033</c:v>
                </c:pt>
                <c:pt idx="100">
                  <c:v>0.0265</c:v>
                </c:pt>
                <c:pt idx="101">
                  <c:v>0.0195</c:v>
                </c:pt>
                <c:pt idx="102">
                  <c:v>0.0205</c:v>
                </c:pt>
                <c:pt idx="103">
                  <c:v>0.031</c:v>
                </c:pt>
                <c:pt idx="104">
                  <c:v>0.0305</c:v>
                </c:pt>
                <c:pt idx="105">
                  <c:v>0.031</c:v>
                </c:pt>
                <c:pt idx="106">
                  <c:v>0.0445</c:v>
                </c:pt>
                <c:pt idx="107">
                  <c:v>0.026</c:v>
                </c:pt>
                <c:pt idx="108">
                  <c:v>0.025</c:v>
                </c:pt>
                <c:pt idx="109">
                  <c:v>0.0285</c:v>
                </c:pt>
                <c:pt idx="110">
                  <c:v>0.026</c:v>
                </c:pt>
                <c:pt idx="111">
                  <c:v>0.0175</c:v>
                </c:pt>
                <c:pt idx="112">
                  <c:v>0.012</c:v>
                </c:pt>
                <c:pt idx="113">
                  <c:v>0.0105</c:v>
                </c:pt>
                <c:pt idx="114">
                  <c:v>0.0065</c:v>
                </c:pt>
                <c:pt idx="115">
                  <c:v>0.004</c:v>
                </c:pt>
                <c:pt idx="116">
                  <c:v>0</c:v>
                </c:pt>
              </c:numCache>
            </c:numRef>
          </c:yVal>
        </c:ser>
        <c:ser>
          <c:idx val="2"/>
          <c:order val="2"/>
          <c:tx>
            <c:v>base selected</c:v>
          </c:tx>
          <c:spPr>
            <a:ln xmlns:a="http://schemas.openxmlformats.org/drawingml/2006/main" w="23813">
              <a:solidFill>
                <a:srgbClr val="2876B8"/>
              </a:solidFill>
            </a:ln>
          </c:spPr>
          <c:marker>
            <c:symbol val="none"/>
          </c:marker>
          <c:xVal>
            <c:numRef>
              <c:f>'Chart Data'!$E$2:$E$118</c:f>
              <c:numCache>
                <c:formatCode>General</c:formatCode>
                <c:ptCount val="11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372</c:v>
                </c:pt>
                <c:pt idx="43">
                  <c:v>373</c:v>
                </c:pt>
                <c:pt idx="44">
                  <c:v>374</c:v>
                </c:pt>
                <c:pt idx="45">
                  <c:v>375</c:v>
                </c:pt>
                <c:pt idx="46">
                  <c:v>376</c:v>
                </c:pt>
                <c:pt idx="47">
                  <c:v>377</c:v>
                </c:pt>
                <c:pt idx="48">
                  <c:v>378</c:v>
                </c:pt>
                <c:pt idx="49">
                  <c:v>379</c:v>
                </c:pt>
                <c:pt idx="50">
                  <c:v>380</c:v>
                </c:pt>
                <c:pt idx="51">
                  <c:v>381</c:v>
                </c:pt>
                <c:pt idx="52">
                  <c:v>382</c:v>
                </c:pt>
                <c:pt idx="53">
                  <c:v>383</c:v>
                </c:pt>
                <c:pt idx="54">
                  <c:v>384</c:v>
                </c:pt>
                <c:pt idx="55">
                  <c:v>385</c:v>
                </c:pt>
                <c:pt idx="56">
                  <c:v>386</c:v>
                </c:pt>
                <c:pt idx="57">
                  <c:v>387</c:v>
                </c:pt>
                <c:pt idx="58">
                  <c:v>388</c:v>
                </c:pt>
                <c:pt idx="59">
                  <c:v>389</c:v>
                </c:pt>
                <c:pt idx="60">
                  <c:v>390</c:v>
                </c:pt>
                <c:pt idx="61">
                  <c:v>391</c:v>
                </c:pt>
                <c:pt idx="62">
                  <c:v>392</c:v>
                </c:pt>
                <c:pt idx="63">
                  <c:v>393</c:v>
                </c:pt>
                <c:pt idx="64">
                  <c:v>394</c:v>
                </c:pt>
                <c:pt idx="65">
                  <c:v>395</c:v>
                </c:pt>
                <c:pt idx="66">
                  <c:v>396</c:v>
                </c:pt>
                <c:pt idx="67">
                  <c:v>397</c:v>
                </c:pt>
                <c:pt idx="68">
                  <c:v>398</c:v>
                </c:pt>
                <c:pt idx="69">
                  <c:v>399</c:v>
                </c:pt>
                <c:pt idx="70">
                  <c:v>400</c:v>
                </c:pt>
                <c:pt idx="71">
                  <c:v>401</c:v>
                </c:pt>
                <c:pt idx="72">
                  <c:v>402</c:v>
                </c:pt>
                <c:pt idx="73">
                  <c:v>403</c:v>
                </c:pt>
                <c:pt idx="74">
                  <c:v>404</c:v>
                </c:pt>
                <c:pt idx="75">
                  <c:v>405</c:v>
                </c:pt>
                <c:pt idx="76">
                  <c:v>406</c:v>
                </c:pt>
                <c:pt idx="77">
                  <c:v>407</c:v>
                </c:pt>
                <c:pt idx="78">
                  <c:v>408</c:v>
                </c:pt>
                <c:pt idx="79">
                  <c:v>409</c:v>
                </c:pt>
                <c:pt idx="80">
                  <c:v>410</c:v>
                </c:pt>
                <c:pt idx="81">
                  <c:v>411</c:v>
                </c:pt>
                <c:pt idx="82">
                  <c:v>412</c:v>
                </c:pt>
                <c:pt idx="83">
                  <c:v>413</c:v>
                </c:pt>
                <c:pt idx="84">
                  <c:v>414</c:v>
                </c:pt>
                <c:pt idx="85">
                  <c:v>415</c:v>
                </c:pt>
                <c:pt idx="86">
                  <c:v>416</c:v>
                </c:pt>
                <c:pt idx="87">
                  <c:v>417</c:v>
                </c:pt>
                <c:pt idx="88">
                  <c:v>418</c:v>
                </c:pt>
                <c:pt idx="89">
                  <c:v>419</c:v>
                </c:pt>
                <c:pt idx="90">
                  <c:v>420</c:v>
                </c:pt>
                <c:pt idx="91">
                  <c:v>421</c:v>
                </c:pt>
                <c:pt idx="92">
                  <c:v>422</c:v>
                </c:pt>
                <c:pt idx="93">
                  <c:v>423</c:v>
                </c:pt>
                <c:pt idx="94">
                  <c:v>424</c:v>
                </c:pt>
                <c:pt idx="95">
                  <c:v>425</c:v>
                </c:pt>
                <c:pt idx="96">
                  <c:v>426</c:v>
                </c:pt>
                <c:pt idx="97">
                  <c:v>427</c:v>
                </c:pt>
                <c:pt idx="98">
                  <c:v>428</c:v>
                </c:pt>
                <c:pt idx="99">
                  <c:v>429</c:v>
                </c:pt>
                <c:pt idx="100">
                  <c:v>430</c:v>
                </c:pt>
                <c:pt idx="101">
                  <c:v>431</c:v>
                </c:pt>
                <c:pt idx="102">
                  <c:v>432</c:v>
                </c:pt>
                <c:pt idx="103">
                  <c:v>433</c:v>
                </c:pt>
                <c:pt idx="104">
                  <c:v>434</c:v>
                </c:pt>
                <c:pt idx="105">
                  <c:v>435</c:v>
                </c:pt>
                <c:pt idx="106">
                  <c:v>436</c:v>
                </c:pt>
                <c:pt idx="107">
                  <c:v>437</c:v>
                </c:pt>
                <c:pt idx="108">
                  <c:v>438</c:v>
                </c:pt>
                <c:pt idx="109">
                  <c:v>439</c:v>
                </c:pt>
                <c:pt idx="110">
                  <c:v>440</c:v>
                </c:pt>
                <c:pt idx="111">
                  <c:v>441</c:v>
                </c:pt>
                <c:pt idx="112">
                  <c:v>442</c:v>
                </c:pt>
                <c:pt idx="113">
                  <c:v>443</c:v>
                </c:pt>
                <c:pt idx="114">
                  <c:v>444</c:v>
                </c:pt>
                <c:pt idx="115">
                  <c:v>445</c:v>
                </c:pt>
                <c:pt idx="116">
                  <c:v>446</c:v>
                </c:pt>
              </c:numCache>
            </c:numRef>
          </c:xVal>
          <c:yVal>
            <c:numRef>
              <c:f>'Chart Data'!$F$2:$F$118</c:f>
              <c:numCache>
                <c:formatCode>0.0</c:formatCode>
                <c:ptCount val="117"/>
                <c:pt idx="0">
                  <c:v>0.002667</c:v>
                </c:pt>
                <c:pt idx="1">
                  <c:v>0.005333</c:v>
                </c:pt>
                <c:pt idx="2">
                  <c:v>0.006667</c:v>
                </c:pt>
                <c:pt idx="3">
                  <c:v>0.004667</c:v>
                </c:pt>
                <c:pt idx="4">
                  <c:v>0.004667</c:v>
                </c:pt>
                <c:pt idx="5">
                  <c:v>0.004667</c:v>
                </c:pt>
                <c:pt idx="6">
                  <c:v>0.004</c:v>
                </c:pt>
                <c:pt idx="7">
                  <c:v>0.003333</c:v>
                </c:pt>
                <c:pt idx="8">
                  <c:v>0.002667</c:v>
                </c:pt>
                <c:pt idx="9">
                  <c:v>0</c:v>
                </c:pt>
                <c:pt idx="10">
                  <c:v>0.005333</c:v>
                </c:pt>
                <c:pt idx="11">
                  <c:v>0.007333</c:v>
                </c:pt>
                <c:pt idx="12">
                  <c:v>0.009333</c:v>
                </c:pt>
                <c:pt idx="13">
                  <c:v>0.012</c:v>
                </c:pt>
                <c:pt idx="14">
                  <c:v>0.016667</c:v>
                </c:pt>
                <c:pt idx="15">
                  <c:v>0.016667</c:v>
                </c:pt>
                <c:pt idx="16">
                  <c:v>0.016667</c:v>
                </c:pt>
                <c:pt idx="17">
                  <c:v>0.014667</c:v>
                </c:pt>
                <c:pt idx="18">
                  <c:v>0.012667</c:v>
                </c:pt>
                <c:pt idx="19">
                  <c:v>0.007333</c:v>
                </c:pt>
                <c:pt idx="20">
                  <c:v>0.008667</c:v>
                </c:pt>
                <c:pt idx="21">
                  <c:v>0.015333</c:v>
                </c:pt>
                <c:pt idx="22">
                  <c:v>0.037333</c:v>
                </c:pt>
                <c:pt idx="23">
                  <c:v>0.085333</c:v>
                </c:pt>
                <c:pt idx="24">
                  <c:v>0.107333</c:v>
                </c:pt>
                <c:pt idx="25">
                  <c:v>0.111333</c:v>
                </c:pt>
                <c:pt idx="26">
                  <c:v>0.106</c:v>
                </c:pt>
                <c:pt idx="27">
                  <c:v>0.079333</c:v>
                </c:pt>
                <c:pt idx="28">
                  <c:v>0.038667</c:v>
                </c:pt>
                <c:pt idx="29">
                  <c:v>0.022667</c:v>
                </c:pt>
                <c:pt idx="30">
                  <c:v>0.023333</c:v>
                </c:pt>
                <c:pt idx="31">
                  <c:v>0.024667</c:v>
                </c:pt>
                <c:pt idx="32">
                  <c:v>0.022667</c:v>
                </c:pt>
                <c:pt idx="33">
                  <c:v>0.018</c:v>
                </c:pt>
                <c:pt idx="34">
                  <c:v>0.012</c:v>
                </c:pt>
                <c:pt idx="35">
                  <c:v>0.001333</c:v>
                </c:pt>
                <c:pt idx="36">
                  <c:v>0.010667</c:v>
                </c:pt>
                <c:pt idx="37">
                  <c:v>0.014667</c:v>
                </c:pt>
                <c:pt idx="38">
                  <c:v>0.014667</c:v>
                </c:pt>
                <c:pt idx="39">
                  <c:v>0.014667</c:v>
                </c:pt>
                <c:pt idx="40">
                  <c:v>0.004</c:v>
                </c:pt>
                <c:pt idx="41">
                  <c:v>0</c:v>
                </c:pt>
                <c:pt idx="42">
                  <c:v>0</c:v>
                </c:pt>
                <c:pt idx="43">
                  <c:v>0</c:v>
                </c:pt>
                <c:pt idx="44">
                  <c:v>0</c:v>
                </c:pt>
                <c:pt idx="45">
                  <c:v>0</c:v>
                </c:pt>
                <c:pt idx="46">
                  <c:v>0</c:v>
                </c:pt>
                <c:pt idx="47">
                  <c:v>0</c:v>
                </c:pt>
                <c:pt idx="48">
                  <c:v>0</c:v>
                </c:pt>
                <c:pt idx="49">
                  <c:v>0</c:v>
                </c:pt>
                <c:pt idx="50">
                  <c:v>0</c:v>
                </c:pt>
                <c:pt idx="51">
                  <c:v>0.004667</c:v>
                </c:pt>
                <c:pt idx="52">
                  <c:v>0.008667</c:v>
                </c:pt>
                <c:pt idx="53">
                  <c:v>0.011333</c:v>
                </c:pt>
                <c:pt idx="54">
                  <c:v>0.011333</c:v>
                </c:pt>
                <c:pt idx="55">
                  <c:v>0.008667</c:v>
                </c:pt>
                <c:pt idx="56">
                  <c:v>0.004667</c:v>
                </c:pt>
                <c:pt idx="57">
                  <c:v>0.004</c:v>
                </c:pt>
                <c:pt idx="58">
                  <c:v>0.004</c:v>
                </c:pt>
                <c:pt idx="59">
                  <c:v>0</c:v>
                </c:pt>
                <c:pt idx="60">
                  <c:v>0.036</c:v>
                </c:pt>
                <c:pt idx="61">
                  <c:v>0.038667</c:v>
                </c:pt>
                <c:pt idx="62">
                  <c:v>0.047333</c:v>
                </c:pt>
                <c:pt idx="63">
                  <c:v>0.062</c:v>
                </c:pt>
                <c:pt idx="64">
                  <c:v>0.1</c:v>
                </c:pt>
                <c:pt idx="65">
                  <c:v>0.204</c:v>
                </c:pt>
                <c:pt idx="66">
                  <c:v>0.373333</c:v>
                </c:pt>
                <c:pt idx="67">
                  <c:v>0.436</c:v>
                </c:pt>
                <c:pt idx="68">
                  <c:v>0.567333</c:v>
                </c:pt>
                <c:pt idx="69">
                  <c:v>0.596667</c:v>
                </c:pt>
                <c:pt idx="70">
                  <c:v>0.594667</c:v>
                </c:pt>
                <c:pt idx="71">
                  <c:v>0.549333</c:v>
                </c:pt>
                <c:pt idx="72">
                  <c:v>0.488</c:v>
                </c:pt>
                <c:pt idx="73">
                  <c:v>0.332667</c:v>
                </c:pt>
                <c:pt idx="74">
                  <c:v>0.194</c:v>
                </c:pt>
                <c:pt idx="75">
                  <c:v>0.106</c:v>
                </c:pt>
                <c:pt idx="76">
                  <c:v>0.043333</c:v>
                </c:pt>
                <c:pt idx="77">
                  <c:v>0.03</c:v>
                </c:pt>
                <c:pt idx="78">
                  <c:v>0.059333</c:v>
                </c:pt>
                <c:pt idx="79">
                  <c:v>0.090667</c:v>
                </c:pt>
                <c:pt idx="80">
                  <c:v>0.103333</c:v>
                </c:pt>
                <c:pt idx="81">
                  <c:v>0.101333</c:v>
                </c:pt>
                <c:pt idx="82">
                  <c:v>0.094667</c:v>
                </c:pt>
                <c:pt idx="83">
                  <c:v>0.081333</c:v>
                </c:pt>
                <c:pt idx="84">
                  <c:v>0.056667</c:v>
                </c:pt>
                <c:pt idx="85">
                  <c:v>0.054</c:v>
                </c:pt>
                <c:pt idx="86">
                  <c:v>0.028667</c:v>
                </c:pt>
                <c:pt idx="87">
                  <c:v>0.02</c:v>
                </c:pt>
                <c:pt idx="88">
                  <c:v>0.01</c:v>
                </c:pt>
                <c:pt idx="89">
                  <c:v>0.001333</c:v>
                </c:pt>
                <c:pt idx="90">
                  <c:v>0.001333</c:v>
                </c:pt>
                <c:pt idx="91">
                  <c:v>0.001333</c:v>
                </c:pt>
                <c:pt idx="92">
                  <c:v>0.001333</c:v>
                </c:pt>
                <c:pt idx="93">
                  <c:v>0.001333</c:v>
                </c:pt>
                <c:pt idx="94">
                  <c:v>0.001333</c:v>
                </c:pt>
                <c:pt idx="95">
                  <c:v>0.016667</c:v>
                </c:pt>
                <c:pt idx="96">
                  <c:v>0.024667</c:v>
                </c:pt>
                <c:pt idx="97">
                  <c:v>0.031333</c:v>
                </c:pt>
                <c:pt idx="98">
                  <c:v>0.04</c:v>
                </c:pt>
                <c:pt idx="99">
                  <c:v>0.038</c:v>
                </c:pt>
                <c:pt idx="100">
                  <c:v>0.028667</c:v>
                </c:pt>
                <c:pt idx="101">
                  <c:v>0.022</c:v>
                </c:pt>
                <c:pt idx="102">
                  <c:v>0.023333</c:v>
                </c:pt>
                <c:pt idx="103">
                  <c:v>0.036</c:v>
                </c:pt>
                <c:pt idx="104">
                  <c:v>0.036</c:v>
                </c:pt>
                <c:pt idx="105">
                  <c:v>0.037333</c:v>
                </c:pt>
                <c:pt idx="106">
                  <c:v>0.045333</c:v>
                </c:pt>
                <c:pt idx="107">
                  <c:v>0.024</c:v>
                </c:pt>
                <c:pt idx="108">
                  <c:v>0.024667</c:v>
                </c:pt>
                <c:pt idx="109">
                  <c:v>0.033333</c:v>
                </c:pt>
                <c:pt idx="110">
                  <c:v>0.032667</c:v>
                </c:pt>
                <c:pt idx="111">
                  <c:v>0.022667</c:v>
                </c:pt>
                <c:pt idx="112">
                  <c:v>0.014667</c:v>
                </c:pt>
                <c:pt idx="113">
                  <c:v>0.012</c:v>
                </c:pt>
                <c:pt idx="114">
                  <c:v>0.008667</c:v>
                </c:pt>
                <c:pt idx="115">
                  <c:v>0.005333</c:v>
                </c:pt>
                <c:pt idx="116">
                  <c:v>0</c:v>
                </c:pt>
              </c:numCache>
            </c:numRef>
          </c:yVal>
        </c:ser>
        <c:ser>
          <c:idx val="3"/>
          <c:order val="3"/>
          <c:tx>
            <c:v>expanded raw</c:v>
          </c:tx>
          <c:spPr>
            <a:ln xmlns:a="http://schemas.openxmlformats.org/drawingml/2006/main" w="23813">
              <a:solidFill>
                <a:srgbClr val="E7B78E"/>
              </a:solidFill>
            </a:ln>
          </c:spPr>
          <c:marker>
            <c:symbol val="none"/>
          </c:marker>
          <c:xVal>
            <c:numRef>
              <c:f>'Chart Data'!$G$2:$G$118</c:f>
              <c:numCache>
                <c:formatCode>General</c:formatCode>
                <c:ptCount val="11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372</c:v>
                </c:pt>
                <c:pt idx="43">
                  <c:v>373</c:v>
                </c:pt>
                <c:pt idx="44">
                  <c:v>374</c:v>
                </c:pt>
                <c:pt idx="45">
                  <c:v>375</c:v>
                </c:pt>
                <c:pt idx="46">
                  <c:v>376</c:v>
                </c:pt>
                <c:pt idx="47">
                  <c:v>377</c:v>
                </c:pt>
                <c:pt idx="48">
                  <c:v>378</c:v>
                </c:pt>
                <c:pt idx="49">
                  <c:v>379</c:v>
                </c:pt>
                <c:pt idx="50">
                  <c:v>380</c:v>
                </c:pt>
                <c:pt idx="51">
                  <c:v>381</c:v>
                </c:pt>
                <c:pt idx="52">
                  <c:v>382</c:v>
                </c:pt>
                <c:pt idx="53">
                  <c:v>383</c:v>
                </c:pt>
                <c:pt idx="54">
                  <c:v>384</c:v>
                </c:pt>
                <c:pt idx="55">
                  <c:v>385</c:v>
                </c:pt>
                <c:pt idx="56">
                  <c:v>386</c:v>
                </c:pt>
                <c:pt idx="57">
                  <c:v>387</c:v>
                </c:pt>
                <c:pt idx="58">
                  <c:v>388</c:v>
                </c:pt>
                <c:pt idx="59">
                  <c:v>389</c:v>
                </c:pt>
                <c:pt idx="60">
                  <c:v>390</c:v>
                </c:pt>
                <c:pt idx="61">
                  <c:v>391</c:v>
                </c:pt>
                <c:pt idx="62">
                  <c:v>392</c:v>
                </c:pt>
                <c:pt idx="63">
                  <c:v>393</c:v>
                </c:pt>
                <c:pt idx="64">
                  <c:v>394</c:v>
                </c:pt>
                <c:pt idx="65">
                  <c:v>395</c:v>
                </c:pt>
                <c:pt idx="66">
                  <c:v>396</c:v>
                </c:pt>
                <c:pt idx="67">
                  <c:v>397</c:v>
                </c:pt>
                <c:pt idx="68">
                  <c:v>398</c:v>
                </c:pt>
                <c:pt idx="69">
                  <c:v>399</c:v>
                </c:pt>
                <c:pt idx="70">
                  <c:v>400</c:v>
                </c:pt>
                <c:pt idx="71">
                  <c:v>401</c:v>
                </c:pt>
                <c:pt idx="72">
                  <c:v>402</c:v>
                </c:pt>
                <c:pt idx="73">
                  <c:v>403</c:v>
                </c:pt>
                <c:pt idx="74">
                  <c:v>404</c:v>
                </c:pt>
                <c:pt idx="75">
                  <c:v>405</c:v>
                </c:pt>
                <c:pt idx="76">
                  <c:v>406</c:v>
                </c:pt>
                <c:pt idx="77">
                  <c:v>407</c:v>
                </c:pt>
                <c:pt idx="78">
                  <c:v>408</c:v>
                </c:pt>
                <c:pt idx="79">
                  <c:v>409</c:v>
                </c:pt>
                <c:pt idx="80">
                  <c:v>410</c:v>
                </c:pt>
                <c:pt idx="81">
                  <c:v>411</c:v>
                </c:pt>
                <c:pt idx="82">
                  <c:v>412</c:v>
                </c:pt>
                <c:pt idx="83">
                  <c:v>413</c:v>
                </c:pt>
                <c:pt idx="84">
                  <c:v>414</c:v>
                </c:pt>
                <c:pt idx="85">
                  <c:v>415</c:v>
                </c:pt>
                <c:pt idx="86">
                  <c:v>416</c:v>
                </c:pt>
                <c:pt idx="87">
                  <c:v>417</c:v>
                </c:pt>
                <c:pt idx="88">
                  <c:v>418</c:v>
                </c:pt>
                <c:pt idx="89">
                  <c:v>419</c:v>
                </c:pt>
                <c:pt idx="90">
                  <c:v>420</c:v>
                </c:pt>
                <c:pt idx="91">
                  <c:v>421</c:v>
                </c:pt>
                <c:pt idx="92">
                  <c:v>422</c:v>
                </c:pt>
                <c:pt idx="93">
                  <c:v>423</c:v>
                </c:pt>
                <c:pt idx="94">
                  <c:v>424</c:v>
                </c:pt>
                <c:pt idx="95">
                  <c:v>425</c:v>
                </c:pt>
                <c:pt idx="96">
                  <c:v>426</c:v>
                </c:pt>
                <c:pt idx="97">
                  <c:v>427</c:v>
                </c:pt>
                <c:pt idx="98">
                  <c:v>428</c:v>
                </c:pt>
                <c:pt idx="99">
                  <c:v>429</c:v>
                </c:pt>
                <c:pt idx="100">
                  <c:v>430</c:v>
                </c:pt>
                <c:pt idx="101">
                  <c:v>431</c:v>
                </c:pt>
                <c:pt idx="102">
                  <c:v>432</c:v>
                </c:pt>
                <c:pt idx="103">
                  <c:v>433</c:v>
                </c:pt>
                <c:pt idx="104">
                  <c:v>434</c:v>
                </c:pt>
                <c:pt idx="105">
                  <c:v>435</c:v>
                </c:pt>
                <c:pt idx="106">
                  <c:v>436</c:v>
                </c:pt>
                <c:pt idx="107">
                  <c:v>437</c:v>
                </c:pt>
                <c:pt idx="108">
                  <c:v>438</c:v>
                </c:pt>
                <c:pt idx="109">
                  <c:v>439</c:v>
                </c:pt>
                <c:pt idx="110">
                  <c:v>440</c:v>
                </c:pt>
                <c:pt idx="111">
                  <c:v>441</c:v>
                </c:pt>
                <c:pt idx="112">
                  <c:v>442</c:v>
                </c:pt>
                <c:pt idx="113">
                  <c:v>443</c:v>
                </c:pt>
                <c:pt idx="114">
                  <c:v>444</c:v>
                </c:pt>
                <c:pt idx="115">
                  <c:v>445</c:v>
                </c:pt>
                <c:pt idx="116">
                  <c:v>446</c:v>
                </c:pt>
              </c:numCache>
            </c:numRef>
          </c:xVal>
          <c:yVal>
            <c:numRef>
              <c:f>'Chart Data'!$H$2:$H$118</c:f>
              <c:numCache>
                <c:formatCode>0.0</c:formatCode>
                <c:ptCount val="117"/>
                <c:pt idx="0">
                  <c:v>0.001422</c:v>
                </c:pt>
                <c:pt idx="1">
                  <c:v>0.003318</c:v>
                </c:pt>
                <c:pt idx="2">
                  <c:v>0.004265</c:v>
                </c:pt>
                <c:pt idx="3">
                  <c:v>0.005213</c:v>
                </c:pt>
                <c:pt idx="4">
                  <c:v>0.006161</c:v>
                </c:pt>
                <c:pt idx="5">
                  <c:v>0.007109</c:v>
                </c:pt>
                <c:pt idx="6">
                  <c:v>0.006161</c:v>
                </c:pt>
                <c:pt idx="7">
                  <c:v>0.004265</c:v>
                </c:pt>
                <c:pt idx="8">
                  <c:v>0.003318</c:v>
                </c:pt>
                <c:pt idx="9">
                  <c:v>0</c:v>
                </c:pt>
                <c:pt idx="10">
                  <c:v>0.001422</c:v>
                </c:pt>
                <c:pt idx="11">
                  <c:v>0.002844</c:v>
                </c:pt>
                <c:pt idx="12">
                  <c:v>0.004739</c:v>
                </c:pt>
                <c:pt idx="13">
                  <c:v>0.006635</c:v>
                </c:pt>
                <c:pt idx="14">
                  <c:v>0.008531</c:v>
                </c:pt>
                <c:pt idx="15">
                  <c:v>0.009953</c:v>
                </c:pt>
                <c:pt idx="16">
                  <c:v>0.009479</c:v>
                </c:pt>
                <c:pt idx="17">
                  <c:v>0.007583</c:v>
                </c:pt>
                <c:pt idx="18">
                  <c:v>0.006635</c:v>
                </c:pt>
                <c:pt idx="19">
                  <c:v>0.004739</c:v>
                </c:pt>
                <c:pt idx="20">
                  <c:v>0.004739</c:v>
                </c:pt>
                <c:pt idx="21">
                  <c:v>0.009005</c:v>
                </c:pt>
                <c:pt idx="22">
                  <c:v>0.022275</c:v>
                </c:pt>
                <c:pt idx="23">
                  <c:v>0.052133</c:v>
                </c:pt>
                <c:pt idx="24">
                  <c:v>0.064929</c:v>
                </c:pt>
                <c:pt idx="25">
                  <c:v>0.069668</c:v>
                </c:pt>
                <c:pt idx="26">
                  <c:v>0.065877</c:v>
                </c:pt>
                <c:pt idx="27">
                  <c:v>0.051659</c:v>
                </c:pt>
                <c:pt idx="28">
                  <c:v>0.030332</c:v>
                </c:pt>
                <c:pt idx="29">
                  <c:v>0.021327</c:v>
                </c:pt>
                <c:pt idx="30">
                  <c:v>0.023223</c:v>
                </c:pt>
                <c:pt idx="31">
                  <c:v>0.031754</c:v>
                </c:pt>
                <c:pt idx="32">
                  <c:v>0.029858</c:v>
                </c:pt>
                <c:pt idx="33">
                  <c:v>0.026066</c:v>
                </c:pt>
                <c:pt idx="34">
                  <c:v>0.018957</c:v>
                </c:pt>
                <c:pt idx="35">
                  <c:v>0.001422</c:v>
                </c:pt>
                <c:pt idx="36">
                  <c:v>0.009953</c:v>
                </c:pt>
                <c:pt idx="37">
                  <c:v>0.011374</c:v>
                </c:pt>
                <c:pt idx="38">
                  <c:v>0.011374</c:v>
                </c:pt>
                <c:pt idx="39">
                  <c:v>0.011374</c:v>
                </c:pt>
                <c:pt idx="40">
                  <c:v>0.001422</c:v>
                </c:pt>
                <c:pt idx="41">
                  <c:v>0</c:v>
                </c:pt>
                <c:pt idx="42">
                  <c:v>0</c:v>
                </c:pt>
                <c:pt idx="43">
                  <c:v>0</c:v>
                </c:pt>
                <c:pt idx="44">
                  <c:v>0</c:v>
                </c:pt>
                <c:pt idx="45">
                  <c:v>0</c:v>
                </c:pt>
                <c:pt idx="46">
                  <c:v>0</c:v>
                </c:pt>
                <c:pt idx="47">
                  <c:v>0</c:v>
                </c:pt>
                <c:pt idx="48">
                  <c:v>0</c:v>
                </c:pt>
                <c:pt idx="49">
                  <c:v>0</c:v>
                </c:pt>
                <c:pt idx="50">
                  <c:v>0</c:v>
                </c:pt>
                <c:pt idx="51">
                  <c:v>0.003791</c:v>
                </c:pt>
                <c:pt idx="52">
                  <c:v>0.007583</c:v>
                </c:pt>
                <c:pt idx="53">
                  <c:v>0.009953</c:v>
                </c:pt>
                <c:pt idx="54">
                  <c:v>0.010427</c:v>
                </c:pt>
                <c:pt idx="55">
                  <c:v>0.007109</c:v>
                </c:pt>
                <c:pt idx="56">
                  <c:v>0.003318</c:v>
                </c:pt>
                <c:pt idx="57">
                  <c:v>0.001896</c:v>
                </c:pt>
                <c:pt idx="58">
                  <c:v>0.001422</c:v>
                </c:pt>
                <c:pt idx="59">
                  <c:v>0.000948</c:v>
                </c:pt>
                <c:pt idx="60">
                  <c:v>0.022749</c:v>
                </c:pt>
                <c:pt idx="61">
                  <c:v>0.02654</c:v>
                </c:pt>
                <c:pt idx="62">
                  <c:v>0.035071</c:v>
                </c:pt>
                <c:pt idx="63">
                  <c:v>0.047867</c:v>
                </c:pt>
                <c:pt idx="64">
                  <c:v>0.068246</c:v>
                </c:pt>
                <c:pt idx="65">
                  <c:v>0.127014</c:v>
                </c:pt>
                <c:pt idx="66">
                  <c:v>0.235071</c:v>
                </c:pt>
                <c:pt idx="67">
                  <c:v>0.296682</c:v>
                </c:pt>
                <c:pt idx="68">
                  <c:v>0.430806</c:v>
                </c:pt>
                <c:pt idx="69">
                  <c:v>0.475355</c:v>
                </c:pt>
                <c:pt idx="70">
                  <c:v>0.483412</c:v>
                </c:pt>
                <c:pt idx="71">
                  <c:v>0.471564</c:v>
                </c:pt>
                <c:pt idx="72">
                  <c:v>0.437915</c:v>
                </c:pt>
                <c:pt idx="73">
                  <c:v>0.31327</c:v>
                </c:pt>
                <c:pt idx="74">
                  <c:v>0.203318</c:v>
                </c:pt>
                <c:pt idx="75">
                  <c:v>0.118483</c:v>
                </c:pt>
                <c:pt idx="76">
                  <c:v>0.045972</c:v>
                </c:pt>
                <c:pt idx="77">
                  <c:v>0.028436</c:v>
                </c:pt>
                <c:pt idx="78">
                  <c:v>0.041232</c:v>
                </c:pt>
                <c:pt idx="79">
                  <c:v>0.056398</c:v>
                </c:pt>
                <c:pt idx="80">
                  <c:v>0.063981</c:v>
                </c:pt>
                <c:pt idx="81">
                  <c:v>0.064455</c:v>
                </c:pt>
                <c:pt idx="82">
                  <c:v>0.067299</c:v>
                </c:pt>
                <c:pt idx="83">
                  <c:v>0.054976</c:v>
                </c:pt>
                <c:pt idx="84">
                  <c:v>0.041706</c:v>
                </c:pt>
                <c:pt idx="85">
                  <c:v>0.04218</c:v>
                </c:pt>
                <c:pt idx="86">
                  <c:v>0.020853</c:v>
                </c:pt>
                <c:pt idx="87">
                  <c:v>0.01564</c:v>
                </c:pt>
                <c:pt idx="88">
                  <c:v>0.009953</c:v>
                </c:pt>
                <c:pt idx="89">
                  <c:v>0.001896</c:v>
                </c:pt>
                <c:pt idx="90">
                  <c:v>0.001896</c:v>
                </c:pt>
                <c:pt idx="91">
                  <c:v>0.001896</c:v>
                </c:pt>
                <c:pt idx="92">
                  <c:v>0.001422</c:v>
                </c:pt>
                <c:pt idx="93">
                  <c:v>0.000474</c:v>
                </c:pt>
                <c:pt idx="94">
                  <c:v>0.000948</c:v>
                </c:pt>
                <c:pt idx="95">
                  <c:v>0.018957</c:v>
                </c:pt>
                <c:pt idx="96">
                  <c:v>0.024171</c:v>
                </c:pt>
                <c:pt idx="97">
                  <c:v>0.030806</c:v>
                </c:pt>
                <c:pt idx="98">
                  <c:v>0.036967</c:v>
                </c:pt>
                <c:pt idx="99">
                  <c:v>0.032701</c:v>
                </c:pt>
                <c:pt idx="100">
                  <c:v>0.026066</c:v>
                </c:pt>
                <c:pt idx="101">
                  <c:v>0.018957</c:v>
                </c:pt>
                <c:pt idx="102">
                  <c:v>0.020379</c:v>
                </c:pt>
                <c:pt idx="103">
                  <c:v>0.029858</c:v>
                </c:pt>
                <c:pt idx="104">
                  <c:v>0.029384</c:v>
                </c:pt>
                <c:pt idx="105">
                  <c:v>0.029858</c:v>
                </c:pt>
                <c:pt idx="106">
                  <c:v>0.043128</c:v>
                </c:pt>
                <c:pt idx="107">
                  <c:v>0.025118</c:v>
                </c:pt>
                <c:pt idx="108">
                  <c:v>0.024171</c:v>
                </c:pt>
                <c:pt idx="109">
                  <c:v>0.027488</c:v>
                </c:pt>
                <c:pt idx="110">
                  <c:v>0.024645</c:v>
                </c:pt>
                <c:pt idx="111">
                  <c:v>0.016588</c:v>
                </c:pt>
                <c:pt idx="112">
                  <c:v>0.011374</c:v>
                </c:pt>
                <c:pt idx="113">
                  <c:v>0.009953</c:v>
                </c:pt>
                <c:pt idx="114">
                  <c:v>0.006161</c:v>
                </c:pt>
                <c:pt idx="115">
                  <c:v>0.003791</c:v>
                </c:pt>
                <c:pt idx="116">
                  <c:v>0</c:v>
                </c:pt>
              </c:numCache>
            </c:numRef>
          </c:yVal>
        </c:ser>
        <c:ser>
          <c:idx val="4"/>
          <c:order val="4"/>
          <c:tx>
            <c:v>expanded selected</c:v>
          </c:tx>
          <c:spPr>
            <a:ln xmlns:a="http://schemas.openxmlformats.org/drawingml/2006/main" w="23813">
              <a:solidFill>
                <a:srgbClr val="DA762F"/>
              </a:solidFill>
            </a:ln>
          </c:spPr>
          <c:marker>
            <c:symbol val="none"/>
          </c:marker>
          <c:xVal>
            <c:numRef>
              <c:f>'Chart Data'!$I$2:$I$118</c:f>
              <c:numCache>
                <c:formatCode>General</c:formatCode>
                <c:ptCount val="11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372</c:v>
                </c:pt>
                <c:pt idx="43">
                  <c:v>373</c:v>
                </c:pt>
                <c:pt idx="44">
                  <c:v>374</c:v>
                </c:pt>
                <c:pt idx="45">
                  <c:v>375</c:v>
                </c:pt>
                <c:pt idx="46">
                  <c:v>376</c:v>
                </c:pt>
                <c:pt idx="47">
                  <c:v>377</c:v>
                </c:pt>
                <c:pt idx="48">
                  <c:v>378</c:v>
                </c:pt>
                <c:pt idx="49">
                  <c:v>379</c:v>
                </c:pt>
                <c:pt idx="50">
                  <c:v>380</c:v>
                </c:pt>
                <c:pt idx="51">
                  <c:v>381</c:v>
                </c:pt>
                <c:pt idx="52">
                  <c:v>382</c:v>
                </c:pt>
                <c:pt idx="53">
                  <c:v>383</c:v>
                </c:pt>
                <c:pt idx="54">
                  <c:v>384</c:v>
                </c:pt>
                <c:pt idx="55">
                  <c:v>385</c:v>
                </c:pt>
                <c:pt idx="56">
                  <c:v>386</c:v>
                </c:pt>
                <c:pt idx="57">
                  <c:v>387</c:v>
                </c:pt>
                <c:pt idx="58">
                  <c:v>388</c:v>
                </c:pt>
                <c:pt idx="59">
                  <c:v>389</c:v>
                </c:pt>
                <c:pt idx="60">
                  <c:v>390</c:v>
                </c:pt>
                <c:pt idx="61">
                  <c:v>391</c:v>
                </c:pt>
                <c:pt idx="62">
                  <c:v>392</c:v>
                </c:pt>
                <c:pt idx="63">
                  <c:v>393</c:v>
                </c:pt>
                <c:pt idx="64">
                  <c:v>394</c:v>
                </c:pt>
                <c:pt idx="65">
                  <c:v>395</c:v>
                </c:pt>
                <c:pt idx="66">
                  <c:v>396</c:v>
                </c:pt>
                <c:pt idx="67">
                  <c:v>397</c:v>
                </c:pt>
                <c:pt idx="68">
                  <c:v>398</c:v>
                </c:pt>
                <c:pt idx="69">
                  <c:v>399</c:v>
                </c:pt>
                <c:pt idx="70">
                  <c:v>400</c:v>
                </c:pt>
                <c:pt idx="71">
                  <c:v>401</c:v>
                </c:pt>
                <c:pt idx="72">
                  <c:v>402</c:v>
                </c:pt>
                <c:pt idx="73">
                  <c:v>403</c:v>
                </c:pt>
                <c:pt idx="74">
                  <c:v>404</c:v>
                </c:pt>
                <c:pt idx="75">
                  <c:v>405</c:v>
                </c:pt>
                <c:pt idx="76">
                  <c:v>406</c:v>
                </c:pt>
                <c:pt idx="77">
                  <c:v>407</c:v>
                </c:pt>
                <c:pt idx="78">
                  <c:v>408</c:v>
                </c:pt>
                <c:pt idx="79">
                  <c:v>409</c:v>
                </c:pt>
                <c:pt idx="80">
                  <c:v>410</c:v>
                </c:pt>
                <c:pt idx="81">
                  <c:v>411</c:v>
                </c:pt>
                <c:pt idx="82">
                  <c:v>412</c:v>
                </c:pt>
                <c:pt idx="83">
                  <c:v>413</c:v>
                </c:pt>
                <c:pt idx="84">
                  <c:v>414</c:v>
                </c:pt>
                <c:pt idx="85">
                  <c:v>415</c:v>
                </c:pt>
                <c:pt idx="86">
                  <c:v>416</c:v>
                </c:pt>
                <c:pt idx="87">
                  <c:v>417</c:v>
                </c:pt>
                <c:pt idx="88">
                  <c:v>418</c:v>
                </c:pt>
                <c:pt idx="89">
                  <c:v>419</c:v>
                </c:pt>
                <c:pt idx="90">
                  <c:v>420</c:v>
                </c:pt>
                <c:pt idx="91">
                  <c:v>421</c:v>
                </c:pt>
                <c:pt idx="92">
                  <c:v>422</c:v>
                </c:pt>
                <c:pt idx="93">
                  <c:v>423</c:v>
                </c:pt>
                <c:pt idx="94">
                  <c:v>424</c:v>
                </c:pt>
                <c:pt idx="95">
                  <c:v>425</c:v>
                </c:pt>
                <c:pt idx="96">
                  <c:v>426</c:v>
                </c:pt>
                <c:pt idx="97">
                  <c:v>427</c:v>
                </c:pt>
                <c:pt idx="98">
                  <c:v>428</c:v>
                </c:pt>
                <c:pt idx="99">
                  <c:v>429</c:v>
                </c:pt>
                <c:pt idx="100">
                  <c:v>430</c:v>
                </c:pt>
                <c:pt idx="101">
                  <c:v>431</c:v>
                </c:pt>
                <c:pt idx="102">
                  <c:v>432</c:v>
                </c:pt>
                <c:pt idx="103">
                  <c:v>433</c:v>
                </c:pt>
                <c:pt idx="104">
                  <c:v>434</c:v>
                </c:pt>
                <c:pt idx="105">
                  <c:v>435</c:v>
                </c:pt>
                <c:pt idx="106">
                  <c:v>436</c:v>
                </c:pt>
                <c:pt idx="107">
                  <c:v>437</c:v>
                </c:pt>
                <c:pt idx="108">
                  <c:v>438</c:v>
                </c:pt>
                <c:pt idx="109">
                  <c:v>439</c:v>
                </c:pt>
                <c:pt idx="110">
                  <c:v>440</c:v>
                </c:pt>
                <c:pt idx="111">
                  <c:v>441</c:v>
                </c:pt>
                <c:pt idx="112">
                  <c:v>442</c:v>
                </c:pt>
                <c:pt idx="113">
                  <c:v>443</c:v>
                </c:pt>
                <c:pt idx="114">
                  <c:v>444</c:v>
                </c:pt>
                <c:pt idx="115">
                  <c:v>445</c:v>
                </c:pt>
                <c:pt idx="116">
                  <c:v>446</c:v>
                </c:pt>
              </c:numCache>
            </c:numRef>
          </c:xVal>
          <c:yVal>
            <c:numRef>
              <c:f>'Chart Data'!$J$2:$J$118</c:f>
              <c:numCache>
                <c:formatCode>0.0</c:formatCode>
                <c:ptCount val="117"/>
                <c:pt idx="0">
                  <c:v>0.001333</c:v>
                </c:pt>
                <c:pt idx="1">
                  <c:v>0.001333</c:v>
                </c:pt>
                <c:pt idx="2">
                  <c:v>0.002</c:v>
                </c:pt>
                <c:pt idx="3">
                  <c:v>0.001333</c:v>
                </c:pt>
                <c:pt idx="4">
                  <c:v>0.002</c:v>
                </c:pt>
                <c:pt idx="5">
                  <c:v>0.006667</c:v>
                </c:pt>
                <c:pt idx="6">
                  <c:v>0.006</c:v>
                </c:pt>
                <c:pt idx="7">
                  <c:v>0.006</c:v>
                </c:pt>
                <c:pt idx="8">
                  <c:v>0.006</c:v>
                </c:pt>
                <c:pt idx="9">
                  <c:v>0</c:v>
                </c:pt>
                <c:pt idx="10">
                  <c:v>0.004</c:v>
                </c:pt>
                <c:pt idx="11">
                  <c:v>0.008</c:v>
                </c:pt>
                <c:pt idx="12">
                  <c:v>0.010667</c:v>
                </c:pt>
                <c:pt idx="13">
                  <c:v>0.014667</c:v>
                </c:pt>
                <c:pt idx="14">
                  <c:v>0.020667</c:v>
                </c:pt>
                <c:pt idx="15">
                  <c:v>0.022</c:v>
                </c:pt>
                <c:pt idx="16">
                  <c:v>0.019333</c:v>
                </c:pt>
                <c:pt idx="17">
                  <c:v>0.015333</c:v>
                </c:pt>
                <c:pt idx="18">
                  <c:v>0.012</c:v>
                </c:pt>
                <c:pt idx="19">
                  <c:v>0.004667</c:v>
                </c:pt>
                <c:pt idx="20">
                  <c:v>0.01</c:v>
                </c:pt>
                <c:pt idx="21">
                  <c:v>0.016667</c:v>
                </c:pt>
                <c:pt idx="22">
                  <c:v>0.042</c:v>
                </c:pt>
                <c:pt idx="23">
                  <c:v>0.094667</c:v>
                </c:pt>
                <c:pt idx="24">
                  <c:v>0.107333</c:v>
                </c:pt>
                <c:pt idx="25">
                  <c:v>0.115333</c:v>
                </c:pt>
                <c:pt idx="26">
                  <c:v>0.112667</c:v>
                </c:pt>
                <c:pt idx="27">
                  <c:v>0.078667</c:v>
                </c:pt>
                <c:pt idx="28">
                  <c:v>0.039333</c:v>
                </c:pt>
                <c:pt idx="29">
                  <c:v>0.024667</c:v>
                </c:pt>
                <c:pt idx="30">
                  <c:v>0.024667</c:v>
                </c:pt>
                <c:pt idx="31">
                  <c:v>0.03</c:v>
                </c:pt>
                <c:pt idx="32">
                  <c:v>0.028</c:v>
                </c:pt>
                <c:pt idx="33">
                  <c:v>0.024667</c:v>
                </c:pt>
                <c:pt idx="34">
                  <c:v>0.016</c:v>
                </c:pt>
                <c:pt idx="35">
                  <c:v>0.003333</c:v>
                </c:pt>
                <c:pt idx="36">
                  <c:v>0.014</c:v>
                </c:pt>
                <c:pt idx="37">
                  <c:v>0.015333</c:v>
                </c:pt>
                <c:pt idx="38">
                  <c:v>0.015333</c:v>
                </c:pt>
                <c:pt idx="39">
                  <c:v>0.015333</c:v>
                </c:pt>
                <c:pt idx="40">
                  <c:v>0.001333</c:v>
                </c:pt>
                <c:pt idx="41">
                  <c:v>0</c:v>
                </c:pt>
                <c:pt idx="42">
                  <c:v>0</c:v>
                </c:pt>
                <c:pt idx="43">
                  <c:v>0</c:v>
                </c:pt>
                <c:pt idx="44">
                  <c:v>0</c:v>
                </c:pt>
                <c:pt idx="45">
                  <c:v>0</c:v>
                </c:pt>
                <c:pt idx="46">
                  <c:v>0</c:v>
                </c:pt>
                <c:pt idx="47">
                  <c:v>0</c:v>
                </c:pt>
                <c:pt idx="48">
                  <c:v>0</c:v>
                </c:pt>
                <c:pt idx="49">
                  <c:v>0</c:v>
                </c:pt>
                <c:pt idx="50">
                  <c:v>0</c:v>
                </c:pt>
                <c:pt idx="51">
                  <c:v>0.004667</c:v>
                </c:pt>
                <c:pt idx="52">
                  <c:v>0.007333</c:v>
                </c:pt>
                <c:pt idx="53">
                  <c:v>0.01</c:v>
                </c:pt>
                <c:pt idx="54">
                  <c:v>0.01</c:v>
                </c:pt>
                <c:pt idx="55">
                  <c:v>0.007333</c:v>
                </c:pt>
                <c:pt idx="56">
                  <c:v>0.004667</c:v>
                </c:pt>
                <c:pt idx="57">
                  <c:v>0.002</c:v>
                </c:pt>
                <c:pt idx="58">
                  <c:v>0.002</c:v>
                </c:pt>
                <c:pt idx="59">
                  <c:v>0.002</c:v>
                </c:pt>
                <c:pt idx="60">
                  <c:v>0.040667</c:v>
                </c:pt>
                <c:pt idx="61">
                  <c:v>0.048667</c:v>
                </c:pt>
                <c:pt idx="62">
                  <c:v>0.063333</c:v>
                </c:pt>
                <c:pt idx="63">
                  <c:v>0.088</c:v>
                </c:pt>
                <c:pt idx="64">
                  <c:v>0.135333</c:v>
                </c:pt>
                <c:pt idx="65">
                  <c:v>0.235333</c:v>
                </c:pt>
                <c:pt idx="66">
                  <c:v>0.401333</c:v>
                </c:pt>
                <c:pt idx="67">
                  <c:v>0.457333</c:v>
                </c:pt>
                <c:pt idx="68">
                  <c:v>0.590667</c:v>
                </c:pt>
                <c:pt idx="69">
                  <c:v>0.603333</c:v>
                </c:pt>
                <c:pt idx="70">
                  <c:v>0.603333</c:v>
                </c:pt>
                <c:pt idx="71">
                  <c:v>0.559333</c:v>
                </c:pt>
                <c:pt idx="72">
                  <c:v>0.494667</c:v>
                </c:pt>
                <c:pt idx="73">
                  <c:v>0.342</c:v>
                </c:pt>
                <c:pt idx="74">
                  <c:v>0.194</c:v>
                </c:pt>
                <c:pt idx="75">
                  <c:v>0.109333</c:v>
                </c:pt>
                <c:pt idx="76">
                  <c:v>0.051333</c:v>
                </c:pt>
                <c:pt idx="77">
                  <c:v>0.04</c:v>
                </c:pt>
                <c:pt idx="78">
                  <c:v>0.071333</c:v>
                </c:pt>
                <c:pt idx="79">
                  <c:v>0.096</c:v>
                </c:pt>
                <c:pt idx="80">
                  <c:v>0.106</c:v>
                </c:pt>
                <c:pt idx="81">
                  <c:v>0.111333</c:v>
                </c:pt>
                <c:pt idx="82">
                  <c:v>0.098667</c:v>
                </c:pt>
                <c:pt idx="83">
                  <c:v>0.078</c:v>
                </c:pt>
                <c:pt idx="84">
                  <c:v>0.056</c:v>
                </c:pt>
                <c:pt idx="85">
                  <c:v>0.05</c:v>
                </c:pt>
                <c:pt idx="86">
                  <c:v>0.024667</c:v>
                </c:pt>
                <c:pt idx="87">
                  <c:v>0.02</c:v>
                </c:pt>
                <c:pt idx="88">
                  <c:v>0.012</c:v>
                </c:pt>
                <c:pt idx="89">
                  <c:v>0.002</c:v>
                </c:pt>
                <c:pt idx="90">
                  <c:v>0.002</c:v>
                </c:pt>
                <c:pt idx="91">
                  <c:v>0.002</c:v>
                </c:pt>
                <c:pt idx="92">
                  <c:v>0.002</c:v>
                </c:pt>
                <c:pt idx="93">
                  <c:v>0.002</c:v>
                </c:pt>
                <c:pt idx="94">
                  <c:v>0.002</c:v>
                </c:pt>
                <c:pt idx="95">
                  <c:v>0.022</c:v>
                </c:pt>
                <c:pt idx="96">
                  <c:v>0.028</c:v>
                </c:pt>
                <c:pt idx="97">
                  <c:v>0.032667</c:v>
                </c:pt>
                <c:pt idx="98">
                  <c:v>0.042667</c:v>
                </c:pt>
                <c:pt idx="99">
                  <c:v>0.043333</c:v>
                </c:pt>
                <c:pt idx="100">
                  <c:v>0.033333</c:v>
                </c:pt>
                <c:pt idx="101">
                  <c:v>0.025333</c:v>
                </c:pt>
                <c:pt idx="102">
                  <c:v>0.026</c:v>
                </c:pt>
                <c:pt idx="103">
                  <c:v>0.035333</c:v>
                </c:pt>
                <c:pt idx="104">
                  <c:v>0.033333</c:v>
                </c:pt>
                <c:pt idx="105">
                  <c:v>0.030667</c:v>
                </c:pt>
                <c:pt idx="106">
                  <c:v>0.037333</c:v>
                </c:pt>
                <c:pt idx="107">
                  <c:v>0.020667</c:v>
                </c:pt>
                <c:pt idx="108">
                  <c:v>0.023333</c:v>
                </c:pt>
                <c:pt idx="109">
                  <c:v>0.03</c:v>
                </c:pt>
                <c:pt idx="110">
                  <c:v>0.031333</c:v>
                </c:pt>
                <c:pt idx="111">
                  <c:v>0.021333</c:v>
                </c:pt>
                <c:pt idx="112">
                  <c:v>0.015333</c:v>
                </c:pt>
                <c:pt idx="113">
                  <c:v>0.013333</c:v>
                </c:pt>
                <c:pt idx="114">
                  <c:v>0.009333</c:v>
                </c:pt>
                <c:pt idx="115">
                  <c:v>0.006</c:v>
                </c:pt>
                <c:pt idx="116">
                  <c:v>0</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4E8"/>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Helix population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valAx>
      <c:valAx>
        <c:axId val="48650112"/>
        <c:scaling>
          <c:orientation val="minMax"/>
          <c:max val="446"/>
          <c:min val="33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AR residue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δ2D</c:v>
          </c:tx>
          <c:spPr>
            <a:ln xmlns:a="http://schemas.openxmlformats.org/drawingml/2006/main" w="23813">
              <a:solidFill>
                <a:srgbClr val="151515"/>
              </a:solidFill>
            </a:ln>
          </c:spPr>
          <c:marker>
            <c:symbol val="none"/>
          </c:marker>
          <c:xVal>
            <c:numRef>
              <c:f>'Chart Data'!$A$2:$A$108</c:f>
              <c:numCache>
                <c:formatCode>General</c:formatCode>
                <c:ptCount val="10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379</c:v>
                </c:pt>
                <c:pt idx="43">
                  <c:v>380</c:v>
                </c:pt>
                <c:pt idx="44">
                  <c:v>381</c:v>
                </c:pt>
                <c:pt idx="45">
                  <c:v>382</c:v>
                </c:pt>
                <c:pt idx="46">
                  <c:v>383</c:v>
                </c:pt>
                <c:pt idx="47">
                  <c:v>384</c:v>
                </c:pt>
                <c:pt idx="48">
                  <c:v>385</c:v>
                </c:pt>
                <c:pt idx="49">
                  <c:v>386</c:v>
                </c:pt>
                <c:pt idx="50">
                  <c:v>387</c:v>
                </c:pt>
                <c:pt idx="51">
                  <c:v>388</c:v>
                </c:pt>
                <c:pt idx="52">
                  <c:v>389</c:v>
                </c:pt>
                <c:pt idx="53">
                  <c:v>390</c:v>
                </c:pt>
                <c:pt idx="54">
                  <c:v>391</c:v>
                </c:pt>
                <c:pt idx="55">
                  <c:v>392</c:v>
                </c:pt>
                <c:pt idx="56">
                  <c:v>393</c:v>
                </c:pt>
                <c:pt idx="57">
                  <c:v>394</c:v>
                </c:pt>
                <c:pt idx="58">
                  <c:v>395</c:v>
                </c:pt>
                <c:pt idx="59">
                  <c:v>396</c:v>
                </c:pt>
                <c:pt idx="60">
                  <c:v>397</c:v>
                </c:pt>
                <c:pt idx="61">
                  <c:v>398</c:v>
                </c:pt>
                <c:pt idx="62">
                  <c:v>399</c:v>
                </c:pt>
                <c:pt idx="63">
                  <c:v>400</c:v>
                </c:pt>
                <c:pt idx="64">
                  <c:v>401</c:v>
                </c:pt>
                <c:pt idx="65">
                  <c:v>402</c:v>
                </c:pt>
                <c:pt idx="66">
                  <c:v>403</c:v>
                </c:pt>
                <c:pt idx="67">
                  <c:v>404</c:v>
                </c:pt>
                <c:pt idx="68">
                  <c:v>405</c:v>
                </c:pt>
                <c:pt idx="69">
                  <c:v>406</c:v>
                </c:pt>
                <c:pt idx="70">
                  <c:v>407</c:v>
                </c:pt>
                <c:pt idx="71">
                  <c:v>408</c:v>
                </c:pt>
                <c:pt idx="72">
                  <c:v>409</c:v>
                </c:pt>
                <c:pt idx="73">
                  <c:v>410</c:v>
                </c:pt>
                <c:pt idx="74">
                  <c:v>411</c:v>
                </c:pt>
                <c:pt idx="75">
                  <c:v>412</c:v>
                </c:pt>
                <c:pt idx="76">
                  <c:v>413</c:v>
                </c:pt>
                <c:pt idx="77">
                  <c:v>414</c:v>
                </c:pt>
                <c:pt idx="78">
                  <c:v>415</c:v>
                </c:pt>
                <c:pt idx="79">
                  <c:v>416</c:v>
                </c:pt>
                <c:pt idx="80">
                  <c:v>417</c:v>
                </c:pt>
                <c:pt idx="81">
                  <c:v>418</c:v>
                </c:pt>
                <c:pt idx="82">
                  <c:v>420</c:v>
                </c:pt>
                <c:pt idx="83">
                  <c:v>421</c:v>
                </c:pt>
                <c:pt idx="84">
                  <c:v>422</c:v>
                </c:pt>
                <c:pt idx="85">
                  <c:v>423</c:v>
                </c:pt>
                <c:pt idx="86">
                  <c:v>425</c:v>
                </c:pt>
                <c:pt idx="87">
                  <c:v>426</c:v>
                </c:pt>
                <c:pt idx="88">
                  <c:v>427</c:v>
                </c:pt>
                <c:pt idx="89">
                  <c:v>428</c:v>
                </c:pt>
                <c:pt idx="90">
                  <c:v>429</c:v>
                </c:pt>
                <c:pt idx="91">
                  <c:v>430</c:v>
                </c:pt>
                <c:pt idx="92">
                  <c:v>431</c:v>
                </c:pt>
                <c:pt idx="93">
                  <c:v>432</c:v>
                </c:pt>
                <c:pt idx="94">
                  <c:v>433</c:v>
                </c:pt>
                <c:pt idx="95">
                  <c:v>434</c:v>
                </c:pt>
                <c:pt idx="96">
                  <c:v>435</c:v>
                </c:pt>
                <c:pt idx="97">
                  <c:v>436</c:v>
                </c:pt>
                <c:pt idx="98">
                  <c:v>437</c:v>
                </c:pt>
                <c:pt idx="99">
                  <c:v>438</c:v>
                </c:pt>
                <c:pt idx="100">
                  <c:v>439</c:v>
                </c:pt>
                <c:pt idx="101">
                  <c:v>440</c:v>
                </c:pt>
                <c:pt idx="102">
                  <c:v>441</c:v>
                </c:pt>
                <c:pt idx="103">
                  <c:v>442</c:v>
                </c:pt>
                <c:pt idx="104">
                  <c:v>443</c:v>
                </c:pt>
                <c:pt idx="105">
                  <c:v>444</c:v>
                </c:pt>
                <c:pt idx="106">
                  <c:v>445</c:v>
                </c:pt>
              </c:numCache>
            </c:numRef>
          </c:xVal>
          <c:yVal>
            <c:numRef>
              <c:f>'Chart Data'!$B$2:$B$108</c:f>
              <c:numCache>
                <c:formatCode>0.0</c:formatCode>
                <c:ptCount val="107"/>
                <c:pt idx="0">
                  <c:v>0.002029</c:v>
                </c:pt>
                <c:pt idx="1">
                  <c:v>0.002621</c:v>
                </c:pt>
                <c:pt idx="2">
                  <c:v>0.002496</c:v>
                </c:pt>
                <c:pt idx="3">
                  <c:v>0.003255</c:v>
                </c:pt>
                <c:pt idx="4">
                  <c:v>0.004645</c:v>
                </c:pt>
                <c:pt idx="5">
                  <c:v>0.005813</c:v>
                </c:pt>
                <c:pt idx="6">
                  <c:v>0.004053</c:v>
                </c:pt>
                <c:pt idx="7">
                  <c:v>0.004131</c:v>
                </c:pt>
                <c:pt idx="8">
                  <c:v>0.006048</c:v>
                </c:pt>
                <c:pt idx="9">
                  <c:v>0.008567</c:v>
                </c:pt>
                <c:pt idx="10">
                  <c:v>0.006041</c:v>
                </c:pt>
                <c:pt idx="11">
                  <c:v>0.002876</c:v>
                </c:pt>
                <c:pt idx="12">
                  <c:v>0.000914</c:v>
                </c:pt>
                <c:pt idx="13">
                  <c:v>0.001483</c:v>
                </c:pt>
                <c:pt idx="14">
                  <c:v>0.00177</c:v>
                </c:pt>
                <c:pt idx="15">
                  <c:v>0.001954</c:v>
                </c:pt>
                <c:pt idx="16">
                  <c:v>0.001675</c:v>
                </c:pt>
                <c:pt idx="17">
                  <c:v>0.001702</c:v>
                </c:pt>
                <c:pt idx="18">
                  <c:v>0.002196</c:v>
                </c:pt>
                <c:pt idx="19">
                  <c:v>0.003891</c:v>
                </c:pt>
                <c:pt idx="20">
                  <c:v>0.004997</c:v>
                </c:pt>
                <c:pt idx="21">
                  <c:v>0.008343</c:v>
                </c:pt>
                <c:pt idx="22">
                  <c:v>0.014477</c:v>
                </c:pt>
                <c:pt idx="23">
                  <c:v>0.022064</c:v>
                </c:pt>
                <c:pt idx="24">
                  <c:v>0.024279</c:v>
                </c:pt>
                <c:pt idx="25">
                  <c:v>0.022789</c:v>
                </c:pt>
                <c:pt idx="26">
                  <c:v>0.019975</c:v>
                </c:pt>
                <c:pt idx="27">
                  <c:v>0.016636</c:v>
                </c:pt>
                <c:pt idx="28">
                  <c:v>0.009796</c:v>
                </c:pt>
                <c:pt idx="29">
                  <c:v>0.003675</c:v>
                </c:pt>
                <c:pt idx="30">
                  <c:v>0.007632</c:v>
                </c:pt>
                <c:pt idx="31">
                  <c:v>0.038801</c:v>
                </c:pt>
                <c:pt idx="32">
                  <c:v>0.07653</c:v>
                </c:pt>
                <c:pt idx="33">
                  <c:v>0.09768</c:v>
                </c:pt>
                <c:pt idx="34">
                  <c:v>0.074868</c:v>
                </c:pt>
                <c:pt idx="35">
                  <c:v>0.044164</c:v>
                </c:pt>
                <c:pt idx="36">
                  <c:v>0.016322</c:v>
                </c:pt>
                <c:pt idx="37">
                  <c:v>0.006884</c:v>
                </c:pt>
                <c:pt idx="38">
                  <c:v>0.000354</c:v>
                </c:pt>
                <c:pt idx="39">
                  <c:v>0.000443</c:v>
                </c:pt>
                <c:pt idx="40">
                  <c:v>0.000578</c:v>
                </c:pt>
                <c:pt idx="41">
                  <c:v>0.000814</c:v>
                </c:pt>
                <c:pt idx="42">
                  <c:v>0.001189</c:v>
                </c:pt>
                <c:pt idx="43">
                  <c:v>0.002253</c:v>
                </c:pt>
                <c:pt idx="44">
                  <c:v>0.003076</c:v>
                </c:pt>
                <c:pt idx="45">
                  <c:v>0.002456</c:v>
                </c:pt>
                <c:pt idx="46">
                  <c:v>0.001336</c:v>
                </c:pt>
                <c:pt idx="47">
                  <c:v>0.000388</c:v>
                </c:pt>
                <c:pt idx="48">
                  <c:v>0.000226</c:v>
                </c:pt>
                <c:pt idx="49">
                  <c:v>0.000126</c:v>
                </c:pt>
                <c:pt idx="50">
                  <c:v>0.000341</c:v>
                </c:pt>
                <c:pt idx="51">
                  <c:v>0.000713</c:v>
                </c:pt>
                <c:pt idx="52">
                  <c:v>0.001507</c:v>
                </c:pt>
                <c:pt idx="53">
                  <c:v>0.002036</c:v>
                </c:pt>
                <c:pt idx="54">
                  <c:v>0.020575</c:v>
                </c:pt>
                <c:pt idx="55">
                  <c:v>0.047902</c:v>
                </c:pt>
                <c:pt idx="56">
                  <c:v>0.069596</c:v>
                </c:pt>
                <c:pt idx="57">
                  <c:v>0.130432</c:v>
                </c:pt>
                <c:pt idx="58">
                  <c:v>0.287246</c:v>
                </c:pt>
                <c:pt idx="59">
                  <c:v>0.511662</c:v>
                </c:pt>
                <c:pt idx="60">
                  <c:v>0.646835</c:v>
                </c:pt>
                <c:pt idx="61">
                  <c:v>0.658137</c:v>
                </c:pt>
                <c:pt idx="62">
                  <c:v>0.572914</c:v>
                </c:pt>
                <c:pt idx="63">
                  <c:v>0.451404</c:v>
                </c:pt>
                <c:pt idx="64">
                  <c:v>0.287037</c:v>
                </c:pt>
                <c:pt idx="65">
                  <c:v>0.136898</c:v>
                </c:pt>
                <c:pt idx="66">
                  <c:v>0.042062</c:v>
                </c:pt>
                <c:pt idx="67">
                  <c:v>0.011361</c:v>
                </c:pt>
                <c:pt idx="68">
                  <c:v>0.008153</c:v>
                </c:pt>
                <c:pt idx="69">
                  <c:v>0.012777</c:v>
                </c:pt>
                <c:pt idx="70">
                  <c:v>0.02781</c:v>
                </c:pt>
                <c:pt idx="71">
                  <c:v>0.052525</c:v>
                </c:pt>
                <c:pt idx="72">
                  <c:v>0.070973</c:v>
                </c:pt>
                <c:pt idx="73">
                  <c:v>0.058428</c:v>
                </c:pt>
                <c:pt idx="74">
                  <c:v>0.038379</c:v>
                </c:pt>
                <c:pt idx="75">
                  <c:v>0.027428</c:v>
                </c:pt>
                <c:pt idx="76">
                  <c:v>0.029046</c:v>
                </c:pt>
                <c:pt idx="77">
                  <c:v>0.022937</c:v>
                </c:pt>
                <c:pt idx="78">
                  <c:v>0.015573</c:v>
                </c:pt>
                <c:pt idx="79">
                  <c:v>0.010088</c:v>
                </c:pt>
                <c:pt idx="80">
                  <c:v>0.007635</c:v>
                </c:pt>
                <c:pt idx="81">
                  <c:v>0.004382</c:v>
                </c:pt>
                <c:pt idx="82">
                  <c:v>0.00713</c:v>
                </c:pt>
                <c:pt idx="83">
                  <c:v>0.011143</c:v>
                </c:pt>
                <c:pt idx="84">
                  <c:v>0.014263</c:v>
                </c:pt>
                <c:pt idx="85">
                  <c:v>0.013061</c:v>
                </c:pt>
                <c:pt idx="86">
                  <c:v>0.002699</c:v>
                </c:pt>
                <c:pt idx="87">
                  <c:v>0.001227</c:v>
                </c:pt>
                <c:pt idx="88">
                  <c:v>0.000842</c:v>
                </c:pt>
                <c:pt idx="89">
                  <c:v>0.000765</c:v>
                </c:pt>
                <c:pt idx="90">
                  <c:v>0.000852</c:v>
                </c:pt>
                <c:pt idx="91">
                  <c:v>0.000556</c:v>
                </c:pt>
                <c:pt idx="92">
                  <c:v>0.00075</c:v>
                </c:pt>
                <c:pt idx="93">
                  <c:v>0.00188</c:v>
                </c:pt>
                <c:pt idx="94">
                  <c:v>0.003227</c:v>
                </c:pt>
                <c:pt idx="95">
                  <c:v>0.003358</c:v>
                </c:pt>
                <c:pt idx="96">
                  <c:v>0.002425</c:v>
                </c:pt>
                <c:pt idx="97">
                  <c:v>0.001573</c:v>
                </c:pt>
                <c:pt idx="98">
                  <c:v>0.001236</c:v>
                </c:pt>
                <c:pt idx="99">
                  <c:v>0.001072</c:v>
                </c:pt>
                <c:pt idx="100">
                  <c:v>0.001284</c:v>
                </c:pt>
                <c:pt idx="101">
                  <c:v>0.001827</c:v>
                </c:pt>
                <c:pt idx="102">
                  <c:v>0.00211</c:v>
                </c:pt>
                <c:pt idx="103">
                  <c:v>0.001669</c:v>
                </c:pt>
                <c:pt idx="104">
                  <c:v>0.001395</c:v>
                </c:pt>
                <c:pt idx="105">
                  <c:v>0.001713</c:v>
                </c:pt>
                <c:pt idx="106">
                  <c:v>0.002495</c:v>
                </c:pt>
              </c:numCache>
            </c:numRef>
          </c:yVal>
        </c:ser>
        <c:ser>
          <c:idx val="1"/>
          <c:order val="1"/>
          <c:tx>
            <c:v>base raw</c:v>
          </c:tx>
          <c:spPr>
            <a:ln xmlns:a="http://schemas.openxmlformats.org/drawingml/2006/main" w="23813">
              <a:solidFill>
                <a:srgbClr val="89B5DA"/>
              </a:solidFill>
            </a:ln>
          </c:spPr>
          <c:marker>
            <c:symbol val="none"/>
          </c:marker>
          <c:xVal>
            <c:numRef>
              <c:f>'Chart Data'!$C$2:$C$118</c:f>
              <c:numCache>
                <c:formatCode>General</c:formatCode>
                <c:ptCount val="11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372</c:v>
                </c:pt>
                <c:pt idx="43">
                  <c:v>373</c:v>
                </c:pt>
                <c:pt idx="44">
                  <c:v>374</c:v>
                </c:pt>
                <c:pt idx="45">
                  <c:v>375</c:v>
                </c:pt>
                <c:pt idx="46">
                  <c:v>376</c:v>
                </c:pt>
                <c:pt idx="47">
                  <c:v>377</c:v>
                </c:pt>
                <c:pt idx="48">
                  <c:v>378</c:v>
                </c:pt>
                <c:pt idx="49">
                  <c:v>379</c:v>
                </c:pt>
                <c:pt idx="50">
                  <c:v>380</c:v>
                </c:pt>
                <c:pt idx="51">
                  <c:v>381</c:v>
                </c:pt>
                <c:pt idx="52">
                  <c:v>382</c:v>
                </c:pt>
                <c:pt idx="53">
                  <c:v>383</c:v>
                </c:pt>
                <c:pt idx="54">
                  <c:v>384</c:v>
                </c:pt>
                <c:pt idx="55">
                  <c:v>385</c:v>
                </c:pt>
                <c:pt idx="56">
                  <c:v>386</c:v>
                </c:pt>
                <c:pt idx="57">
                  <c:v>387</c:v>
                </c:pt>
                <c:pt idx="58">
                  <c:v>388</c:v>
                </c:pt>
                <c:pt idx="59">
                  <c:v>389</c:v>
                </c:pt>
                <c:pt idx="60">
                  <c:v>390</c:v>
                </c:pt>
                <c:pt idx="61">
                  <c:v>391</c:v>
                </c:pt>
                <c:pt idx="62">
                  <c:v>392</c:v>
                </c:pt>
                <c:pt idx="63">
                  <c:v>393</c:v>
                </c:pt>
                <c:pt idx="64">
                  <c:v>394</c:v>
                </c:pt>
                <c:pt idx="65">
                  <c:v>395</c:v>
                </c:pt>
                <c:pt idx="66">
                  <c:v>396</c:v>
                </c:pt>
                <c:pt idx="67">
                  <c:v>397</c:v>
                </c:pt>
                <c:pt idx="68">
                  <c:v>398</c:v>
                </c:pt>
                <c:pt idx="69">
                  <c:v>399</c:v>
                </c:pt>
                <c:pt idx="70">
                  <c:v>400</c:v>
                </c:pt>
                <c:pt idx="71">
                  <c:v>401</c:v>
                </c:pt>
                <c:pt idx="72">
                  <c:v>402</c:v>
                </c:pt>
                <c:pt idx="73">
                  <c:v>403</c:v>
                </c:pt>
                <c:pt idx="74">
                  <c:v>404</c:v>
                </c:pt>
                <c:pt idx="75">
                  <c:v>405</c:v>
                </c:pt>
                <c:pt idx="76">
                  <c:v>406</c:v>
                </c:pt>
                <c:pt idx="77">
                  <c:v>407</c:v>
                </c:pt>
                <c:pt idx="78">
                  <c:v>408</c:v>
                </c:pt>
                <c:pt idx="79">
                  <c:v>409</c:v>
                </c:pt>
                <c:pt idx="80">
                  <c:v>410</c:v>
                </c:pt>
                <c:pt idx="81">
                  <c:v>411</c:v>
                </c:pt>
                <c:pt idx="82">
                  <c:v>412</c:v>
                </c:pt>
                <c:pt idx="83">
                  <c:v>413</c:v>
                </c:pt>
                <c:pt idx="84">
                  <c:v>414</c:v>
                </c:pt>
                <c:pt idx="85">
                  <c:v>415</c:v>
                </c:pt>
                <c:pt idx="86">
                  <c:v>416</c:v>
                </c:pt>
                <c:pt idx="87">
                  <c:v>417</c:v>
                </c:pt>
                <c:pt idx="88">
                  <c:v>418</c:v>
                </c:pt>
                <c:pt idx="89">
                  <c:v>419</c:v>
                </c:pt>
                <c:pt idx="90">
                  <c:v>420</c:v>
                </c:pt>
                <c:pt idx="91">
                  <c:v>421</c:v>
                </c:pt>
                <c:pt idx="92">
                  <c:v>422</c:v>
                </c:pt>
                <c:pt idx="93">
                  <c:v>423</c:v>
                </c:pt>
                <c:pt idx="94">
                  <c:v>424</c:v>
                </c:pt>
                <c:pt idx="95">
                  <c:v>425</c:v>
                </c:pt>
                <c:pt idx="96">
                  <c:v>426</c:v>
                </c:pt>
                <c:pt idx="97">
                  <c:v>427</c:v>
                </c:pt>
                <c:pt idx="98">
                  <c:v>428</c:v>
                </c:pt>
                <c:pt idx="99">
                  <c:v>429</c:v>
                </c:pt>
                <c:pt idx="100">
                  <c:v>430</c:v>
                </c:pt>
                <c:pt idx="101">
                  <c:v>431</c:v>
                </c:pt>
                <c:pt idx="102">
                  <c:v>432</c:v>
                </c:pt>
                <c:pt idx="103">
                  <c:v>433</c:v>
                </c:pt>
                <c:pt idx="104">
                  <c:v>434</c:v>
                </c:pt>
                <c:pt idx="105">
                  <c:v>435</c:v>
                </c:pt>
                <c:pt idx="106">
                  <c:v>436</c:v>
                </c:pt>
                <c:pt idx="107">
                  <c:v>437</c:v>
                </c:pt>
                <c:pt idx="108">
                  <c:v>438</c:v>
                </c:pt>
                <c:pt idx="109">
                  <c:v>439</c:v>
                </c:pt>
                <c:pt idx="110">
                  <c:v>440</c:v>
                </c:pt>
                <c:pt idx="111">
                  <c:v>441</c:v>
                </c:pt>
                <c:pt idx="112">
                  <c:v>442</c:v>
                </c:pt>
                <c:pt idx="113">
                  <c:v>443</c:v>
                </c:pt>
                <c:pt idx="114">
                  <c:v>444</c:v>
                </c:pt>
                <c:pt idx="115">
                  <c:v>445</c:v>
                </c:pt>
                <c:pt idx="116">
                  <c:v>446</c:v>
                </c:pt>
              </c:numCache>
            </c:numRef>
          </c:xVal>
          <c:yVal>
            <c:numRef>
              <c:f>'Chart Data'!$D$2:$D$118</c:f>
              <c:numCache>
                <c:formatCode>0.0</c:formatCode>
                <c:ptCount val="117"/>
                <c:pt idx="0">
                  <c:v>0.0015</c:v>
                </c:pt>
                <c:pt idx="1">
                  <c:v>0.003</c:v>
                </c:pt>
                <c:pt idx="2">
                  <c:v>0.0035</c:v>
                </c:pt>
                <c:pt idx="3">
                  <c:v>0.0055</c:v>
                </c:pt>
                <c:pt idx="4">
                  <c:v>0.0045</c:v>
                </c:pt>
                <c:pt idx="5">
                  <c:v>0.0055</c:v>
                </c:pt>
                <c:pt idx="6">
                  <c:v>0.005</c:v>
                </c:pt>
                <c:pt idx="7">
                  <c:v>0.004</c:v>
                </c:pt>
                <c:pt idx="8">
                  <c:v>0.0025</c:v>
                </c:pt>
                <c:pt idx="9">
                  <c:v>0.003</c:v>
                </c:pt>
                <c:pt idx="10">
                  <c:v>0.004</c:v>
                </c:pt>
                <c:pt idx="11">
                  <c:v>0.0055</c:v>
                </c:pt>
                <c:pt idx="12">
                  <c:v>0.0085</c:v>
                </c:pt>
                <c:pt idx="13">
                  <c:v>0.0075</c:v>
                </c:pt>
                <c:pt idx="14">
                  <c:v>0.008</c:v>
                </c:pt>
                <c:pt idx="15">
                  <c:v>0.0095</c:v>
                </c:pt>
                <c:pt idx="16">
                  <c:v>0.007</c:v>
                </c:pt>
                <c:pt idx="17">
                  <c:v>0.0065</c:v>
                </c:pt>
                <c:pt idx="18">
                  <c:v>0.0045</c:v>
                </c:pt>
                <c:pt idx="19">
                  <c:v>0.0045</c:v>
                </c:pt>
                <c:pt idx="20">
                  <c:v>0.0055</c:v>
                </c:pt>
                <c:pt idx="21">
                  <c:v>0.009</c:v>
                </c:pt>
                <c:pt idx="22">
                  <c:v>0.02</c:v>
                </c:pt>
                <c:pt idx="23">
                  <c:v>0.0595</c:v>
                </c:pt>
                <c:pt idx="24">
                  <c:v>0.068</c:v>
                </c:pt>
                <c:pt idx="25">
                  <c:v>0.0765</c:v>
                </c:pt>
                <c:pt idx="26">
                  <c:v>0.072</c:v>
                </c:pt>
                <c:pt idx="27">
                  <c:v>0.053</c:v>
                </c:pt>
                <c:pt idx="28">
                  <c:v>0.031</c:v>
                </c:pt>
                <c:pt idx="29">
                  <c:v>0.018</c:v>
                </c:pt>
                <c:pt idx="30">
                  <c:v>0.023</c:v>
                </c:pt>
                <c:pt idx="31">
                  <c:v>0.038</c:v>
                </c:pt>
                <c:pt idx="32">
                  <c:v>0.035</c:v>
                </c:pt>
                <c:pt idx="33">
                  <c:v>0.032</c:v>
                </c:pt>
                <c:pt idx="34">
                  <c:v>0.0265</c:v>
                </c:pt>
                <c:pt idx="35">
                  <c:v>0.0115</c:v>
                </c:pt>
                <c:pt idx="36">
                  <c:v>0.021</c:v>
                </c:pt>
                <c:pt idx="37">
                  <c:v>0.0265</c:v>
                </c:pt>
                <c:pt idx="38">
                  <c:v>0.0265</c:v>
                </c:pt>
                <c:pt idx="39">
                  <c:v>0.018</c:v>
                </c:pt>
                <c:pt idx="40">
                  <c:v>0.008</c:v>
                </c:pt>
                <c:pt idx="41">
                  <c:v>0</c:v>
                </c:pt>
                <c:pt idx="42">
                  <c:v>0</c:v>
                </c:pt>
                <c:pt idx="43">
                  <c:v>0</c:v>
                </c:pt>
                <c:pt idx="44">
                  <c:v>0</c:v>
                </c:pt>
                <c:pt idx="45">
                  <c:v>0</c:v>
                </c:pt>
                <c:pt idx="46">
                  <c:v>0</c:v>
                </c:pt>
                <c:pt idx="47">
                  <c:v>0</c:v>
                </c:pt>
                <c:pt idx="48">
                  <c:v>0</c:v>
                </c:pt>
                <c:pt idx="49">
                  <c:v>0</c:v>
                </c:pt>
                <c:pt idx="50">
                  <c:v>0</c:v>
                </c:pt>
                <c:pt idx="51">
                  <c:v>0.003</c:v>
                </c:pt>
                <c:pt idx="52">
                  <c:v>0.005</c:v>
                </c:pt>
                <c:pt idx="53">
                  <c:v>0.005</c:v>
                </c:pt>
                <c:pt idx="54">
                  <c:v>0.005</c:v>
                </c:pt>
                <c:pt idx="55">
                  <c:v>0.003</c:v>
                </c:pt>
                <c:pt idx="56">
                  <c:v>0.0005</c:v>
                </c:pt>
                <c:pt idx="57">
                  <c:v>0</c:v>
                </c:pt>
                <c:pt idx="58">
                  <c:v>0</c:v>
                </c:pt>
                <c:pt idx="59">
                  <c:v>0</c:v>
                </c:pt>
                <c:pt idx="60">
                  <c:v>0.021</c:v>
                </c:pt>
                <c:pt idx="61">
                  <c:v>0.024</c:v>
                </c:pt>
                <c:pt idx="62">
                  <c:v>0.032</c:v>
                </c:pt>
                <c:pt idx="63">
                  <c:v>0.045</c:v>
                </c:pt>
                <c:pt idx="64">
                  <c:v>0.0645</c:v>
                </c:pt>
                <c:pt idx="65">
                  <c:v>0.153</c:v>
                </c:pt>
                <c:pt idx="66">
                  <c:v>0.305</c:v>
                </c:pt>
                <c:pt idx="67">
                  <c:v>0.376</c:v>
                </c:pt>
                <c:pt idx="68">
                  <c:v>0.47</c:v>
                </c:pt>
                <c:pt idx="69">
                  <c:v>0.528</c:v>
                </c:pt>
                <c:pt idx="70">
                  <c:v>0.5155</c:v>
                </c:pt>
                <c:pt idx="71">
                  <c:v>0.496</c:v>
                </c:pt>
                <c:pt idx="72">
                  <c:v>0.444</c:v>
                </c:pt>
                <c:pt idx="73">
                  <c:v>0.2945</c:v>
                </c:pt>
                <c:pt idx="74">
                  <c:v>0.162</c:v>
                </c:pt>
                <c:pt idx="75">
                  <c:v>0.0845</c:v>
                </c:pt>
                <c:pt idx="76">
                  <c:v>0.0285</c:v>
                </c:pt>
                <c:pt idx="77">
                  <c:v>0.017</c:v>
                </c:pt>
                <c:pt idx="78">
                  <c:v>0.023</c:v>
                </c:pt>
                <c:pt idx="79">
                  <c:v>0.044</c:v>
                </c:pt>
                <c:pt idx="80">
                  <c:v>0.0505</c:v>
                </c:pt>
                <c:pt idx="81">
                  <c:v>0.0495</c:v>
                </c:pt>
                <c:pt idx="82">
                  <c:v>0.05</c:v>
                </c:pt>
                <c:pt idx="83">
                  <c:v>0.037</c:v>
                </c:pt>
                <c:pt idx="84">
                  <c:v>0.0235</c:v>
                </c:pt>
                <c:pt idx="85">
                  <c:v>0.023</c:v>
                </c:pt>
                <c:pt idx="86">
                  <c:v>0.013</c:v>
                </c:pt>
                <c:pt idx="87">
                  <c:v>0.0105</c:v>
                </c:pt>
                <c:pt idx="88">
                  <c:v>0.005</c:v>
                </c:pt>
                <c:pt idx="89">
                  <c:v>0</c:v>
                </c:pt>
                <c:pt idx="90">
                  <c:v>0.0005</c:v>
                </c:pt>
                <c:pt idx="91">
                  <c:v>0.0005</c:v>
                </c:pt>
                <c:pt idx="92">
                  <c:v>0.0005</c:v>
                </c:pt>
                <c:pt idx="93">
                  <c:v>0.0015</c:v>
                </c:pt>
                <c:pt idx="94">
                  <c:v>0.001</c:v>
                </c:pt>
                <c:pt idx="95">
                  <c:v>0.016</c:v>
                </c:pt>
                <c:pt idx="96">
                  <c:v>0.0195</c:v>
                </c:pt>
                <c:pt idx="97">
                  <c:v>0.023</c:v>
                </c:pt>
                <c:pt idx="98">
                  <c:v>0.026</c:v>
                </c:pt>
                <c:pt idx="99">
                  <c:v>0.016</c:v>
                </c:pt>
                <c:pt idx="100">
                  <c:v>0.013</c:v>
                </c:pt>
                <c:pt idx="101">
                  <c:v>0.0105</c:v>
                </c:pt>
                <c:pt idx="102">
                  <c:v>0.0135</c:v>
                </c:pt>
                <c:pt idx="103">
                  <c:v>0.015</c:v>
                </c:pt>
                <c:pt idx="104">
                  <c:v>0.014</c:v>
                </c:pt>
                <c:pt idx="105">
                  <c:v>0.0165</c:v>
                </c:pt>
                <c:pt idx="106">
                  <c:v>0.0225</c:v>
                </c:pt>
                <c:pt idx="107">
                  <c:v>0.02</c:v>
                </c:pt>
                <c:pt idx="108">
                  <c:v>0.0205</c:v>
                </c:pt>
                <c:pt idx="109">
                  <c:v>0.0175</c:v>
                </c:pt>
                <c:pt idx="110">
                  <c:v>0.011</c:v>
                </c:pt>
                <c:pt idx="111">
                  <c:v>0.006</c:v>
                </c:pt>
                <c:pt idx="112">
                  <c:v>0.005</c:v>
                </c:pt>
                <c:pt idx="113">
                  <c:v>0.005</c:v>
                </c:pt>
                <c:pt idx="114">
                  <c:v>0.0035</c:v>
                </c:pt>
                <c:pt idx="115">
                  <c:v>0.0025</c:v>
                </c:pt>
                <c:pt idx="116">
                  <c:v>0</c:v>
                </c:pt>
              </c:numCache>
            </c:numRef>
          </c:yVal>
        </c:ser>
        <c:ser>
          <c:idx val="2"/>
          <c:order val="2"/>
          <c:tx>
            <c:v>base selected</c:v>
          </c:tx>
          <c:spPr>
            <a:ln xmlns:a="http://schemas.openxmlformats.org/drawingml/2006/main" w="23813">
              <a:solidFill>
                <a:srgbClr val="2876B8"/>
              </a:solidFill>
            </a:ln>
          </c:spPr>
          <c:marker>
            <c:symbol val="none"/>
          </c:marker>
          <c:xVal>
            <c:numRef>
              <c:f>'Chart Data'!$E$2:$E$118</c:f>
              <c:numCache>
                <c:formatCode>General</c:formatCode>
                <c:ptCount val="11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372</c:v>
                </c:pt>
                <c:pt idx="43">
                  <c:v>373</c:v>
                </c:pt>
                <c:pt idx="44">
                  <c:v>374</c:v>
                </c:pt>
                <c:pt idx="45">
                  <c:v>375</c:v>
                </c:pt>
                <c:pt idx="46">
                  <c:v>376</c:v>
                </c:pt>
                <c:pt idx="47">
                  <c:v>377</c:v>
                </c:pt>
                <c:pt idx="48">
                  <c:v>378</c:v>
                </c:pt>
                <c:pt idx="49">
                  <c:v>379</c:v>
                </c:pt>
                <c:pt idx="50">
                  <c:v>380</c:v>
                </c:pt>
                <c:pt idx="51">
                  <c:v>381</c:v>
                </c:pt>
                <c:pt idx="52">
                  <c:v>382</c:v>
                </c:pt>
                <c:pt idx="53">
                  <c:v>383</c:v>
                </c:pt>
                <c:pt idx="54">
                  <c:v>384</c:v>
                </c:pt>
                <c:pt idx="55">
                  <c:v>385</c:v>
                </c:pt>
                <c:pt idx="56">
                  <c:v>386</c:v>
                </c:pt>
                <c:pt idx="57">
                  <c:v>387</c:v>
                </c:pt>
                <c:pt idx="58">
                  <c:v>388</c:v>
                </c:pt>
                <c:pt idx="59">
                  <c:v>389</c:v>
                </c:pt>
                <c:pt idx="60">
                  <c:v>390</c:v>
                </c:pt>
                <c:pt idx="61">
                  <c:v>391</c:v>
                </c:pt>
                <c:pt idx="62">
                  <c:v>392</c:v>
                </c:pt>
                <c:pt idx="63">
                  <c:v>393</c:v>
                </c:pt>
                <c:pt idx="64">
                  <c:v>394</c:v>
                </c:pt>
                <c:pt idx="65">
                  <c:v>395</c:v>
                </c:pt>
                <c:pt idx="66">
                  <c:v>396</c:v>
                </c:pt>
                <c:pt idx="67">
                  <c:v>397</c:v>
                </c:pt>
                <c:pt idx="68">
                  <c:v>398</c:v>
                </c:pt>
                <c:pt idx="69">
                  <c:v>399</c:v>
                </c:pt>
                <c:pt idx="70">
                  <c:v>400</c:v>
                </c:pt>
                <c:pt idx="71">
                  <c:v>401</c:v>
                </c:pt>
                <c:pt idx="72">
                  <c:v>402</c:v>
                </c:pt>
                <c:pt idx="73">
                  <c:v>403</c:v>
                </c:pt>
                <c:pt idx="74">
                  <c:v>404</c:v>
                </c:pt>
                <c:pt idx="75">
                  <c:v>405</c:v>
                </c:pt>
                <c:pt idx="76">
                  <c:v>406</c:v>
                </c:pt>
                <c:pt idx="77">
                  <c:v>407</c:v>
                </c:pt>
                <c:pt idx="78">
                  <c:v>408</c:v>
                </c:pt>
                <c:pt idx="79">
                  <c:v>409</c:v>
                </c:pt>
                <c:pt idx="80">
                  <c:v>410</c:v>
                </c:pt>
                <c:pt idx="81">
                  <c:v>411</c:v>
                </c:pt>
                <c:pt idx="82">
                  <c:v>412</c:v>
                </c:pt>
                <c:pt idx="83">
                  <c:v>413</c:v>
                </c:pt>
                <c:pt idx="84">
                  <c:v>414</c:v>
                </c:pt>
                <c:pt idx="85">
                  <c:v>415</c:v>
                </c:pt>
                <c:pt idx="86">
                  <c:v>416</c:v>
                </c:pt>
                <c:pt idx="87">
                  <c:v>417</c:v>
                </c:pt>
                <c:pt idx="88">
                  <c:v>418</c:v>
                </c:pt>
                <c:pt idx="89">
                  <c:v>419</c:v>
                </c:pt>
                <c:pt idx="90">
                  <c:v>420</c:v>
                </c:pt>
                <c:pt idx="91">
                  <c:v>421</c:v>
                </c:pt>
                <c:pt idx="92">
                  <c:v>422</c:v>
                </c:pt>
                <c:pt idx="93">
                  <c:v>423</c:v>
                </c:pt>
                <c:pt idx="94">
                  <c:v>424</c:v>
                </c:pt>
                <c:pt idx="95">
                  <c:v>425</c:v>
                </c:pt>
                <c:pt idx="96">
                  <c:v>426</c:v>
                </c:pt>
                <c:pt idx="97">
                  <c:v>427</c:v>
                </c:pt>
                <c:pt idx="98">
                  <c:v>428</c:v>
                </c:pt>
                <c:pt idx="99">
                  <c:v>429</c:v>
                </c:pt>
                <c:pt idx="100">
                  <c:v>430</c:v>
                </c:pt>
                <c:pt idx="101">
                  <c:v>431</c:v>
                </c:pt>
                <c:pt idx="102">
                  <c:v>432</c:v>
                </c:pt>
                <c:pt idx="103">
                  <c:v>433</c:v>
                </c:pt>
                <c:pt idx="104">
                  <c:v>434</c:v>
                </c:pt>
                <c:pt idx="105">
                  <c:v>435</c:v>
                </c:pt>
                <c:pt idx="106">
                  <c:v>436</c:v>
                </c:pt>
                <c:pt idx="107">
                  <c:v>437</c:v>
                </c:pt>
                <c:pt idx="108">
                  <c:v>438</c:v>
                </c:pt>
                <c:pt idx="109">
                  <c:v>439</c:v>
                </c:pt>
                <c:pt idx="110">
                  <c:v>440</c:v>
                </c:pt>
                <c:pt idx="111">
                  <c:v>441</c:v>
                </c:pt>
                <c:pt idx="112">
                  <c:v>442</c:v>
                </c:pt>
                <c:pt idx="113">
                  <c:v>443</c:v>
                </c:pt>
                <c:pt idx="114">
                  <c:v>444</c:v>
                </c:pt>
                <c:pt idx="115">
                  <c:v>445</c:v>
                </c:pt>
                <c:pt idx="116">
                  <c:v>446</c:v>
                </c:pt>
              </c:numCache>
            </c:numRef>
          </c:xVal>
          <c:yVal>
            <c:numRef>
              <c:f>'Chart Data'!$F$2:$F$118</c:f>
              <c:numCache>
                <c:formatCode>0.0</c:formatCode>
                <c:ptCount val="117"/>
                <c:pt idx="0">
                  <c:v>0.004</c:v>
                </c:pt>
                <c:pt idx="1">
                  <c:v>0.005333</c:v>
                </c:pt>
                <c:pt idx="2">
                  <c:v>0.007333</c:v>
                </c:pt>
                <c:pt idx="3">
                  <c:v>0.01</c:v>
                </c:pt>
                <c:pt idx="4">
                  <c:v>0.007333</c:v>
                </c:pt>
                <c:pt idx="5">
                  <c:v>0.008667</c:v>
                </c:pt>
                <c:pt idx="6">
                  <c:v>0.007333</c:v>
                </c:pt>
                <c:pt idx="7">
                  <c:v>0.005333</c:v>
                </c:pt>
                <c:pt idx="8">
                  <c:v>0.001333</c:v>
                </c:pt>
                <c:pt idx="9">
                  <c:v>0.004</c:v>
                </c:pt>
                <c:pt idx="10">
                  <c:v>0.005333</c:v>
                </c:pt>
                <c:pt idx="11">
                  <c:v>0.005333</c:v>
                </c:pt>
                <c:pt idx="12">
                  <c:v>0.011333</c:v>
                </c:pt>
                <c:pt idx="13">
                  <c:v>0.01</c:v>
                </c:pt>
                <c:pt idx="14">
                  <c:v>0.011333</c:v>
                </c:pt>
                <c:pt idx="15">
                  <c:v>0.012</c:v>
                </c:pt>
                <c:pt idx="16">
                  <c:v>0.008</c:v>
                </c:pt>
                <c:pt idx="17">
                  <c:v>0.008</c:v>
                </c:pt>
                <c:pt idx="18">
                  <c:v>0.004667</c:v>
                </c:pt>
                <c:pt idx="19">
                  <c:v>0.008667</c:v>
                </c:pt>
                <c:pt idx="20">
                  <c:v>0.012</c:v>
                </c:pt>
                <c:pt idx="21">
                  <c:v>0.02</c:v>
                </c:pt>
                <c:pt idx="22">
                  <c:v>0.041333</c:v>
                </c:pt>
                <c:pt idx="23">
                  <c:v>0.112667</c:v>
                </c:pt>
                <c:pt idx="24">
                  <c:v>0.123333</c:v>
                </c:pt>
                <c:pt idx="25">
                  <c:v>0.139333</c:v>
                </c:pt>
                <c:pt idx="26">
                  <c:v>0.123333</c:v>
                </c:pt>
                <c:pt idx="27">
                  <c:v>0.086667</c:v>
                </c:pt>
                <c:pt idx="28">
                  <c:v>0.052667</c:v>
                </c:pt>
                <c:pt idx="29">
                  <c:v>0.032667</c:v>
                </c:pt>
                <c:pt idx="30">
                  <c:v>0.041333</c:v>
                </c:pt>
                <c:pt idx="31">
                  <c:v>0.058</c:v>
                </c:pt>
                <c:pt idx="32">
                  <c:v>0.052667</c:v>
                </c:pt>
                <c:pt idx="33">
                  <c:v>0.047333</c:v>
                </c:pt>
                <c:pt idx="34">
                  <c:v>0.036</c:v>
                </c:pt>
                <c:pt idx="35">
                  <c:v>0.015333</c:v>
                </c:pt>
                <c:pt idx="36">
                  <c:v>0.030667</c:v>
                </c:pt>
                <c:pt idx="37">
                  <c:v>0.039333</c:v>
                </c:pt>
                <c:pt idx="38">
                  <c:v>0.039333</c:v>
                </c:pt>
                <c:pt idx="39">
                  <c:v>0.028667</c:v>
                </c:pt>
                <c:pt idx="40">
                  <c:v>0.016</c:v>
                </c:pt>
                <c:pt idx="41">
                  <c:v>0</c:v>
                </c:pt>
                <c:pt idx="42">
                  <c:v>0</c:v>
                </c:pt>
                <c:pt idx="43">
                  <c:v>0</c:v>
                </c:pt>
                <c:pt idx="44">
                  <c:v>0</c:v>
                </c:pt>
                <c:pt idx="45">
                  <c:v>0</c:v>
                </c:pt>
                <c:pt idx="46">
                  <c:v>0</c:v>
                </c:pt>
                <c:pt idx="47">
                  <c:v>0</c:v>
                </c:pt>
                <c:pt idx="48">
                  <c:v>0</c:v>
                </c:pt>
                <c:pt idx="49">
                  <c:v>0</c:v>
                </c:pt>
                <c:pt idx="50">
                  <c:v>0</c:v>
                </c:pt>
                <c:pt idx="51">
                  <c:v>0.003333</c:v>
                </c:pt>
                <c:pt idx="52">
                  <c:v>0.005333</c:v>
                </c:pt>
                <c:pt idx="53">
                  <c:v>0.005333</c:v>
                </c:pt>
                <c:pt idx="54">
                  <c:v>0.005333</c:v>
                </c:pt>
                <c:pt idx="55">
                  <c:v>0.003333</c:v>
                </c:pt>
                <c:pt idx="56">
                  <c:v>0</c:v>
                </c:pt>
                <c:pt idx="57">
                  <c:v>0</c:v>
                </c:pt>
                <c:pt idx="58">
                  <c:v>0</c:v>
                </c:pt>
                <c:pt idx="59">
                  <c:v>0</c:v>
                </c:pt>
                <c:pt idx="60">
                  <c:v>0.041333</c:v>
                </c:pt>
                <c:pt idx="61">
                  <c:v>0.046667</c:v>
                </c:pt>
                <c:pt idx="62">
                  <c:v>0.059333</c:v>
                </c:pt>
                <c:pt idx="63">
                  <c:v>0.082667</c:v>
                </c:pt>
                <c:pt idx="64">
                  <c:v>0.121333</c:v>
                </c:pt>
                <c:pt idx="65">
                  <c:v>0.274667</c:v>
                </c:pt>
                <c:pt idx="66">
                  <c:v>0.519333</c:v>
                </c:pt>
                <c:pt idx="67">
                  <c:v>0.601333</c:v>
                </c:pt>
                <c:pt idx="68">
                  <c:v>0.693333</c:v>
                </c:pt>
                <c:pt idx="69">
                  <c:v>0.73</c:v>
                </c:pt>
                <c:pt idx="70">
                  <c:v>0.682667</c:v>
                </c:pt>
                <c:pt idx="71">
                  <c:v>0.640667</c:v>
                </c:pt>
                <c:pt idx="72">
                  <c:v>0.536</c:v>
                </c:pt>
                <c:pt idx="73">
                  <c:v>0.345333</c:v>
                </c:pt>
                <c:pt idx="74">
                  <c:v>0.18</c:v>
                </c:pt>
                <c:pt idx="75">
                  <c:v>0.089333</c:v>
                </c:pt>
                <c:pt idx="76">
                  <c:v>0.036</c:v>
                </c:pt>
                <c:pt idx="77">
                  <c:v>0.032</c:v>
                </c:pt>
                <c:pt idx="78">
                  <c:v>0.047333</c:v>
                </c:pt>
                <c:pt idx="79">
                  <c:v>0.088</c:v>
                </c:pt>
                <c:pt idx="80">
                  <c:v>0.100667</c:v>
                </c:pt>
                <c:pt idx="81">
                  <c:v>0.095333</c:v>
                </c:pt>
                <c:pt idx="82">
                  <c:v>0.090667</c:v>
                </c:pt>
                <c:pt idx="83">
                  <c:v>0.066</c:v>
                </c:pt>
                <c:pt idx="84">
                  <c:v>0.032667</c:v>
                </c:pt>
                <c:pt idx="85">
                  <c:v>0.030667</c:v>
                </c:pt>
                <c:pt idx="86">
                  <c:v>0.017333</c:v>
                </c:pt>
                <c:pt idx="87">
                  <c:v>0.015333</c:v>
                </c:pt>
                <c:pt idx="88">
                  <c:v>0.006667</c:v>
                </c:pt>
                <c:pt idx="89">
                  <c:v>0</c:v>
                </c:pt>
                <c:pt idx="90">
                  <c:v>0.000667</c:v>
                </c:pt>
                <c:pt idx="91">
                  <c:v>0.000667</c:v>
                </c:pt>
                <c:pt idx="92">
                  <c:v>0.000667</c:v>
                </c:pt>
                <c:pt idx="93">
                  <c:v>0.002</c:v>
                </c:pt>
                <c:pt idx="94">
                  <c:v>0.001333</c:v>
                </c:pt>
                <c:pt idx="95">
                  <c:v>0.027333</c:v>
                </c:pt>
                <c:pt idx="96">
                  <c:v>0.036</c:v>
                </c:pt>
                <c:pt idx="97">
                  <c:v>0.041333</c:v>
                </c:pt>
                <c:pt idx="98">
                  <c:v>0.047333</c:v>
                </c:pt>
                <c:pt idx="99">
                  <c:v>0.030667</c:v>
                </c:pt>
                <c:pt idx="100">
                  <c:v>0.016667</c:v>
                </c:pt>
                <c:pt idx="101">
                  <c:v>0.011333</c:v>
                </c:pt>
                <c:pt idx="102">
                  <c:v>0.009333</c:v>
                </c:pt>
                <c:pt idx="103">
                  <c:v>0.009333</c:v>
                </c:pt>
                <c:pt idx="104">
                  <c:v>0.010667</c:v>
                </c:pt>
                <c:pt idx="105">
                  <c:v>0.012667</c:v>
                </c:pt>
                <c:pt idx="106">
                  <c:v>0.02</c:v>
                </c:pt>
                <c:pt idx="107">
                  <c:v>0.018</c:v>
                </c:pt>
                <c:pt idx="108">
                  <c:v>0.018667</c:v>
                </c:pt>
                <c:pt idx="109">
                  <c:v>0.014667</c:v>
                </c:pt>
                <c:pt idx="110">
                  <c:v>0.008667</c:v>
                </c:pt>
                <c:pt idx="111">
                  <c:v>0.005333</c:v>
                </c:pt>
                <c:pt idx="112">
                  <c:v>0.006</c:v>
                </c:pt>
                <c:pt idx="113">
                  <c:v>0.006</c:v>
                </c:pt>
                <c:pt idx="114">
                  <c:v>0.005333</c:v>
                </c:pt>
                <c:pt idx="115">
                  <c:v>0.004</c:v>
                </c:pt>
                <c:pt idx="116">
                  <c:v>0</c:v>
                </c:pt>
              </c:numCache>
            </c:numRef>
          </c:yVal>
        </c:ser>
        <c:ser>
          <c:idx val="3"/>
          <c:order val="3"/>
          <c:tx>
            <c:v>expanded raw</c:v>
          </c:tx>
          <c:spPr>
            <a:ln xmlns:a="http://schemas.openxmlformats.org/drawingml/2006/main" w="23813">
              <a:solidFill>
                <a:srgbClr val="E7B78E"/>
              </a:solidFill>
            </a:ln>
          </c:spPr>
          <c:marker>
            <c:symbol val="none"/>
          </c:marker>
          <c:xVal>
            <c:numRef>
              <c:f>'Chart Data'!$G$2:$G$118</c:f>
              <c:numCache>
                <c:formatCode>General</c:formatCode>
                <c:ptCount val="11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372</c:v>
                </c:pt>
                <c:pt idx="43">
                  <c:v>373</c:v>
                </c:pt>
                <c:pt idx="44">
                  <c:v>374</c:v>
                </c:pt>
                <c:pt idx="45">
                  <c:v>375</c:v>
                </c:pt>
                <c:pt idx="46">
                  <c:v>376</c:v>
                </c:pt>
                <c:pt idx="47">
                  <c:v>377</c:v>
                </c:pt>
                <c:pt idx="48">
                  <c:v>378</c:v>
                </c:pt>
                <c:pt idx="49">
                  <c:v>379</c:v>
                </c:pt>
                <c:pt idx="50">
                  <c:v>380</c:v>
                </c:pt>
                <c:pt idx="51">
                  <c:v>381</c:v>
                </c:pt>
                <c:pt idx="52">
                  <c:v>382</c:v>
                </c:pt>
                <c:pt idx="53">
                  <c:v>383</c:v>
                </c:pt>
                <c:pt idx="54">
                  <c:v>384</c:v>
                </c:pt>
                <c:pt idx="55">
                  <c:v>385</c:v>
                </c:pt>
                <c:pt idx="56">
                  <c:v>386</c:v>
                </c:pt>
                <c:pt idx="57">
                  <c:v>387</c:v>
                </c:pt>
                <c:pt idx="58">
                  <c:v>388</c:v>
                </c:pt>
                <c:pt idx="59">
                  <c:v>389</c:v>
                </c:pt>
                <c:pt idx="60">
                  <c:v>390</c:v>
                </c:pt>
                <c:pt idx="61">
                  <c:v>391</c:v>
                </c:pt>
                <c:pt idx="62">
                  <c:v>392</c:v>
                </c:pt>
                <c:pt idx="63">
                  <c:v>393</c:v>
                </c:pt>
                <c:pt idx="64">
                  <c:v>394</c:v>
                </c:pt>
                <c:pt idx="65">
                  <c:v>395</c:v>
                </c:pt>
                <c:pt idx="66">
                  <c:v>396</c:v>
                </c:pt>
                <c:pt idx="67">
                  <c:v>397</c:v>
                </c:pt>
                <c:pt idx="68">
                  <c:v>398</c:v>
                </c:pt>
                <c:pt idx="69">
                  <c:v>399</c:v>
                </c:pt>
                <c:pt idx="70">
                  <c:v>400</c:v>
                </c:pt>
                <c:pt idx="71">
                  <c:v>401</c:v>
                </c:pt>
                <c:pt idx="72">
                  <c:v>402</c:v>
                </c:pt>
                <c:pt idx="73">
                  <c:v>403</c:v>
                </c:pt>
                <c:pt idx="74">
                  <c:v>404</c:v>
                </c:pt>
                <c:pt idx="75">
                  <c:v>405</c:v>
                </c:pt>
                <c:pt idx="76">
                  <c:v>406</c:v>
                </c:pt>
                <c:pt idx="77">
                  <c:v>407</c:v>
                </c:pt>
                <c:pt idx="78">
                  <c:v>408</c:v>
                </c:pt>
                <c:pt idx="79">
                  <c:v>409</c:v>
                </c:pt>
                <c:pt idx="80">
                  <c:v>410</c:v>
                </c:pt>
                <c:pt idx="81">
                  <c:v>411</c:v>
                </c:pt>
                <c:pt idx="82">
                  <c:v>412</c:v>
                </c:pt>
                <c:pt idx="83">
                  <c:v>413</c:v>
                </c:pt>
                <c:pt idx="84">
                  <c:v>414</c:v>
                </c:pt>
                <c:pt idx="85">
                  <c:v>415</c:v>
                </c:pt>
                <c:pt idx="86">
                  <c:v>416</c:v>
                </c:pt>
                <c:pt idx="87">
                  <c:v>417</c:v>
                </c:pt>
                <c:pt idx="88">
                  <c:v>418</c:v>
                </c:pt>
                <c:pt idx="89">
                  <c:v>419</c:v>
                </c:pt>
                <c:pt idx="90">
                  <c:v>420</c:v>
                </c:pt>
                <c:pt idx="91">
                  <c:v>421</c:v>
                </c:pt>
                <c:pt idx="92">
                  <c:v>422</c:v>
                </c:pt>
                <c:pt idx="93">
                  <c:v>423</c:v>
                </c:pt>
                <c:pt idx="94">
                  <c:v>424</c:v>
                </c:pt>
                <c:pt idx="95">
                  <c:v>425</c:v>
                </c:pt>
                <c:pt idx="96">
                  <c:v>426</c:v>
                </c:pt>
                <c:pt idx="97">
                  <c:v>427</c:v>
                </c:pt>
                <c:pt idx="98">
                  <c:v>428</c:v>
                </c:pt>
                <c:pt idx="99">
                  <c:v>429</c:v>
                </c:pt>
                <c:pt idx="100">
                  <c:v>430</c:v>
                </c:pt>
                <c:pt idx="101">
                  <c:v>431</c:v>
                </c:pt>
                <c:pt idx="102">
                  <c:v>432</c:v>
                </c:pt>
                <c:pt idx="103">
                  <c:v>433</c:v>
                </c:pt>
                <c:pt idx="104">
                  <c:v>434</c:v>
                </c:pt>
                <c:pt idx="105">
                  <c:v>435</c:v>
                </c:pt>
                <c:pt idx="106">
                  <c:v>436</c:v>
                </c:pt>
                <c:pt idx="107">
                  <c:v>437</c:v>
                </c:pt>
                <c:pt idx="108">
                  <c:v>438</c:v>
                </c:pt>
                <c:pt idx="109">
                  <c:v>439</c:v>
                </c:pt>
                <c:pt idx="110">
                  <c:v>440</c:v>
                </c:pt>
                <c:pt idx="111">
                  <c:v>441</c:v>
                </c:pt>
                <c:pt idx="112">
                  <c:v>442</c:v>
                </c:pt>
                <c:pt idx="113">
                  <c:v>443</c:v>
                </c:pt>
                <c:pt idx="114">
                  <c:v>444</c:v>
                </c:pt>
                <c:pt idx="115">
                  <c:v>445</c:v>
                </c:pt>
                <c:pt idx="116">
                  <c:v>446</c:v>
                </c:pt>
              </c:numCache>
            </c:numRef>
          </c:xVal>
          <c:yVal>
            <c:numRef>
              <c:f>'Chart Data'!$H$2:$H$118</c:f>
              <c:numCache>
                <c:formatCode>0.0</c:formatCode>
                <c:ptCount val="117"/>
                <c:pt idx="0">
                  <c:v>0.001435</c:v>
                </c:pt>
                <c:pt idx="1">
                  <c:v>0.002871</c:v>
                </c:pt>
                <c:pt idx="2">
                  <c:v>0.003828</c:v>
                </c:pt>
                <c:pt idx="3">
                  <c:v>0.005742</c:v>
                </c:pt>
                <c:pt idx="4">
                  <c:v>0.004785</c:v>
                </c:pt>
                <c:pt idx="5">
                  <c:v>0.005742</c:v>
                </c:pt>
                <c:pt idx="6">
                  <c:v>0.004785</c:v>
                </c:pt>
                <c:pt idx="7">
                  <c:v>0.003828</c:v>
                </c:pt>
                <c:pt idx="8">
                  <c:v>0.002392</c:v>
                </c:pt>
                <c:pt idx="9">
                  <c:v>0.002871</c:v>
                </c:pt>
                <c:pt idx="10">
                  <c:v>0.003828</c:v>
                </c:pt>
                <c:pt idx="11">
                  <c:v>0.005263</c:v>
                </c:pt>
                <c:pt idx="12">
                  <c:v>0.008134</c:v>
                </c:pt>
                <c:pt idx="13">
                  <c:v>0.007177</c:v>
                </c:pt>
                <c:pt idx="14">
                  <c:v>0.008134</c:v>
                </c:pt>
                <c:pt idx="15">
                  <c:v>0.010048</c:v>
                </c:pt>
                <c:pt idx="16">
                  <c:v>0.007656</c:v>
                </c:pt>
                <c:pt idx="17">
                  <c:v>0.007177</c:v>
                </c:pt>
                <c:pt idx="18">
                  <c:v>0.004785</c:v>
                </c:pt>
                <c:pt idx="19">
                  <c:v>0.004785</c:v>
                </c:pt>
                <c:pt idx="20">
                  <c:v>0.005742</c:v>
                </c:pt>
                <c:pt idx="21">
                  <c:v>0.009569</c:v>
                </c:pt>
                <c:pt idx="22">
                  <c:v>0.021053</c:v>
                </c:pt>
                <c:pt idx="23">
                  <c:v>0.058852</c:v>
                </c:pt>
                <c:pt idx="24">
                  <c:v>0.066986</c:v>
                </c:pt>
                <c:pt idx="25">
                  <c:v>0.074641</c:v>
                </c:pt>
                <c:pt idx="26">
                  <c:v>0.070335</c:v>
                </c:pt>
                <c:pt idx="27">
                  <c:v>0.051675</c:v>
                </c:pt>
                <c:pt idx="28">
                  <c:v>0.030622</c:v>
                </c:pt>
                <c:pt idx="29">
                  <c:v>0.018182</c:v>
                </c:pt>
                <c:pt idx="30">
                  <c:v>0.022488</c:v>
                </c:pt>
                <c:pt idx="31">
                  <c:v>0.038278</c:v>
                </c:pt>
                <c:pt idx="32">
                  <c:v>0.034928</c:v>
                </c:pt>
                <c:pt idx="33">
                  <c:v>0.032057</c:v>
                </c:pt>
                <c:pt idx="34">
                  <c:v>0.026794</c:v>
                </c:pt>
                <c:pt idx="35">
                  <c:v>0.011005</c:v>
                </c:pt>
                <c:pt idx="36">
                  <c:v>0.020096</c:v>
                </c:pt>
                <c:pt idx="37">
                  <c:v>0.025359</c:v>
                </c:pt>
                <c:pt idx="38">
                  <c:v>0.025359</c:v>
                </c:pt>
                <c:pt idx="39">
                  <c:v>0.017225</c:v>
                </c:pt>
                <c:pt idx="40">
                  <c:v>0.007656</c:v>
                </c:pt>
                <c:pt idx="41">
                  <c:v>0</c:v>
                </c:pt>
                <c:pt idx="42">
                  <c:v>0</c:v>
                </c:pt>
                <c:pt idx="43">
                  <c:v>0</c:v>
                </c:pt>
                <c:pt idx="44">
                  <c:v>0</c:v>
                </c:pt>
                <c:pt idx="45">
                  <c:v>0</c:v>
                </c:pt>
                <c:pt idx="46">
                  <c:v>0</c:v>
                </c:pt>
                <c:pt idx="47">
                  <c:v>0</c:v>
                </c:pt>
                <c:pt idx="48">
                  <c:v>0</c:v>
                </c:pt>
                <c:pt idx="49">
                  <c:v>0</c:v>
                </c:pt>
                <c:pt idx="50">
                  <c:v>0</c:v>
                </c:pt>
                <c:pt idx="51">
                  <c:v>0.003349</c:v>
                </c:pt>
                <c:pt idx="52">
                  <c:v>0.005263</c:v>
                </c:pt>
                <c:pt idx="53">
                  <c:v>0.005263</c:v>
                </c:pt>
                <c:pt idx="54">
                  <c:v>0.005263</c:v>
                </c:pt>
                <c:pt idx="55">
                  <c:v>0.002871</c:v>
                </c:pt>
                <c:pt idx="56">
                  <c:v>0.000478</c:v>
                </c:pt>
                <c:pt idx="57">
                  <c:v>0</c:v>
                </c:pt>
                <c:pt idx="58">
                  <c:v>0</c:v>
                </c:pt>
                <c:pt idx="59">
                  <c:v>0.000957</c:v>
                </c:pt>
                <c:pt idx="60">
                  <c:v>0.023445</c:v>
                </c:pt>
                <c:pt idx="61">
                  <c:v>0.029187</c:v>
                </c:pt>
                <c:pt idx="62">
                  <c:v>0.041148</c:v>
                </c:pt>
                <c:pt idx="63">
                  <c:v>0.058373</c:v>
                </c:pt>
                <c:pt idx="64">
                  <c:v>0.08134</c:v>
                </c:pt>
                <c:pt idx="65">
                  <c:v>0.170813</c:v>
                </c:pt>
                <c:pt idx="66">
                  <c:v>0.321053</c:v>
                </c:pt>
                <c:pt idx="67">
                  <c:v>0.392344</c:v>
                </c:pt>
                <c:pt idx="68">
                  <c:v>0.484211</c:v>
                </c:pt>
                <c:pt idx="69">
                  <c:v>0.54067</c:v>
                </c:pt>
                <c:pt idx="70">
                  <c:v>0.526794</c:v>
                </c:pt>
                <c:pt idx="71">
                  <c:v>0.504785</c:v>
                </c:pt>
                <c:pt idx="72">
                  <c:v>0.450718</c:v>
                </c:pt>
                <c:pt idx="73">
                  <c:v>0.302392</c:v>
                </c:pt>
                <c:pt idx="74">
                  <c:v>0.170335</c:v>
                </c:pt>
                <c:pt idx="75">
                  <c:v>0.090909</c:v>
                </c:pt>
                <c:pt idx="76">
                  <c:v>0.033014</c:v>
                </c:pt>
                <c:pt idx="77">
                  <c:v>0.019139</c:v>
                </c:pt>
                <c:pt idx="78">
                  <c:v>0.023445</c:v>
                </c:pt>
                <c:pt idx="79">
                  <c:v>0.043541</c:v>
                </c:pt>
                <c:pt idx="80">
                  <c:v>0.050239</c:v>
                </c:pt>
                <c:pt idx="81">
                  <c:v>0.049282</c:v>
                </c:pt>
                <c:pt idx="82">
                  <c:v>0.049761</c:v>
                </c:pt>
                <c:pt idx="83">
                  <c:v>0.036364</c:v>
                </c:pt>
                <c:pt idx="84">
                  <c:v>0.022967</c:v>
                </c:pt>
                <c:pt idx="85">
                  <c:v>0.022488</c:v>
                </c:pt>
                <c:pt idx="86">
                  <c:v>0.01244</c:v>
                </c:pt>
                <c:pt idx="87">
                  <c:v>0.010048</c:v>
                </c:pt>
                <c:pt idx="88">
                  <c:v>0.004785</c:v>
                </c:pt>
                <c:pt idx="89">
                  <c:v>0</c:v>
                </c:pt>
                <c:pt idx="90">
                  <c:v>0.000478</c:v>
                </c:pt>
                <c:pt idx="91">
                  <c:v>0.000478</c:v>
                </c:pt>
                <c:pt idx="92">
                  <c:v>0.000478</c:v>
                </c:pt>
                <c:pt idx="93">
                  <c:v>0.001435</c:v>
                </c:pt>
                <c:pt idx="94">
                  <c:v>0.000957</c:v>
                </c:pt>
                <c:pt idx="95">
                  <c:v>0.015789</c:v>
                </c:pt>
                <c:pt idx="96">
                  <c:v>0.019139</c:v>
                </c:pt>
                <c:pt idx="97">
                  <c:v>0.022488</c:v>
                </c:pt>
                <c:pt idx="98">
                  <c:v>0.025359</c:v>
                </c:pt>
                <c:pt idx="99">
                  <c:v>0.015311</c:v>
                </c:pt>
                <c:pt idx="100">
                  <c:v>0.01244</c:v>
                </c:pt>
                <c:pt idx="101">
                  <c:v>0.010048</c:v>
                </c:pt>
                <c:pt idx="102">
                  <c:v>0.012919</c:v>
                </c:pt>
                <c:pt idx="103">
                  <c:v>0.014833</c:v>
                </c:pt>
                <c:pt idx="104">
                  <c:v>0.013876</c:v>
                </c:pt>
                <c:pt idx="105">
                  <c:v>0.016746</c:v>
                </c:pt>
                <c:pt idx="106">
                  <c:v>0.022967</c:v>
                </c:pt>
                <c:pt idx="107">
                  <c:v>0.020096</c:v>
                </c:pt>
                <c:pt idx="108">
                  <c:v>0.020574</c:v>
                </c:pt>
                <c:pt idx="109">
                  <c:v>0.017225</c:v>
                </c:pt>
                <c:pt idx="110">
                  <c:v>0.011005</c:v>
                </c:pt>
                <c:pt idx="111">
                  <c:v>0.005742</c:v>
                </c:pt>
                <c:pt idx="112">
                  <c:v>0.004785</c:v>
                </c:pt>
                <c:pt idx="113">
                  <c:v>0.004785</c:v>
                </c:pt>
                <c:pt idx="114">
                  <c:v>0.003349</c:v>
                </c:pt>
                <c:pt idx="115">
                  <c:v>0.002392</c:v>
                </c:pt>
                <c:pt idx="116">
                  <c:v>0</c:v>
                </c:pt>
              </c:numCache>
            </c:numRef>
          </c:yVal>
        </c:ser>
        <c:ser>
          <c:idx val="4"/>
          <c:order val="4"/>
          <c:tx>
            <c:v>expanded selected</c:v>
          </c:tx>
          <c:spPr>
            <a:ln xmlns:a="http://schemas.openxmlformats.org/drawingml/2006/main" w="23813">
              <a:solidFill>
                <a:srgbClr val="DA762F"/>
              </a:solidFill>
            </a:ln>
          </c:spPr>
          <c:marker>
            <c:symbol val="none"/>
          </c:marker>
          <c:xVal>
            <c:numRef>
              <c:f>'Chart Data'!$I$2:$I$118</c:f>
              <c:numCache>
                <c:formatCode>General</c:formatCode>
                <c:ptCount val="11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372</c:v>
                </c:pt>
                <c:pt idx="43">
                  <c:v>373</c:v>
                </c:pt>
                <c:pt idx="44">
                  <c:v>374</c:v>
                </c:pt>
                <c:pt idx="45">
                  <c:v>375</c:v>
                </c:pt>
                <c:pt idx="46">
                  <c:v>376</c:v>
                </c:pt>
                <c:pt idx="47">
                  <c:v>377</c:v>
                </c:pt>
                <c:pt idx="48">
                  <c:v>378</c:v>
                </c:pt>
                <c:pt idx="49">
                  <c:v>379</c:v>
                </c:pt>
                <c:pt idx="50">
                  <c:v>380</c:v>
                </c:pt>
                <c:pt idx="51">
                  <c:v>381</c:v>
                </c:pt>
                <c:pt idx="52">
                  <c:v>382</c:v>
                </c:pt>
                <c:pt idx="53">
                  <c:v>383</c:v>
                </c:pt>
                <c:pt idx="54">
                  <c:v>384</c:v>
                </c:pt>
                <c:pt idx="55">
                  <c:v>385</c:v>
                </c:pt>
                <c:pt idx="56">
                  <c:v>386</c:v>
                </c:pt>
                <c:pt idx="57">
                  <c:v>387</c:v>
                </c:pt>
                <c:pt idx="58">
                  <c:v>388</c:v>
                </c:pt>
                <c:pt idx="59">
                  <c:v>389</c:v>
                </c:pt>
                <c:pt idx="60">
                  <c:v>390</c:v>
                </c:pt>
                <c:pt idx="61">
                  <c:v>391</c:v>
                </c:pt>
                <c:pt idx="62">
                  <c:v>392</c:v>
                </c:pt>
                <c:pt idx="63">
                  <c:v>393</c:v>
                </c:pt>
                <c:pt idx="64">
                  <c:v>394</c:v>
                </c:pt>
                <c:pt idx="65">
                  <c:v>395</c:v>
                </c:pt>
                <c:pt idx="66">
                  <c:v>396</c:v>
                </c:pt>
                <c:pt idx="67">
                  <c:v>397</c:v>
                </c:pt>
                <c:pt idx="68">
                  <c:v>398</c:v>
                </c:pt>
                <c:pt idx="69">
                  <c:v>399</c:v>
                </c:pt>
                <c:pt idx="70">
                  <c:v>400</c:v>
                </c:pt>
                <c:pt idx="71">
                  <c:v>401</c:v>
                </c:pt>
                <c:pt idx="72">
                  <c:v>402</c:v>
                </c:pt>
                <c:pt idx="73">
                  <c:v>403</c:v>
                </c:pt>
                <c:pt idx="74">
                  <c:v>404</c:v>
                </c:pt>
                <c:pt idx="75">
                  <c:v>405</c:v>
                </c:pt>
                <c:pt idx="76">
                  <c:v>406</c:v>
                </c:pt>
                <c:pt idx="77">
                  <c:v>407</c:v>
                </c:pt>
                <c:pt idx="78">
                  <c:v>408</c:v>
                </c:pt>
                <c:pt idx="79">
                  <c:v>409</c:v>
                </c:pt>
                <c:pt idx="80">
                  <c:v>410</c:v>
                </c:pt>
                <c:pt idx="81">
                  <c:v>411</c:v>
                </c:pt>
                <c:pt idx="82">
                  <c:v>412</c:v>
                </c:pt>
                <c:pt idx="83">
                  <c:v>413</c:v>
                </c:pt>
                <c:pt idx="84">
                  <c:v>414</c:v>
                </c:pt>
                <c:pt idx="85">
                  <c:v>415</c:v>
                </c:pt>
                <c:pt idx="86">
                  <c:v>416</c:v>
                </c:pt>
                <c:pt idx="87">
                  <c:v>417</c:v>
                </c:pt>
                <c:pt idx="88">
                  <c:v>418</c:v>
                </c:pt>
                <c:pt idx="89">
                  <c:v>419</c:v>
                </c:pt>
                <c:pt idx="90">
                  <c:v>420</c:v>
                </c:pt>
                <c:pt idx="91">
                  <c:v>421</c:v>
                </c:pt>
                <c:pt idx="92">
                  <c:v>422</c:v>
                </c:pt>
                <c:pt idx="93">
                  <c:v>423</c:v>
                </c:pt>
                <c:pt idx="94">
                  <c:v>424</c:v>
                </c:pt>
                <c:pt idx="95">
                  <c:v>425</c:v>
                </c:pt>
                <c:pt idx="96">
                  <c:v>426</c:v>
                </c:pt>
                <c:pt idx="97">
                  <c:v>427</c:v>
                </c:pt>
                <c:pt idx="98">
                  <c:v>428</c:v>
                </c:pt>
                <c:pt idx="99">
                  <c:v>429</c:v>
                </c:pt>
                <c:pt idx="100">
                  <c:v>430</c:v>
                </c:pt>
                <c:pt idx="101">
                  <c:v>431</c:v>
                </c:pt>
                <c:pt idx="102">
                  <c:v>432</c:v>
                </c:pt>
                <c:pt idx="103">
                  <c:v>433</c:v>
                </c:pt>
                <c:pt idx="104">
                  <c:v>434</c:v>
                </c:pt>
                <c:pt idx="105">
                  <c:v>435</c:v>
                </c:pt>
                <c:pt idx="106">
                  <c:v>436</c:v>
                </c:pt>
                <c:pt idx="107">
                  <c:v>437</c:v>
                </c:pt>
                <c:pt idx="108">
                  <c:v>438</c:v>
                </c:pt>
                <c:pt idx="109">
                  <c:v>439</c:v>
                </c:pt>
                <c:pt idx="110">
                  <c:v>440</c:v>
                </c:pt>
                <c:pt idx="111">
                  <c:v>441</c:v>
                </c:pt>
                <c:pt idx="112">
                  <c:v>442</c:v>
                </c:pt>
                <c:pt idx="113">
                  <c:v>443</c:v>
                </c:pt>
                <c:pt idx="114">
                  <c:v>444</c:v>
                </c:pt>
                <c:pt idx="115">
                  <c:v>445</c:v>
                </c:pt>
                <c:pt idx="116">
                  <c:v>446</c:v>
                </c:pt>
              </c:numCache>
            </c:numRef>
          </c:xVal>
          <c:yVal>
            <c:numRef>
              <c:f>'Chart Data'!$J$2:$J$118</c:f>
              <c:numCache>
                <c:formatCode>0.0</c:formatCode>
                <c:ptCount val="117"/>
                <c:pt idx="0">
                  <c:v>0.001333</c:v>
                </c:pt>
                <c:pt idx="1">
                  <c:v>0.002667</c:v>
                </c:pt>
                <c:pt idx="2">
                  <c:v>0.004</c:v>
                </c:pt>
                <c:pt idx="3">
                  <c:v>0.005333</c:v>
                </c:pt>
                <c:pt idx="4">
                  <c:v>0.004</c:v>
                </c:pt>
                <c:pt idx="5">
                  <c:v>0.006667</c:v>
                </c:pt>
                <c:pt idx="6">
                  <c:v>0.006</c:v>
                </c:pt>
                <c:pt idx="7">
                  <c:v>0.005333</c:v>
                </c:pt>
                <c:pt idx="8">
                  <c:v>0.004</c:v>
                </c:pt>
                <c:pt idx="9">
                  <c:v>0.004</c:v>
                </c:pt>
                <c:pt idx="10">
                  <c:v>0.006</c:v>
                </c:pt>
                <c:pt idx="11">
                  <c:v>0.006</c:v>
                </c:pt>
                <c:pt idx="12">
                  <c:v>0.01</c:v>
                </c:pt>
                <c:pt idx="13">
                  <c:v>0.009333</c:v>
                </c:pt>
                <c:pt idx="14">
                  <c:v>0.008</c:v>
                </c:pt>
                <c:pt idx="15">
                  <c:v>0.008</c:v>
                </c:pt>
                <c:pt idx="16">
                  <c:v>0.004667</c:v>
                </c:pt>
                <c:pt idx="17">
                  <c:v>0.004</c:v>
                </c:pt>
                <c:pt idx="18">
                  <c:v>0.000667</c:v>
                </c:pt>
                <c:pt idx="19">
                  <c:v>0.006</c:v>
                </c:pt>
                <c:pt idx="20">
                  <c:v>0.007333</c:v>
                </c:pt>
                <c:pt idx="21">
                  <c:v>0.015333</c:v>
                </c:pt>
                <c:pt idx="22">
                  <c:v>0.04</c:v>
                </c:pt>
                <c:pt idx="23">
                  <c:v>0.117333</c:v>
                </c:pt>
                <c:pt idx="24">
                  <c:v>0.131333</c:v>
                </c:pt>
                <c:pt idx="25">
                  <c:v>0.148667</c:v>
                </c:pt>
                <c:pt idx="26">
                  <c:v>0.132667</c:v>
                </c:pt>
                <c:pt idx="27">
                  <c:v>0.093333</c:v>
                </c:pt>
                <c:pt idx="28">
                  <c:v>0.049333</c:v>
                </c:pt>
                <c:pt idx="29">
                  <c:v>0.028667</c:v>
                </c:pt>
                <c:pt idx="30">
                  <c:v>0.036667</c:v>
                </c:pt>
                <c:pt idx="31">
                  <c:v>0.054667</c:v>
                </c:pt>
                <c:pt idx="32">
                  <c:v>0.049333</c:v>
                </c:pt>
                <c:pt idx="33">
                  <c:v>0.046</c:v>
                </c:pt>
                <c:pt idx="34">
                  <c:v>0.035333</c:v>
                </c:pt>
                <c:pt idx="35">
                  <c:v>0.015333</c:v>
                </c:pt>
                <c:pt idx="36">
                  <c:v>0.027333</c:v>
                </c:pt>
                <c:pt idx="37">
                  <c:v>0.037333</c:v>
                </c:pt>
                <c:pt idx="38">
                  <c:v>0.037333</c:v>
                </c:pt>
                <c:pt idx="39">
                  <c:v>0.026667</c:v>
                </c:pt>
                <c:pt idx="40">
                  <c:v>0.015333</c:v>
                </c:pt>
                <c:pt idx="41">
                  <c:v>0</c:v>
                </c:pt>
                <c:pt idx="42">
                  <c:v>0</c:v>
                </c:pt>
                <c:pt idx="43">
                  <c:v>0</c:v>
                </c:pt>
                <c:pt idx="44">
                  <c:v>0</c:v>
                </c:pt>
                <c:pt idx="45">
                  <c:v>0</c:v>
                </c:pt>
                <c:pt idx="46">
                  <c:v>0</c:v>
                </c:pt>
                <c:pt idx="47">
                  <c:v>0</c:v>
                </c:pt>
                <c:pt idx="48">
                  <c:v>0</c:v>
                </c:pt>
                <c:pt idx="49">
                  <c:v>0</c:v>
                </c:pt>
                <c:pt idx="50">
                  <c:v>0</c:v>
                </c:pt>
                <c:pt idx="51">
                  <c:v>0.006</c:v>
                </c:pt>
                <c:pt idx="52">
                  <c:v>0.008</c:v>
                </c:pt>
                <c:pt idx="53">
                  <c:v>0.008</c:v>
                </c:pt>
                <c:pt idx="54">
                  <c:v>0.008</c:v>
                </c:pt>
                <c:pt idx="55">
                  <c:v>0.003333</c:v>
                </c:pt>
                <c:pt idx="56">
                  <c:v>0</c:v>
                </c:pt>
                <c:pt idx="57">
                  <c:v>0</c:v>
                </c:pt>
                <c:pt idx="58">
                  <c:v>0</c:v>
                </c:pt>
                <c:pt idx="59">
                  <c:v>0.002667</c:v>
                </c:pt>
                <c:pt idx="60">
                  <c:v>0.046667</c:v>
                </c:pt>
                <c:pt idx="61">
                  <c:v>0.059333</c:v>
                </c:pt>
                <c:pt idx="62">
                  <c:v>0.078667</c:v>
                </c:pt>
                <c:pt idx="63">
                  <c:v>0.116667</c:v>
                </c:pt>
                <c:pt idx="64">
                  <c:v>0.151333</c:v>
                </c:pt>
                <c:pt idx="65">
                  <c:v>0.298</c:v>
                </c:pt>
                <c:pt idx="66">
                  <c:v>0.514667</c:v>
                </c:pt>
                <c:pt idx="67">
                  <c:v>0.592667</c:v>
                </c:pt>
                <c:pt idx="68">
                  <c:v>0.677333</c:v>
                </c:pt>
                <c:pt idx="69">
                  <c:v>0.713333</c:v>
                </c:pt>
                <c:pt idx="70">
                  <c:v>0.682667</c:v>
                </c:pt>
                <c:pt idx="71">
                  <c:v>0.64</c:v>
                </c:pt>
                <c:pt idx="72">
                  <c:v>0.538667</c:v>
                </c:pt>
                <c:pt idx="73">
                  <c:v>0.358</c:v>
                </c:pt>
                <c:pt idx="74">
                  <c:v>0.175333</c:v>
                </c:pt>
                <c:pt idx="75">
                  <c:v>0.088667</c:v>
                </c:pt>
                <c:pt idx="76">
                  <c:v>0.040667</c:v>
                </c:pt>
                <c:pt idx="77">
                  <c:v>0.030667</c:v>
                </c:pt>
                <c:pt idx="78">
                  <c:v>0.046667</c:v>
                </c:pt>
                <c:pt idx="79">
                  <c:v>0.097333</c:v>
                </c:pt>
                <c:pt idx="80">
                  <c:v>0.106</c:v>
                </c:pt>
                <c:pt idx="81">
                  <c:v>0.100667</c:v>
                </c:pt>
                <c:pt idx="82">
                  <c:v>0.096667</c:v>
                </c:pt>
                <c:pt idx="83">
                  <c:v>0.068667</c:v>
                </c:pt>
                <c:pt idx="84">
                  <c:v>0.044</c:v>
                </c:pt>
                <c:pt idx="85">
                  <c:v>0.038667</c:v>
                </c:pt>
                <c:pt idx="86">
                  <c:v>0.018</c:v>
                </c:pt>
                <c:pt idx="87">
                  <c:v>0.016</c:v>
                </c:pt>
                <c:pt idx="88">
                  <c:v>0.006</c:v>
                </c:pt>
                <c:pt idx="89">
                  <c:v>0</c:v>
                </c:pt>
                <c:pt idx="90">
                  <c:v>0</c:v>
                </c:pt>
                <c:pt idx="91">
                  <c:v>0</c:v>
                </c:pt>
                <c:pt idx="92">
                  <c:v>0</c:v>
                </c:pt>
                <c:pt idx="93">
                  <c:v>0</c:v>
                </c:pt>
                <c:pt idx="94">
                  <c:v>0</c:v>
                </c:pt>
                <c:pt idx="95">
                  <c:v>0.019333</c:v>
                </c:pt>
                <c:pt idx="96">
                  <c:v>0.025333</c:v>
                </c:pt>
                <c:pt idx="97">
                  <c:v>0.03</c:v>
                </c:pt>
                <c:pt idx="98">
                  <c:v>0.036667</c:v>
                </c:pt>
                <c:pt idx="99">
                  <c:v>0.024</c:v>
                </c:pt>
                <c:pt idx="100">
                  <c:v>0.015333</c:v>
                </c:pt>
                <c:pt idx="101">
                  <c:v>0.012667</c:v>
                </c:pt>
                <c:pt idx="102">
                  <c:v>0.012667</c:v>
                </c:pt>
                <c:pt idx="103">
                  <c:v>0.014667</c:v>
                </c:pt>
                <c:pt idx="104">
                  <c:v>0.014667</c:v>
                </c:pt>
                <c:pt idx="105">
                  <c:v>0.020667</c:v>
                </c:pt>
                <c:pt idx="106">
                  <c:v>0.025333</c:v>
                </c:pt>
                <c:pt idx="107">
                  <c:v>0.019333</c:v>
                </c:pt>
                <c:pt idx="108">
                  <c:v>0.019333</c:v>
                </c:pt>
                <c:pt idx="109">
                  <c:v>0.012</c:v>
                </c:pt>
                <c:pt idx="110">
                  <c:v>0.007333</c:v>
                </c:pt>
                <c:pt idx="111">
                  <c:v>0.003333</c:v>
                </c:pt>
                <c:pt idx="112">
                  <c:v>0.005333</c:v>
                </c:pt>
                <c:pt idx="113">
                  <c:v>0.005333</c:v>
                </c:pt>
                <c:pt idx="114">
                  <c:v>0.004</c:v>
                </c:pt>
                <c:pt idx="115">
                  <c:v>0.004</c:v>
                </c:pt>
                <c:pt idx="116">
                  <c:v>0</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DE4E8"/>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Helix population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valAx>
      <c:valAx>
        <c:axId val="48650112"/>
        <c:scaling>
          <c:orientation val="minMax"/>
          <c:max val="446"/>
          <c:min val="33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AR residue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Raw pool</c:v>
          </c:tx>
          <c:spPr>
            <a:ln xmlns:a="http://schemas.openxmlformats.org/drawingml/2006/main" w="23813">
              <a:solidFill>
                <a:srgbClr val="596973"/>
              </a:solidFill>
            </a:ln>
          </c:spPr>
          <c:marker>
            <c:symbol val="none"/>
          </c:marker>
          <c:xVal>
            <c:numRef>
              <c:f>'Chart Data'!$A$2:$A$108</c:f>
              <c:numCache>
                <c:formatCode>General</c:formatCode>
                <c:ptCount val="10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380</c:v>
                </c:pt>
                <c:pt idx="43">
                  <c:v>381</c:v>
                </c:pt>
                <c:pt idx="44">
                  <c:v>382</c:v>
                </c:pt>
                <c:pt idx="45">
                  <c:v>383</c:v>
                </c:pt>
                <c:pt idx="46">
                  <c:v>384</c:v>
                </c:pt>
                <c:pt idx="47">
                  <c:v>385</c:v>
                </c:pt>
                <c:pt idx="48">
                  <c:v>386</c:v>
                </c:pt>
                <c:pt idx="49">
                  <c:v>387</c:v>
                </c:pt>
                <c:pt idx="50">
                  <c:v>388</c:v>
                </c:pt>
                <c:pt idx="51">
                  <c:v>389</c:v>
                </c:pt>
                <c:pt idx="52">
                  <c:v>390</c:v>
                </c:pt>
                <c:pt idx="53">
                  <c:v>391</c:v>
                </c:pt>
                <c:pt idx="54">
                  <c:v>392</c:v>
                </c:pt>
                <c:pt idx="55">
                  <c:v>393</c:v>
                </c:pt>
                <c:pt idx="56">
                  <c:v>394</c:v>
                </c:pt>
                <c:pt idx="57">
                  <c:v>395</c:v>
                </c:pt>
                <c:pt idx="58">
                  <c:v>396</c:v>
                </c:pt>
                <c:pt idx="59">
                  <c:v>397</c:v>
                </c:pt>
                <c:pt idx="60">
                  <c:v>398</c:v>
                </c:pt>
                <c:pt idx="61">
                  <c:v>399</c:v>
                </c:pt>
                <c:pt idx="62">
                  <c:v>400</c:v>
                </c:pt>
                <c:pt idx="63">
                  <c:v>401</c:v>
                </c:pt>
                <c:pt idx="64">
                  <c:v>403</c:v>
                </c:pt>
                <c:pt idx="65">
                  <c:v>404</c:v>
                </c:pt>
                <c:pt idx="66">
                  <c:v>405</c:v>
                </c:pt>
                <c:pt idx="67">
                  <c:v>406</c:v>
                </c:pt>
                <c:pt idx="68">
                  <c:v>407</c:v>
                </c:pt>
                <c:pt idx="69">
                  <c:v>408</c:v>
                </c:pt>
                <c:pt idx="70">
                  <c:v>409</c:v>
                </c:pt>
                <c:pt idx="71">
                  <c:v>410</c:v>
                </c:pt>
                <c:pt idx="72">
                  <c:v>411</c:v>
                </c:pt>
                <c:pt idx="73">
                  <c:v>412</c:v>
                </c:pt>
                <c:pt idx="74">
                  <c:v>413</c:v>
                </c:pt>
                <c:pt idx="75">
                  <c:v>414</c:v>
                </c:pt>
                <c:pt idx="76">
                  <c:v>415</c:v>
                </c:pt>
                <c:pt idx="77">
                  <c:v>416</c:v>
                </c:pt>
                <c:pt idx="78">
                  <c:v>417</c:v>
                </c:pt>
                <c:pt idx="79">
                  <c:v>419</c:v>
                </c:pt>
                <c:pt idx="80">
                  <c:v>420</c:v>
                </c:pt>
                <c:pt idx="81">
                  <c:v>421</c:v>
                </c:pt>
                <c:pt idx="82">
                  <c:v>422</c:v>
                </c:pt>
                <c:pt idx="83">
                  <c:v>423</c:v>
                </c:pt>
                <c:pt idx="84">
                  <c:v>424</c:v>
                </c:pt>
                <c:pt idx="85">
                  <c:v>425</c:v>
                </c:pt>
                <c:pt idx="86">
                  <c:v>426</c:v>
                </c:pt>
                <c:pt idx="87">
                  <c:v>427</c:v>
                </c:pt>
                <c:pt idx="88">
                  <c:v>428</c:v>
                </c:pt>
                <c:pt idx="89">
                  <c:v>429</c:v>
                </c:pt>
                <c:pt idx="90">
                  <c:v>430</c:v>
                </c:pt>
                <c:pt idx="91">
                  <c:v>431</c:v>
                </c:pt>
                <c:pt idx="92">
                  <c:v>432</c:v>
                </c:pt>
                <c:pt idx="93">
                  <c:v>433</c:v>
                </c:pt>
                <c:pt idx="94">
                  <c:v>434</c:v>
                </c:pt>
                <c:pt idx="95">
                  <c:v>435</c:v>
                </c:pt>
                <c:pt idx="96">
                  <c:v>436</c:v>
                </c:pt>
                <c:pt idx="97">
                  <c:v>437</c:v>
                </c:pt>
                <c:pt idx="98">
                  <c:v>438</c:v>
                </c:pt>
                <c:pt idx="99">
                  <c:v>439</c:v>
                </c:pt>
                <c:pt idx="100">
                  <c:v>440</c:v>
                </c:pt>
                <c:pt idx="101">
                  <c:v>441</c:v>
                </c:pt>
                <c:pt idx="102">
                  <c:v>442</c:v>
                </c:pt>
                <c:pt idx="103">
                  <c:v>443</c:v>
                </c:pt>
                <c:pt idx="104">
                  <c:v>444</c:v>
                </c:pt>
                <c:pt idx="105">
                  <c:v>445</c:v>
                </c:pt>
                <c:pt idx="106">
                  <c:v>446</c:v>
                </c:pt>
              </c:numCache>
            </c:numRef>
          </c:xVal>
          <c:yVal>
            <c:numRef>
              <c:f>'Chart Data'!$B$2:$B$108</c:f>
              <c:numCache>
                <c:formatCode>0.0</c:formatCode>
                <c:ptCount val="107"/>
                <c:pt idx="0">
                  <c:v>0.363313</c:v>
                </c:pt>
                <c:pt idx="1">
                  <c:v>0.132046</c:v>
                </c:pt>
                <c:pt idx="2">
                  <c:v>0.2364</c:v>
                </c:pt>
                <c:pt idx="3">
                  <c:v>0.261328</c:v>
                </c:pt>
                <c:pt idx="4">
                  <c:v>0.330918</c:v>
                </c:pt>
                <c:pt idx="5">
                  <c:v>0.158437</c:v>
                </c:pt>
                <c:pt idx="6">
                  <c:v>0.291754</c:v>
                </c:pt>
                <c:pt idx="7">
                  <c:v>0.202608</c:v>
                </c:pt>
                <c:pt idx="8">
                  <c:v>0.059692</c:v>
                </c:pt>
                <c:pt idx="9">
                  <c:v>0.2309</c:v>
                </c:pt>
                <c:pt idx="10">
                  <c:v>0.21442</c:v>
                </c:pt>
                <c:pt idx="11">
                  <c:v>0.464636</c:v>
                </c:pt>
                <c:pt idx="12">
                  <c:v>0.16422</c:v>
                </c:pt>
                <c:pt idx="13">
                  <c:v>0.627081</c:v>
                </c:pt>
                <c:pt idx="14">
                  <c:v>0.319523</c:v>
                </c:pt>
                <c:pt idx="15">
                  <c:v>0.32841</c:v>
                </c:pt>
                <c:pt idx="16">
                  <c:v>0.044182</c:v>
                </c:pt>
                <c:pt idx="17">
                  <c:v>0.566495</c:v>
                </c:pt>
                <c:pt idx="18">
                  <c:v>0.214067</c:v>
                </c:pt>
                <c:pt idx="19">
                  <c:v>0.445158</c:v>
                </c:pt>
                <c:pt idx="20">
                  <c:v>0.306534</c:v>
                </c:pt>
                <c:pt idx="21">
                  <c:v>0.569879</c:v>
                </c:pt>
                <c:pt idx="22">
                  <c:v>0.129799</c:v>
                </c:pt>
                <c:pt idx="23">
                  <c:v>0.694501</c:v>
                </c:pt>
                <c:pt idx="24">
                  <c:v>0.554453</c:v>
                </c:pt>
                <c:pt idx="25">
                  <c:v>0.711689</c:v>
                </c:pt>
                <c:pt idx="26">
                  <c:v>0.340791</c:v>
                </c:pt>
                <c:pt idx="27">
                  <c:v>0.171598</c:v>
                </c:pt>
                <c:pt idx="28">
                  <c:v>0.404674</c:v>
                </c:pt>
                <c:pt idx="29">
                  <c:v>0.190098</c:v>
                </c:pt>
                <c:pt idx="30">
                  <c:v>0.339345</c:v>
                </c:pt>
                <c:pt idx="31">
                  <c:v>0.285971</c:v>
                </c:pt>
                <c:pt idx="32">
                  <c:v>0.544287</c:v>
                </c:pt>
                <c:pt idx="33">
                  <c:v>0.179776</c:v>
                </c:pt>
                <c:pt idx="34">
                  <c:v>0.348936</c:v>
                </c:pt>
                <c:pt idx="35">
                  <c:v>0.503311</c:v>
                </c:pt>
                <c:pt idx="36">
                  <c:v>0.115659</c:v>
                </c:pt>
                <c:pt idx="37">
                  <c:v>0.420849</c:v>
                </c:pt>
                <c:pt idx="38">
                  <c:v>0.093173</c:v>
                </c:pt>
                <c:pt idx="39">
                  <c:v>0.046677</c:v>
                </c:pt>
                <c:pt idx="40">
                  <c:v>0.096284</c:v>
                </c:pt>
                <c:pt idx="41">
                  <c:v>0.058107</c:v>
                </c:pt>
                <c:pt idx="42">
                  <c:v>0.195607</c:v>
                </c:pt>
                <c:pt idx="43">
                  <c:v>0.08443</c:v>
                </c:pt>
                <c:pt idx="44">
                  <c:v>0.100814</c:v>
                </c:pt>
                <c:pt idx="45">
                  <c:v>0.135338</c:v>
                </c:pt>
                <c:pt idx="46">
                  <c:v>0.134455</c:v>
                </c:pt>
                <c:pt idx="47">
                  <c:v>0.088473</c:v>
                </c:pt>
                <c:pt idx="48">
                  <c:v>0.013629</c:v>
                </c:pt>
                <c:pt idx="49">
                  <c:v>0.252374</c:v>
                </c:pt>
                <c:pt idx="50">
                  <c:v>0.058473</c:v>
                </c:pt>
                <c:pt idx="51">
                  <c:v>0.487259</c:v>
                </c:pt>
                <c:pt idx="52">
                  <c:v>0.16583</c:v>
                </c:pt>
                <c:pt idx="53">
                  <c:v>0.439609</c:v>
                </c:pt>
                <c:pt idx="54">
                  <c:v>0.312337</c:v>
                </c:pt>
                <c:pt idx="55">
                  <c:v>0.533772</c:v>
                </c:pt>
                <c:pt idx="56">
                  <c:v>0.617054</c:v>
                </c:pt>
                <c:pt idx="57">
                  <c:v>0.8886</c:v>
                </c:pt>
                <c:pt idx="58">
                  <c:v>1.027955</c:v>
                </c:pt>
                <c:pt idx="59">
                  <c:v>0.853693</c:v>
                </c:pt>
                <c:pt idx="60">
                  <c:v>0.513423</c:v>
                </c:pt>
                <c:pt idx="61">
                  <c:v>0.284378</c:v>
                </c:pt>
                <c:pt idx="62">
                  <c:v>0.276983</c:v>
                </c:pt>
                <c:pt idx="63">
                  <c:v>0.094206</c:v>
                </c:pt>
                <c:pt idx="64">
                  <c:v>0.218957</c:v>
                </c:pt>
                <c:pt idx="65">
                  <c:v>0.570628</c:v>
                </c:pt>
                <c:pt idx="66">
                  <c:v>0.004781</c:v>
                </c:pt>
                <c:pt idx="67">
                  <c:v>0.043264</c:v>
                </c:pt>
                <c:pt idx="68">
                  <c:v>0.577975</c:v>
                </c:pt>
                <c:pt idx="69">
                  <c:v>0.145836</c:v>
                </c:pt>
                <c:pt idx="70">
                  <c:v>1.000587</c:v>
                </c:pt>
                <c:pt idx="71">
                  <c:v>0.758015</c:v>
                </c:pt>
                <c:pt idx="72">
                  <c:v>0.441079</c:v>
                </c:pt>
                <c:pt idx="73">
                  <c:v>0.453185</c:v>
                </c:pt>
                <c:pt idx="74">
                  <c:v>0.070711</c:v>
                </c:pt>
                <c:pt idx="75">
                  <c:v>0.355495</c:v>
                </c:pt>
                <c:pt idx="76">
                  <c:v>0.268909</c:v>
                </c:pt>
                <c:pt idx="77">
                  <c:v>0.46981</c:v>
                </c:pt>
                <c:pt idx="78">
                  <c:v>0.145973</c:v>
                </c:pt>
                <c:pt idx="79">
                  <c:v>0.312632</c:v>
                </c:pt>
                <c:pt idx="80">
                  <c:v>0.183105</c:v>
                </c:pt>
                <c:pt idx="81">
                  <c:v>0.339331</c:v>
                </c:pt>
                <c:pt idx="82">
                  <c:v>0.081105</c:v>
                </c:pt>
                <c:pt idx="83">
                  <c:v>0.16558</c:v>
                </c:pt>
                <c:pt idx="84">
                  <c:v>0.161531</c:v>
                </c:pt>
                <c:pt idx="85">
                  <c:v>0.063187</c:v>
                </c:pt>
                <c:pt idx="86">
                  <c:v>0.053675</c:v>
                </c:pt>
                <c:pt idx="87">
                  <c:v>0.377234</c:v>
                </c:pt>
                <c:pt idx="88">
                  <c:v>0.262083</c:v>
                </c:pt>
                <c:pt idx="89">
                  <c:v>0.347745</c:v>
                </c:pt>
                <c:pt idx="90">
                  <c:v>0.107106</c:v>
                </c:pt>
                <c:pt idx="91">
                  <c:v>0.010121</c:v>
                </c:pt>
                <c:pt idx="92">
                  <c:v>0.428353</c:v>
                </c:pt>
                <c:pt idx="93">
                  <c:v>0.063863</c:v>
                </c:pt>
                <c:pt idx="94">
                  <c:v>0.564463</c:v>
                </c:pt>
                <c:pt idx="95">
                  <c:v>0.476769</c:v>
                </c:pt>
                <c:pt idx="96">
                  <c:v>0.326434</c:v>
                </c:pt>
                <c:pt idx="97">
                  <c:v>0.441903</c:v>
                </c:pt>
                <c:pt idx="98">
                  <c:v>0.194109</c:v>
                </c:pt>
                <c:pt idx="99">
                  <c:v>0.175871</c:v>
                </c:pt>
                <c:pt idx="100">
                  <c:v>0.469076</c:v>
                </c:pt>
                <c:pt idx="101">
                  <c:v>0.178321</c:v>
                </c:pt>
                <c:pt idx="102">
                  <c:v>0.402557</c:v>
                </c:pt>
                <c:pt idx="103">
                  <c:v>0.140706</c:v>
                </c:pt>
                <c:pt idx="104">
                  <c:v>0.203715</c:v>
                </c:pt>
                <c:pt idx="105">
                  <c:v>0.219681</c:v>
                </c:pt>
                <c:pt idx="106">
                  <c:v>0.297831</c:v>
                </c:pt>
              </c:numCache>
            </c:numRef>
          </c:yVal>
        </c:ser>
        <c:ser>
          <c:idx val="1"/>
          <c:order val="1"/>
          <c:tx>
            <c:v>Selected</c:v>
          </c:tx>
          <c:spPr>
            <a:ln xmlns:a="http://schemas.openxmlformats.org/drawingml/2006/main" w="23813">
              <a:solidFill>
                <a:srgbClr val="2876B8"/>
              </a:solidFill>
            </a:ln>
          </c:spPr>
          <c:marker>
            <c:symbol val="none"/>
          </c:marker>
          <c:xVal>
            <c:numRef>
              <c:f>'Chart Data'!$C$2:$C$108</c:f>
              <c:numCache>
                <c:formatCode>General</c:formatCode>
                <c:ptCount val="107"/>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371</c:v>
                </c:pt>
                <c:pt idx="42">
                  <c:v>380</c:v>
                </c:pt>
                <c:pt idx="43">
                  <c:v>381</c:v>
                </c:pt>
                <c:pt idx="44">
                  <c:v>382</c:v>
                </c:pt>
                <c:pt idx="45">
                  <c:v>383</c:v>
                </c:pt>
                <c:pt idx="46">
                  <c:v>384</c:v>
                </c:pt>
                <c:pt idx="47">
                  <c:v>385</c:v>
                </c:pt>
                <c:pt idx="48">
                  <c:v>386</c:v>
                </c:pt>
                <c:pt idx="49">
                  <c:v>387</c:v>
                </c:pt>
                <c:pt idx="50">
                  <c:v>388</c:v>
                </c:pt>
                <c:pt idx="51">
                  <c:v>389</c:v>
                </c:pt>
                <c:pt idx="52">
                  <c:v>390</c:v>
                </c:pt>
                <c:pt idx="53">
                  <c:v>391</c:v>
                </c:pt>
                <c:pt idx="54">
                  <c:v>392</c:v>
                </c:pt>
                <c:pt idx="55">
                  <c:v>393</c:v>
                </c:pt>
                <c:pt idx="56">
                  <c:v>394</c:v>
                </c:pt>
                <c:pt idx="57">
                  <c:v>395</c:v>
                </c:pt>
                <c:pt idx="58">
                  <c:v>396</c:v>
                </c:pt>
                <c:pt idx="59">
                  <c:v>397</c:v>
                </c:pt>
                <c:pt idx="60">
                  <c:v>398</c:v>
                </c:pt>
                <c:pt idx="61">
                  <c:v>399</c:v>
                </c:pt>
                <c:pt idx="62">
                  <c:v>400</c:v>
                </c:pt>
                <c:pt idx="63">
                  <c:v>401</c:v>
                </c:pt>
                <c:pt idx="64">
                  <c:v>403</c:v>
                </c:pt>
                <c:pt idx="65">
                  <c:v>404</c:v>
                </c:pt>
                <c:pt idx="66">
                  <c:v>405</c:v>
                </c:pt>
                <c:pt idx="67">
                  <c:v>406</c:v>
                </c:pt>
                <c:pt idx="68">
                  <c:v>407</c:v>
                </c:pt>
                <c:pt idx="69">
                  <c:v>408</c:v>
                </c:pt>
                <c:pt idx="70">
                  <c:v>409</c:v>
                </c:pt>
                <c:pt idx="71">
                  <c:v>410</c:v>
                </c:pt>
                <c:pt idx="72">
                  <c:v>411</c:v>
                </c:pt>
                <c:pt idx="73">
                  <c:v>412</c:v>
                </c:pt>
                <c:pt idx="74">
                  <c:v>413</c:v>
                </c:pt>
                <c:pt idx="75">
                  <c:v>414</c:v>
                </c:pt>
                <c:pt idx="76">
                  <c:v>415</c:v>
                </c:pt>
                <c:pt idx="77">
                  <c:v>416</c:v>
                </c:pt>
                <c:pt idx="78">
                  <c:v>417</c:v>
                </c:pt>
                <c:pt idx="79">
                  <c:v>419</c:v>
                </c:pt>
                <c:pt idx="80">
                  <c:v>420</c:v>
                </c:pt>
                <c:pt idx="81">
                  <c:v>421</c:v>
                </c:pt>
                <c:pt idx="82">
                  <c:v>422</c:v>
                </c:pt>
                <c:pt idx="83">
                  <c:v>423</c:v>
                </c:pt>
                <c:pt idx="84">
                  <c:v>424</c:v>
                </c:pt>
                <c:pt idx="85">
                  <c:v>425</c:v>
                </c:pt>
                <c:pt idx="86">
                  <c:v>426</c:v>
                </c:pt>
                <c:pt idx="87">
                  <c:v>427</c:v>
                </c:pt>
                <c:pt idx="88">
                  <c:v>428</c:v>
                </c:pt>
                <c:pt idx="89">
                  <c:v>429</c:v>
                </c:pt>
                <c:pt idx="90">
                  <c:v>430</c:v>
                </c:pt>
                <c:pt idx="91">
                  <c:v>431</c:v>
                </c:pt>
                <c:pt idx="92">
                  <c:v>432</c:v>
                </c:pt>
                <c:pt idx="93">
                  <c:v>433</c:v>
                </c:pt>
                <c:pt idx="94">
                  <c:v>434</c:v>
                </c:pt>
                <c:pt idx="95">
                  <c:v>435</c:v>
                </c:pt>
                <c:pt idx="96">
                  <c:v>436</c:v>
                </c:pt>
                <c:pt idx="97">
                  <c:v>437</c:v>
                </c:pt>
                <c:pt idx="98">
                  <c:v>438</c:v>
                </c:pt>
                <c:pt idx="99">
                  <c:v>439</c:v>
                </c:pt>
                <c:pt idx="100">
                  <c:v>440</c:v>
                </c:pt>
                <c:pt idx="101">
                  <c:v>441</c:v>
                </c:pt>
                <c:pt idx="102">
                  <c:v>442</c:v>
                </c:pt>
                <c:pt idx="103">
                  <c:v>443</c:v>
                </c:pt>
                <c:pt idx="104">
                  <c:v>444</c:v>
                </c:pt>
                <c:pt idx="105">
                  <c:v>445</c:v>
                </c:pt>
                <c:pt idx="106">
                  <c:v>446</c:v>
                </c:pt>
              </c:numCache>
            </c:numRef>
          </c:xVal>
          <c:yVal>
            <c:numRef>
              <c:f>'Chart Data'!$D$2:$D$108</c:f>
              <c:numCache>
                <c:formatCode>0.0</c:formatCode>
                <c:ptCount val="107"/>
                <c:pt idx="0">
                  <c:v>0.37971</c:v>
                </c:pt>
                <c:pt idx="1">
                  <c:v>0.100846</c:v>
                </c:pt>
                <c:pt idx="2">
                  <c:v>0.233722</c:v>
                </c:pt>
                <c:pt idx="3">
                  <c:v>0.274684</c:v>
                </c:pt>
                <c:pt idx="4">
                  <c:v>0.27988</c:v>
                </c:pt>
                <c:pt idx="5">
                  <c:v>0.168006</c:v>
                </c:pt>
                <c:pt idx="6">
                  <c:v>0.215174</c:v>
                </c:pt>
                <c:pt idx="7">
                  <c:v>0.193378</c:v>
                </c:pt>
                <c:pt idx="8">
                  <c:v>0.061282</c:v>
                </c:pt>
                <c:pt idx="9">
                  <c:v>0.172048</c:v>
                </c:pt>
                <c:pt idx="10">
                  <c:v>0.17183</c:v>
                </c:pt>
                <c:pt idx="11">
                  <c:v>0.403686</c:v>
                </c:pt>
                <c:pt idx="12">
                  <c:v>0.118662</c:v>
                </c:pt>
                <c:pt idx="13">
                  <c:v>0.549398</c:v>
                </c:pt>
                <c:pt idx="14">
                  <c:v>0.274616</c:v>
                </c:pt>
                <c:pt idx="15">
                  <c:v>0.250904</c:v>
                </c:pt>
                <c:pt idx="16">
                  <c:v>0.07215</c:v>
                </c:pt>
                <c:pt idx="17">
                  <c:v>0.517874</c:v>
                </c:pt>
                <c:pt idx="18">
                  <c:v>0.146316</c:v>
                </c:pt>
                <c:pt idx="19">
                  <c:v>0.422634</c:v>
                </c:pt>
                <c:pt idx="20">
                  <c:v>0.25926</c:v>
                </c:pt>
                <c:pt idx="21">
                  <c:v>0.483932</c:v>
                </c:pt>
                <c:pt idx="22">
                  <c:v>0.0801</c:v>
                </c:pt>
                <c:pt idx="23">
                  <c:v>0.509728</c:v>
                </c:pt>
                <c:pt idx="24">
                  <c:v>0.314246</c:v>
                </c:pt>
                <c:pt idx="25">
                  <c:v>0.512514</c:v>
                </c:pt>
                <c:pt idx="26">
                  <c:v>0.275838</c:v>
                </c:pt>
                <c:pt idx="27">
                  <c:v>0.044394</c:v>
                </c:pt>
                <c:pt idx="28">
                  <c:v>0.441854</c:v>
                </c:pt>
                <c:pt idx="29">
                  <c:v>0.046456</c:v>
                </c:pt>
                <c:pt idx="30">
                  <c:v>0.403686</c:v>
                </c:pt>
                <c:pt idx="31">
                  <c:v>0.265014</c:v>
                </c:pt>
                <c:pt idx="32">
                  <c:v>0.42563</c:v>
                </c:pt>
                <c:pt idx="33">
                  <c:v>0.129064</c:v>
                </c:pt>
                <c:pt idx="34">
                  <c:v>0.319892</c:v>
                </c:pt>
                <c:pt idx="35">
                  <c:v>0.382686</c:v>
                </c:pt>
                <c:pt idx="36">
                  <c:v>0.117996</c:v>
                </c:pt>
                <c:pt idx="37">
                  <c:v>0.410844</c:v>
                </c:pt>
                <c:pt idx="38">
                  <c:v>0.212362</c:v>
                </c:pt>
                <c:pt idx="39">
                  <c:v>0.067202</c:v>
                </c:pt>
                <c:pt idx="40">
                  <c:v>0.06986</c:v>
                </c:pt>
                <c:pt idx="41">
                  <c:v>0.070224</c:v>
                </c:pt>
                <c:pt idx="42">
                  <c:v>0.174206</c:v>
                </c:pt>
                <c:pt idx="43">
                  <c:v>0.050718</c:v>
                </c:pt>
                <c:pt idx="44">
                  <c:v>0.012718</c:v>
                </c:pt>
                <c:pt idx="45">
                  <c:v>0.080862</c:v>
                </c:pt>
                <c:pt idx="46">
                  <c:v>0.154754</c:v>
                </c:pt>
                <c:pt idx="47">
                  <c:v>0.116488</c:v>
                </c:pt>
                <c:pt idx="48">
                  <c:v>0.066016</c:v>
                </c:pt>
                <c:pt idx="49">
                  <c:v>0.333442</c:v>
                </c:pt>
                <c:pt idx="50">
                  <c:v>0.109048</c:v>
                </c:pt>
                <c:pt idx="51">
                  <c:v>0.427036</c:v>
                </c:pt>
                <c:pt idx="52">
                  <c:v>0.149096</c:v>
                </c:pt>
                <c:pt idx="53">
                  <c:v>0.287094</c:v>
                </c:pt>
                <c:pt idx="54">
                  <c:v>0.357152</c:v>
                </c:pt>
                <c:pt idx="55">
                  <c:v>0.412506</c:v>
                </c:pt>
                <c:pt idx="56">
                  <c:v>0.477896</c:v>
                </c:pt>
                <c:pt idx="57">
                  <c:v>0.501568</c:v>
                </c:pt>
                <c:pt idx="58">
                  <c:v>0.68808</c:v>
                </c:pt>
                <c:pt idx="59">
                  <c:v>0.29924</c:v>
                </c:pt>
                <c:pt idx="60">
                  <c:v>0.083872</c:v>
                </c:pt>
                <c:pt idx="61">
                  <c:v>0.049612</c:v>
                </c:pt>
                <c:pt idx="62">
                  <c:v>0.002142</c:v>
                </c:pt>
                <c:pt idx="63">
                  <c:v>0.056316</c:v>
                </c:pt>
                <c:pt idx="64">
                  <c:v>0.173934</c:v>
                </c:pt>
                <c:pt idx="65">
                  <c:v>0.52314</c:v>
                </c:pt>
                <c:pt idx="66">
                  <c:v>0.004128</c:v>
                </c:pt>
                <c:pt idx="67">
                  <c:v>0.044178</c:v>
                </c:pt>
                <c:pt idx="68">
                  <c:v>0.533924</c:v>
                </c:pt>
                <c:pt idx="69">
                  <c:v>0.216596</c:v>
                </c:pt>
                <c:pt idx="70">
                  <c:v>0.790668</c:v>
                </c:pt>
                <c:pt idx="71">
                  <c:v>0.486662</c:v>
                </c:pt>
                <c:pt idx="72">
                  <c:v>0.238058</c:v>
                </c:pt>
                <c:pt idx="73">
                  <c:v>0.379014</c:v>
                </c:pt>
                <c:pt idx="74">
                  <c:v>0.149264</c:v>
                </c:pt>
                <c:pt idx="75">
                  <c:v>0.320706</c:v>
                </c:pt>
                <c:pt idx="76">
                  <c:v>0.23605</c:v>
                </c:pt>
                <c:pt idx="77">
                  <c:v>0.434048</c:v>
                </c:pt>
                <c:pt idx="78">
                  <c:v>0.137552</c:v>
                </c:pt>
                <c:pt idx="79">
                  <c:v>0.309062</c:v>
                </c:pt>
                <c:pt idx="80">
                  <c:v>0.144672</c:v>
                </c:pt>
                <c:pt idx="81">
                  <c:v>0.32035</c:v>
                </c:pt>
                <c:pt idx="82">
                  <c:v>0.09202</c:v>
                </c:pt>
                <c:pt idx="83">
                  <c:v>0.16688</c:v>
                </c:pt>
                <c:pt idx="84">
                  <c:v>0.188734</c:v>
                </c:pt>
                <c:pt idx="85">
                  <c:v>0.01258</c:v>
                </c:pt>
                <c:pt idx="86">
                  <c:v>0.019166</c:v>
                </c:pt>
                <c:pt idx="87">
                  <c:v>0.344452</c:v>
                </c:pt>
                <c:pt idx="88">
                  <c:v>0.237906</c:v>
                </c:pt>
                <c:pt idx="89">
                  <c:v>0.314992</c:v>
                </c:pt>
                <c:pt idx="90">
                  <c:v>0.067216</c:v>
                </c:pt>
                <c:pt idx="91">
                  <c:v>0.08011</c:v>
                </c:pt>
                <c:pt idx="92">
                  <c:v>0.349662</c:v>
                </c:pt>
                <c:pt idx="93">
                  <c:v>0.05537</c:v>
                </c:pt>
                <c:pt idx="94">
                  <c:v>0.48</c:v>
                </c:pt>
                <c:pt idx="95">
                  <c:v>0.326698</c:v>
                </c:pt>
                <c:pt idx="96">
                  <c:v>0.214836</c:v>
                </c:pt>
                <c:pt idx="97">
                  <c:v>0.352986</c:v>
                </c:pt>
                <c:pt idx="98">
                  <c:v>0.126056</c:v>
                </c:pt>
                <c:pt idx="99">
                  <c:v>0.084674</c:v>
                </c:pt>
                <c:pt idx="100">
                  <c:v>0.312578</c:v>
                </c:pt>
                <c:pt idx="101">
                  <c:v>0.206584</c:v>
                </c:pt>
                <c:pt idx="102">
                  <c:v>0.348268</c:v>
                </c:pt>
                <c:pt idx="103">
                  <c:v>0.132856</c:v>
                </c:pt>
                <c:pt idx="104">
                  <c:v>0.200814</c:v>
                </c:pt>
                <c:pt idx="105">
                  <c:v>0.225126</c:v>
                </c:pt>
                <c:pt idx="106">
                  <c:v>0.25185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
        </c:scaling>
        <c:delete val="0"/>
        <c:axPos val="l"/>
        <c:majorGridlines>
          <c:spPr>
            <a:ln xmlns:a="http://schemas.openxmlformats.org/drawingml/2006/main" w="9525">
              <a:solidFill>
                <a:srgbClr val="DDE4E8"/>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|ΔCα residual| (ppm)</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valAx>
      <c:valAx>
        <c:axId val="48650112"/>
        <c:scaling>
          <c:orientation val="minMax"/>
          <c:max val="446"/>
          <c:min val="33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AR residue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Raw pool</c:v>
          </c:tx>
          <c:spPr>
            <a:ln xmlns:a="http://schemas.openxmlformats.org/drawingml/2006/main" w="23813">
              <a:solidFill>
                <a:srgbClr val="596973"/>
              </a:solidFill>
            </a:ln>
          </c:spPr>
          <c:marker>
            <c:symbol val="none"/>
          </c:marker>
          <c:xVal>
            <c:numRef>
              <c:f>'Chart Data'!$A$2:$A$101</c:f>
              <c:numCache>
                <c:formatCode>General</c:formatCode>
                <c:ptCount val="100"/>
                <c:pt idx="0">
                  <c:v>330</c:v>
                </c:pt>
                <c:pt idx="1">
                  <c:v>331</c:v>
                </c:pt>
                <c:pt idx="2">
                  <c:v>332</c:v>
                </c:pt>
                <c:pt idx="3">
                  <c:v>334</c:v>
                </c:pt>
                <c:pt idx="4">
                  <c:v>335</c:v>
                </c:pt>
                <c:pt idx="5">
                  <c:v>336</c:v>
                </c:pt>
                <c:pt idx="6">
                  <c:v>337</c:v>
                </c:pt>
                <c:pt idx="7">
                  <c:v>338</c:v>
                </c:pt>
                <c:pt idx="8">
                  <c:v>340</c:v>
                </c:pt>
                <c:pt idx="9">
                  <c:v>341</c:v>
                </c:pt>
                <c:pt idx="10">
                  <c:v>342</c:v>
                </c:pt>
                <c:pt idx="11">
                  <c:v>343</c:v>
                </c:pt>
                <c:pt idx="12">
                  <c:v>344</c:v>
                </c:pt>
                <c:pt idx="13">
                  <c:v>345</c:v>
                </c:pt>
                <c:pt idx="14">
                  <c:v>346</c:v>
                </c:pt>
                <c:pt idx="15">
                  <c:v>347</c:v>
                </c:pt>
                <c:pt idx="16">
                  <c:v>348</c:v>
                </c:pt>
                <c:pt idx="17">
                  <c:v>349</c:v>
                </c:pt>
                <c:pt idx="18">
                  <c:v>350</c:v>
                </c:pt>
                <c:pt idx="19">
                  <c:v>351</c:v>
                </c:pt>
                <c:pt idx="20">
                  <c:v>352</c:v>
                </c:pt>
                <c:pt idx="21">
                  <c:v>353</c:v>
                </c:pt>
                <c:pt idx="22">
                  <c:v>354</c:v>
                </c:pt>
                <c:pt idx="23">
                  <c:v>355</c:v>
                </c:pt>
                <c:pt idx="24">
                  <c:v>356</c:v>
                </c:pt>
                <c:pt idx="25">
                  <c:v>357</c:v>
                </c:pt>
                <c:pt idx="26">
                  <c:v>358</c:v>
                </c:pt>
                <c:pt idx="27">
                  <c:v>359</c:v>
                </c:pt>
                <c:pt idx="28">
                  <c:v>360</c:v>
                </c:pt>
                <c:pt idx="29">
                  <c:v>361</c:v>
                </c:pt>
                <c:pt idx="30">
                  <c:v>362</c:v>
                </c:pt>
                <c:pt idx="31">
                  <c:v>363</c:v>
                </c:pt>
                <c:pt idx="32">
                  <c:v>364</c:v>
                </c:pt>
                <c:pt idx="33">
                  <c:v>366</c:v>
                </c:pt>
                <c:pt idx="34">
                  <c:v>367</c:v>
                </c:pt>
                <c:pt idx="35">
                  <c:v>368</c:v>
                </c:pt>
                <c:pt idx="36">
                  <c:v>369</c:v>
                </c:pt>
                <c:pt idx="37">
                  <c:v>370</c:v>
                </c:pt>
                <c:pt idx="38">
                  <c:v>379</c:v>
                </c:pt>
                <c:pt idx="39">
                  <c:v>381</c:v>
                </c:pt>
                <c:pt idx="40">
                  <c:v>382</c:v>
                </c:pt>
                <c:pt idx="41">
                  <c:v>383</c:v>
                </c:pt>
                <c:pt idx="42">
                  <c:v>384</c:v>
                </c:pt>
                <c:pt idx="43">
                  <c:v>385</c:v>
                </c:pt>
                <c:pt idx="44">
                  <c:v>386</c:v>
                </c:pt>
                <c:pt idx="45">
                  <c:v>387</c:v>
                </c:pt>
                <c:pt idx="46">
                  <c:v>388</c:v>
                </c:pt>
                <c:pt idx="47">
                  <c:v>390</c:v>
                </c:pt>
                <c:pt idx="48">
                  <c:v>391</c:v>
                </c:pt>
                <c:pt idx="49">
                  <c:v>392</c:v>
                </c:pt>
                <c:pt idx="50">
                  <c:v>393</c:v>
                </c:pt>
                <c:pt idx="51">
                  <c:v>394</c:v>
                </c:pt>
                <c:pt idx="52">
                  <c:v>395</c:v>
                </c:pt>
                <c:pt idx="53">
                  <c:v>396</c:v>
                </c:pt>
                <c:pt idx="54">
                  <c:v>397</c:v>
                </c:pt>
                <c:pt idx="55">
                  <c:v>398</c:v>
                </c:pt>
                <c:pt idx="56">
                  <c:v>399</c:v>
                </c:pt>
                <c:pt idx="57">
                  <c:v>400</c:v>
                </c:pt>
                <c:pt idx="58">
                  <c:v>401</c:v>
                </c:pt>
                <c:pt idx="59">
                  <c:v>402</c:v>
                </c:pt>
                <c:pt idx="60">
                  <c:v>403</c:v>
                </c:pt>
                <c:pt idx="61">
                  <c:v>404</c:v>
                </c:pt>
                <c:pt idx="62">
                  <c:v>405</c:v>
                </c:pt>
                <c:pt idx="63">
                  <c:v>406</c:v>
                </c:pt>
                <c:pt idx="64">
                  <c:v>407</c:v>
                </c:pt>
                <c:pt idx="65">
                  <c:v>408</c:v>
                </c:pt>
                <c:pt idx="66">
                  <c:v>409</c:v>
                </c:pt>
                <c:pt idx="67">
                  <c:v>410</c:v>
                </c:pt>
                <c:pt idx="68">
                  <c:v>411</c:v>
                </c:pt>
                <c:pt idx="69">
                  <c:v>412</c:v>
                </c:pt>
                <c:pt idx="70">
                  <c:v>413</c:v>
                </c:pt>
                <c:pt idx="71">
                  <c:v>414</c:v>
                </c:pt>
                <c:pt idx="72">
                  <c:v>415</c:v>
                </c:pt>
                <c:pt idx="73">
                  <c:v>416</c:v>
                </c:pt>
                <c:pt idx="74">
                  <c:v>417</c:v>
                </c:pt>
                <c:pt idx="75">
                  <c:v>418</c:v>
                </c:pt>
                <c:pt idx="76">
                  <c:v>420</c:v>
                </c:pt>
                <c:pt idx="77">
                  <c:v>421</c:v>
                </c:pt>
                <c:pt idx="78">
                  <c:v>422</c:v>
                </c:pt>
                <c:pt idx="79">
                  <c:v>423</c:v>
                </c:pt>
                <c:pt idx="80">
                  <c:v>425</c:v>
                </c:pt>
                <c:pt idx="81">
                  <c:v>426</c:v>
                </c:pt>
                <c:pt idx="82">
                  <c:v>427</c:v>
                </c:pt>
                <c:pt idx="83">
                  <c:v>429</c:v>
                </c:pt>
                <c:pt idx="84">
                  <c:v>430</c:v>
                </c:pt>
                <c:pt idx="85">
                  <c:v>431</c:v>
                </c:pt>
                <c:pt idx="86">
                  <c:v>432</c:v>
                </c:pt>
                <c:pt idx="87">
                  <c:v>433</c:v>
                </c:pt>
                <c:pt idx="88">
                  <c:v>434</c:v>
                </c:pt>
                <c:pt idx="89">
                  <c:v>435</c:v>
                </c:pt>
                <c:pt idx="90">
                  <c:v>436</c:v>
                </c:pt>
                <c:pt idx="91">
                  <c:v>437</c:v>
                </c:pt>
                <c:pt idx="92">
                  <c:v>438</c:v>
                </c:pt>
                <c:pt idx="93">
                  <c:v>439</c:v>
                </c:pt>
                <c:pt idx="94">
                  <c:v>440</c:v>
                </c:pt>
                <c:pt idx="95">
                  <c:v>441</c:v>
                </c:pt>
                <c:pt idx="96">
                  <c:v>442</c:v>
                </c:pt>
                <c:pt idx="97">
                  <c:v>443</c:v>
                </c:pt>
                <c:pt idx="98">
                  <c:v>444</c:v>
                </c:pt>
                <c:pt idx="99">
                  <c:v>445</c:v>
                </c:pt>
              </c:numCache>
            </c:numRef>
          </c:xVal>
          <c:yVal>
            <c:numRef>
              <c:f>'Chart Data'!$B$2:$B$101</c:f>
              <c:numCache>
                <c:formatCode>0.0</c:formatCode>
                <c:ptCount val="100"/>
                <c:pt idx="0">
                  <c:v>0.390625</c:v>
                </c:pt>
                <c:pt idx="1">
                  <c:v>0.471778</c:v>
                </c:pt>
                <c:pt idx="2">
                  <c:v>0.190049</c:v>
                </c:pt>
                <c:pt idx="3">
                  <c:v>0.055192</c:v>
                </c:pt>
                <c:pt idx="4">
                  <c:v>0.025981</c:v>
                </c:pt>
                <c:pt idx="5">
                  <c:v>0.035225</c:v>
                </c:pt>
                <c:pt idx="6">
                  <c:v>0.489996</c:v>
                </c:pt>
                <c:pt idx="7">
                  <c:v>0.355746</c:v>
                </c:pt>
                <c:pt idx="8">
                  <c:v>0.5877</c:v>
                </c:pt>
                <c:pt idx="9">
                  <c:v>0.824638</c:v>
                </c:pt>
                <c:pt idx="10">
                  <c:v>0.512515</c:v>
                </c:pt>
                <c:pt idx="11">
                  <c:v>0.892043</c:v>
                </c:pt>
                <c:pt idx="12">
                  <c:v>0.154286</c:v>
                </c:pt>
                <c:pt idx="13">
                  <c:v>0.698108</c:v>
                </c:pt>
                <c:pt idx="14">
                  <c:v>0.162502</c:v>
                </c:pt>
                <c:pt idx="15">
                  <c:v>0.008154</c:v>
                </c:pt>
                <c:pt idx="16">
                  <c:v>0.347795</c:v>
                </c:pt>
                <c:pt idx="17">
                  <c:v>0.076325</c:v>
                </c:pt>
                <c:pt idx="18">
                  <c:v>0.55371</c:v>
                </c:pt>
                <c:pt idx="19">
                  <c:v>0.79483</c:v>
                </c:pt>
                <c:pt idx="20">
                  <c:v>0.369669</c:v>
                </c:pt>
                <c:pt idx="21">
                  <c:v>0.582509</c:v>
                </c:pt>
                <c:pt idx="22">
                  <c:v>0.961474</c:v>
                </c:pt>
                <c:pt idx="23">
                  <c:v>0.690783</c:v>
                </c:pt>
                <c:pt idx="24">
                  <c:v>1.055187</c:v>
                </c:pt>
                <c:pt idx="25">
                  <c:v>0.387406</c:v>
                </c:pt>
                <c:pt idx="26">
                  <c:v>0.093894</c:v>
                </c:pt>
                <c:pt idx="27">
                  <c:v>0.197027</c:v>
                </c:pt>
                <c:pt idx="28">
                  <c:v>0.203838</c:v>
                </c:pt>
                <c:pt idx="29">
                  <c:v>0.446001</c:v>
                </c:pt>
                <c:pt idx="30">
                  <c:v>0.449223</c:v>
                </c:pt>
                <c:pt idx="31">
                  <c:v>0.013606</c:v>
                </c:pt>
                <c:pt idx="32">
                  <c:v>0.117713</c:v>
                </c:pt>
                <c:pt idx="33">
                  <c:v>0.865764</c:v>
                </c:pt>
                <c:pt idx="34">
                  <c:v>0.361332</c:v>
                </c:pt>
                <c:pt idx="35">
                  <c:v>0.076142</c:v>
                </c:pt>
                <c:pt idx="36">
                  <c:v>0.052724</c:v>
                </c:pt>
                <c:pt idx="37">
                  <c:v>0.191118</c:v>
                </c:pt>
                <c:pt idx="38">
                  <c:v>0.410319</c:v>
                </c:pt>
                <c:pt idx="39">
                  <c:v>0.67076</c:v>
                </c:pt>
                <c:pt idx="40">
                  <c:v>0.5779</c:v>
                </c:pt>
                <c:pt idx="41">
                  <c:v>0.354894</c:v>
                </c:pt>
                <c:pt idx="42">
                  <c:v>0.57178</c:v>
                </c:pt>
                <c:pt idx="43">
                  <c:v>0.234185</c:v>
                </c:pt>
                <c:pt idx="44">
                  <c:v>0.052143</c:v>
                </c:pt>
                <c:pt idx="45">
                  <c:v>0.260686</c:v>
                </c:pt>
                <c:pt idx="46">
                  <c:v>0.023508</c:v>
                </c:pt>
                <c:pt idx="47">
                  <c:v>0.590114</c:v>
                </c:pt>
                <c:pt idx="48">
                  <c:v>0.610871</c:v>
                </c:pt>
                <c:pt idx="49">
                  <c:v>0.371726</c:v>
                </c:pt>
                <c:pt idx="50">
                  <c:v>0.584756</c:v>
                </c:pt>
                <c:pt idx="51">
                  <c:v>0.650687</c:v>
                </c:pt>
                <c:pt idx="52">
                  <c:v>0.595204</c:v>
                </c:pt>
                <c:pt idx="53">
                  <c:v>1.409159</c:v>
                </c:pt>
                <c:pt idx="54">
                  <c:v>0.831594</c:v>
                </c:pt>
                <c:pt idx="55">
                  <c:v>1.054136</c:v>
                </c:pt>
                <c:pt idx="56">
                  <c:v>0.604557</c:v>
                </c:pt>
                <c:pt idx="57">
                  <c:v>0.645711</c:v>
                </c:pt>
                <c:pt idx="58">
                  <c:v>0.434072</c:v>
                </c:pt>
                <c:pt idx="59">
                  <c:v>0.071003</c:v>
                </c:pt>
                <c:pt idx="60">
                  <c:v>0.174803</c:v>
                </c:pt>
                <c:pt idx="61">
                  <c:v>0.51526</c:v>
                </c:pt>
                <c:pt idx="62">
                  <c:v>0.403226</c:v>
                </c:pt>
                <c:pt idx="63">
                  <c:v>0.37054</c:v>
                </c:pt>
                <c:pt idx="64">
                  <c:v>0.103173</c:v>
                </c:pt>
                <c:pt idx="65">
                  <c:v>0.400847</c:v>
                </c:pt>
                <c:pt idx="66">
                  <c:v>0.933516</c:v>
                </c:pt>
                <c:pt idx="67">
                  <c:v>1.105299</c:v>
                </c:pt>
                <c:pt idx="68">
                  <c:v>0.338199</c:v>
                </c:pt>
                <c:pt idx="69">
                  <c:v>0.83181</c:v>
                </c:pt>
                <c:pt idx="70">
                  <c:v>0.273408</c:v>
                </c:pt>
                <c:pt idx="71">
                  <c:v>0.16228</c:v>
                </c:pt>
                <c:pt idx="72">
                  <c:v>0.357092</c:v>
                </c:pt>
                <c:pt idx="73">
                  <c:v>0.309681</c:v>
                </c:pt>
                <c:pt idx="74">
                  <c:v>0.074805</c:v>
                </c:pt>
                <c:pt idx="75">
                  <c:v>0.282367</c:v>
                </c:pt>
                <c:pt idx="76">
                  <c:v>0.5821</c:v>
                </c:pt>
                <c:pt idx="77">
                  <c:v>0.061746</c:v>
                </c:pt>
                <c:pt idx="78">
                  <c:v>0.207404</c:v>
                </c:pt>
                <c:pt idx="79">
                  <c:v>0.090256</c:v>
                </c:pt>
                <c:pt idx="80">
                  <c:v>0.483182</c:v>
                </c:pt>
                <c:pt idx="81">
                  <c:v>0.171921</c:v>
                </c:pt>
                <c:pt idx="82">
                  <c:v>0.528661</c:v>
                </c:pt>
                <c:pt idx="83">
                  <c:v>0.718564</c:v>
                </c:pt>
                <c:pt idx="84">
                  <c:v>0.17322</c:v>
                </c:pt>
                <c:pt idx="85">
                  <c:v>0.314532</c:v>
                </c:pt>
                <c:pt idx="86">
                  <c:v>0.32854</c:v>
                </c:pt>
                <c:pt idx="87">
                  <c:v>0.290555</c:v>
                </c:pt>
                <c:pt idx="88">
                  <c:v>0.339025</c:v>
                </c:pt>
                <c:pt idx="89">
                  <c:v>0.384173</c:v>
                </c:pt>
                <c:pt idx="90">
                  <c:v>0.203939</c:v>
                </c:pt>
                <c:pt idx="91">
                  <c:v>0.052922</c:v>
                </c:pt>
                <c:pt idx="92">
                  <c:v>0.431394</c:v>
                </c:pt>
                <c:pt idx="93">
                  <c:v>0.547525</c:v>
                </c:pt>
                <c:pt idx="94">
                  <c:v>0.542217</c:v>
                </c:pt>
                <c:pt idx="95">
                  <c:v>0.290455</c:v>
                </c:pt>
                <c:pt idx="96">
                  <c:v>0.02004</c:v>
                </c:pt>
                <c:pt idx="97">
                  <c:v>0.077445</c:v>
                </c:pt>
                <c:pt idx="98">
                  <c:v>0.507001</c:v>
                </c:pt>
                <c:pt idx="99">
                  <c:v>0.047214</c:v>
                </c:pt>
              </c:numCache>
            </c:numRef>
          </c:yVal>
        </c:ser>
        <c:ser>
          <c:idx val="1"/>
          <c:order val="1"/>
          <c:tx>
            <c:v>Selected</c:v>
          </c:tx>
          <c:spPr>
            <a:ln xmlns:a="http://schemas.openxmlformats.org/drawingml/2006/main" w="23813">
              <a:solidFill>
                <a:srgbClr val="2876B8"/>
              </a:solidFill>
            </a:ln>
          </c:spPr>
          <c:marker>
            <c:symbol val="none"/>
          </c:marker>
          <c:xVal>
            <c:numRef>
              <c:f>'Chart Data'!$C$2:$C$101</c:f>
              <c:numCache>
                <c:formatCode>General</c:formatCode>
                <c:ptCount val="100"/>
                <c:pt idx="0">
                  <c:v>330</c:v>
                </c:pt>
                <c:pt idx="1">
                  <c:v>331</c:v>
                </c:pt>
                <c:pt idx="2">
                  <c:v>332</c:v>
                </c:pt>
                <c:pt idx="3">
                  <c:v>334</c:v>
                </c:pt>
                <c:pt idx="4">
                  <c:v>335</c:v>
                </c:pt>
                <c:pt idx="5">
                  <c:v>336</c:v>
                </c:pt>
                <c:pt idx="6">
                  <c:v>337</c:v>
                </c:pt>
                <c:pt idx="7">
                  <c:v>338</c:v>
                </c:pt>
                <c:pt idx="8">
                  <c:v>340</c:v>
                </c:pt>
                <c:pt idx="9">
                  <c:v>341</c:v>
                </c:pt>
                <c:pt idx="10">
                  <c:v>342</c:v>
                </c:pt>
                <c:pt idx="11">
                  <c:v>343</c:v>
                </c:pt>
                <c:pt idx="12">
                  <c:v>344</c:v>
                </c:pt>
                <c:pt idx="13">
                  <c:v>345</c:v>
                </c:pt>
                <c:pt idx="14">
                  <c:v>346</c:v>
                </c:pt>
                <c:pt idx="15">
                  <c:v>347</c:v>
                </c:pt>
                <c:pt idx="16">
                  <c:v>348</c:v>
                </c:pt>
                <c:pt idx="17">
                  <c:v>349</c:v>
                </c:pt>
                <c:pt idx="18">
                  <c:v>350</c:v>
                </c:pt>
                <c:pt idx="19">
                  <c:v>351</c:v>
                </c:pt>
                <c:pt idx="20">
                  <c:v>352</c:v>
                </c:pt>
                <c:pt idx="21">
                  <c:v>353</c:v>
                </c:pt>
                <c:pt idx="22">
                  <c:v>354</c:v>
                </c:pt>
                <c:pt idx="23">
                  <c:v>355</c:v>
                </c:pt>
                <c:pt idx="24">
                  <c:v>356</c:v>
                </c:pt>
                <c:pt idx="25">
                  <c:v>357</c:v>
                </c:pt>
                <c:pt idx="26">
                  <c:v>358</c:v>
                </c:pt>
                <c:pt idx="27">
                  <c:v>359</c:v>
                </c:pt>
                <c:pt idx="28">
                  <c:v>360</c:v>
                </c:pt>
                <c:pt idx="29">
                  <c:v>361</c:v>
                </c:pt>
                <c:pt idx="30">
                  <c:v>362</c:v>
                </c:pt>
                <c:pt idx="31">
                  <c:v>363</c:v>
                </c:pt>
                <c:pt idx="32">
                  <c:v>364</c:v>
                </c:pt>
                <c:pt idx="33">
                  <c:v>366</c:v>
                </c:pt>
                <c:pt idx="34">
                  <c:v>367</c:v>
                </c:pt>
                <c:pt idx="35">
                  <c:v>368</c:v>
                </c:pt>
                <c:pt idx="36">
                  <c:v>369</c:v>
                </c:pt>
                <c:pt idx="37">
                  <c:v>370</c:v>
                </c:pt>
                <c:pt idx="38">
                  <c:v>379</c:v>
                </c:pt>
                <c:pt idx="39">
                  <c:v>381</c:v>
                </c:pt>
                <c:pt idx="40">
                  <c:v>382</c:v>
                </c:pt>
                <c:pt idx="41">
                  <c:v>383</c:v>
                </c:pt>
                <c:pt idx="42">
                  <c:v>384</c:v>
                </c:pt>
                <c:pt idx="43">
                  <c:v>385</c:v>
                </c:pt>
                <c:pt idx="44">
                  <c:v>386</c:v>
                </c:pt>
                <c:pt idx="45">
                  <c:v>387</c:v>
                </c:pt>
                <c:pt idx="46">
                  <c:v>388</c:v>
                </c:pt>
                <c:pt idx="47">
                  <c:v>390</c:v>
                </c:pt>
                <c:pt idx="48">
                  <c:v>391</c:v>
                </c:pt>
                <c:pt idx="49">
                  <c:v>392</c:v>
                </c:pt>
                <c:pt idx="50">
                  <c:v>393</c:v>
                </c:pt>
                <c:pt idx="51">
                  <c:v>394</c:v>
                </c:pt>
                <c:pt idx="52">
                  <c:v>395</c:v>
                </c:pt>
                <c:pt idx="53">
                  <c:v>396</c:v>
                </c:pt>
                <c:pt idx="54">
                  <c:v>397</c:v>
                </c:pt>
                <c:pt idx="55">
                  <c:v>398</c:v>
                </c:pt>
                <c:pt idx="56">
                  <c:v>399</c:v>
                </c:pt>
                <c:pt idx="57">
                  <c:v>400</c:v>
                </c:pt>
                <c:pt idx="58">
                  <c:v>401</c:v>
                </c:pt>
                <c:pt idx="59">
                  <c:v>402</c:v>
                </c:pt>
                <c:pt idx="60">
                  <c:v>403</c:v>
                </c:pt>
                <c:pt idx="61">
                  <c:v>404</c:v>
                </c:pt>
                <c:pt idx="62">
                  <c:v>405</c:v>
                </c:pt>
                <c:pt idx="63">
                  <c:v>406</c:v>
                </c:pt>
                <c:pt idx="64">
                  <c:v>407</c:v>
                </c:pt>
                <c:pt idx="65">
                  <c:v>408</c:v>
                </c:pt>
                <c:pt idx="66">
                  <c:v>409</c:v>
                </c:pt>
                <c:pt idx="67">
                  <c:v>410</c:v>
                </c:pt>
                <c:pt idx="68">
                  <c:v>411</c:v>
                </c:pt>
                <c:pt idx="69">
                  <c:v>412</c:v>
                </c:pt>
                <c:pt idx="70">
                  <c:v>413</c:v>
                </c:pt>
                <c:pt idx="71">
                  <c:v>414</c:v>
                </c:pt>
                <c:pt idx="72">
                  <c:v>415</c:v>
                </c:pt>
                <c:pt idx="73">
                  <c:v>416</c:v>
                </c:pt>
                <c:pt idx="74">
                  <c:v>417</c:v>
                </c:pt>
                <c:pt idx="75">
                  <c:v>418</c:v>
                </c:pt>
                <c:pt idx="76">
                  <c:v>420</c:v>
                </c:pt>
                <c:pt idx="77">
                  <c:v>421</c:v>
                </c:pt>
                <c:pt idx="78">
                  <c:v>422</c:v>
                </c:pt>
                <c:pt idx="79">
                  <c:v>423</c:v>
                </c:pt>
                <c:pt idx="80">
                  <c:v>425</c:v>
                </c:pt>
                <c:pt idx="81">
                  <c:v>426</c:v>
                </c:pt>
                <c:pt idx="82">
                  <c:v>427</c:v>
                </c:pt>
                <c:pt idx="83">
                  <c:v>429</c:v>
                </c:pt>
                <c:pt idx="84">
                  <c:v>430</c:v>
                </c:pt>
                <c:pt idx="85">
                  <c:v>431</c:v>
                </c:pt>
                <c:pt idx="86">
                  <c:v>432</c:v>
                </c:pt>
                <c:pt idx="87">
                  <c:v>433</c:v>
                </c:pt>
                <c:pt idx="88">
                  <c:v>434</c:v>
                </c:pt>
                <c:pt idx="89">
                  <c:v>435</c:v>
                </c:pt>
                <c:pt idx="90">
                  <c:v>436</c:v>
                </c:pt>
                <c:pt idx="91">
                  <c:v>437</c:v>
                </c:pt>
                <c:pt idx="92">
                  <c:v>438</c:v>
                </c:pt>
                <c:pt idx="93">
                  <c:v>439</c:v>
                </c:pt>
                <c:pt idx="94">
                  <c:v>440</c:v>
                </c:pt>
                <c:pt idx="95">
                  <c:v>441</c:v>
                </c:pt>
                <c:pt idx="96">
                  <c:v>442</c:v>
                </c:pt>
                <c:pt idx="97">
                  <c:v>443</c:v>
                </c:pt>
                <c:pt idx="98">
                  <c:v>444</c:v>
                </c:pt>
                <c:pt idx="99">
                  <c:v>445</c:v>
                </c:pt>
              </c:numCache>
            </c:numRef>
          </c:xVal>
          <c:yVal>
            <c:numRef>
              <c:f>'Chart Data'!$D$2:$D$101</c:f>
              <c:numCache>
                <c:formatCode>0.0</c:formatCode>
                <c:ptCount val="100"/>
                <c:pt idx="0">
                  <c:v>0.38729</c:v>
                </c:pt>
                <c:pt idx="1">
                  <c:v>0.478028</c:v>
                </c:pt>
                <c:pt idx="2">
                  <c:v>0.184332</c:v>
                </c:pt>
                <c:pt idx="3">
                  <c:v>0.01814</c:v>
                </c:pt>
                <c:pt idx="4">
                  <c:v>0.024998</c:v>
                </c:pt>
                <c:pt idx="5">
                  <c:v>0.024844</c:v>
                </c:pt>
                <c:pt idx="6">
                  <c:v>0.459548</c:v>
                </c:pt>
                <c:pt idx="7">
                  <c:v>0.343382</c:v>
                </c:pt>
                <c:pt idx="8">
                  <c:v>0.60515</c:v>
                </c:pt>
                <c:pt idx="9">
                  <c:v>0.796308</c:v>
                </c:pt>
                <c:pt idx="10">
                  <c:v>0.427396</c:v>
                </c:pt>
                <c:pt idx="11">
                  <c:v>0.845706</c:v>
                </c:pt>
                <c:pt idx="12">
                  <c:v>0.106954</c:v>
                </c:pt>
                <c:pt idx="13">
                  <c:v>0.638476</c:v>
                </c:pt>
                <c:pt idx="14">
                  <c:v>0.174828</c:v>
                </c:pt>
                <c:pt idx="15">
                  <c:v>0.011616</c:v>
                </c:pt>
                <c:pt idx="16">
                  <c:v>0.277586</c:v>
                </c:pt>
                <c:pt idx="17">
                  <c:v>0.051766</c:v>
                </c:pt>
                <c:pt idx="18">
                  <c:v>0.469116</c:v>
                </c:pt>
                <c:pt idx="19">
                  <c:v>0.709896</c:v>
                </c:pt>
                <c:pt idx="20">
                  <c:v>0.261962</c:v>
                </c:pt>
                <c:pt idx="21">
                  <c:v>0.410144</c:v>
                </c:pt>
                <c:pt idx="22">
                  <c:v>0.774934</c:v>
                </c:pt>
                <c:pt idx="23">
                  <c:v>0.565102</c:v>
                </c:pt>
                <c:pt idx="24">
                  <c:v>0.920782</c:v>
                </c:pt>
                <c:pt idx="25">
                  <c:v>0.303534</c:v>
                </c:pt>
                <c:pt idx="26">
                  <c:v>0.001362</c:v>
                </c:pt>
                <c:pt idx="27">
                  <c:v>0.07816</c:v>
                </c:pt>
                <c:pt idx="28">
                  <c:v>0.143286</c:v>
                </c:pt>
                <c:pt idx="29">
                  <c:v>0.36048</c:v>
                </c:pt>
                <c:pt idx="30">
                  <c:v>0.381722</c:v>
                </c:pt>
                <c:pt idx="31">
                  <c:v>0.007536</c:v>
                </c:pt>
                <c:pt idx="32">
                  <c:v>0.124824</c:v>
                </c:pt>
                <c:pt idx="33">
                  <c:v>0.822802</c:v>
                </c:pt>
                <c:pt idx="34">
                  <c:v>0.291386</c:v>
                </c:pt>
                <c:pt idx="35">
                  <c:v>0.055116</c:v>
                </c:pt>
                <c:pt idx="36">
                  <c:v>0.038908</c:v>
                </c:pt>
                <c:pt idx="37">
                  <c:v>0.190456</c:v>
                </c:pt>
                <c:pt idx="38">
                  <c:v>0.416142</c:v>
                </c:pt>
                <c:pt idx="39">
                  <c:v>0.629632</c:v>
                </c:pt>
                <c:pt idx="40">
                  <c:v>0.571952</c:v>
                </c:pt>
                <c:pt idx="41">
                  <c:v>0.340876</c:v>
                </c:pt>
                <c:pt idx="42">
                  <c:v>0.534584</c:v>
                </c:pt>
                <c:pt idx="43">
                  <c:v>0.236722</c:v>
                </c:pt>
                <c:pt idx="44">
                  <c:v>0.067034</c:v>
                </c:pt>
                <c:pt idx="45">
                  <c:v>0.215498</c:v>
                </c:pt>
                <c:pt idx="46">
                  <c:v>0.032394</c:v>
                </c:pt>
                <c:pt idx="47">
                  <c:v>0.510242</c:v>
                </c:pt>
                <c:pt idx="48">
                  <c:v>0.530826</c:v>
                </c:pt>
                <c:pt idx="49">
                  <c:v>0.264812</c:v>
                </c:pt>
                <c:pt idx="50">
                  <c:v>0.52812</c:v>
                </c:pt>
                <c:pt idx="51">
                  <c:v>0.424224</c:v>
                </c:pt>
                <c:pt idx="52">
                  <c:v>0.311094</c:v>
                </c:pt>
                <c:pt idx="53">
                  <c:v>1.046986</c:v>
                </c:pt>
                <c:pt idx="54">
                  <c:v>0.482452</c:v>
                </c:pt>
                <c:pt idx="55">
                  <c:v>0.72041</c:v>
                </c:pt>
                <c:pt idx="56">
                  <c:v>0.392048</c:v>
                </c:pt>
                <c:pt idx="57">
                  <c:v>0.451786</c:v>
                </c:pt>
                <c:pt idx="58">
                  <c:v>0.349916</c:v>
                </c:pt>
                <c:pt idx="59">
                  <c:v>0.007544</c:v>
                </c:pt>
                <c:pt idx="60">
                  <c:v>0.19415</c:v>
                </c:pt>
                <c:pt idx="61">
                  <c:v>0.477806</c:v>
                </c:pt>
                <c:pt idx="62">
                  <c:v>0.382362</c:v>
                </c:pt>
                <c:pt idx="63">
                  <c:v>0.368392</c:v>
                </c:pt>
                <c:pt idx="64">
                  <c:v>0.097388</c:v>
                </c:pt>
                <c:pt idx="65">
                  <c:v>0.311126</c:v>
                </c:pt>
                <c:pt idx="66">
                  <c:v>0.731716</c:v>
                </c:pt>
                <c:pt idx="67">
                  <c:v>0.87757</c:v>
                </c:pt>
                <c:pt idx="68">
                  <c:v>0.19974</c:v>
                </c:pt>
                <c:pt idx="69">
                  <c:v>0.77078</c:v>
                </c:pt>
                <c:pt idx="70">
                  <c:v>0.241252</c:v>
                </c:pt>
                <c:pt idx="71">
                  <c:v>0.166944</c:v>
                </c:pt>
                <c:pt idx="72">
                  <c:v>0.363786</c:v>
                </c:pt>
                <c:pt idx="73">
                  <c:v>0.31931</c:v>
                </c:pt>
                <c:pt idx="74">
                  <c:v>0.123028</c:v>
                </c:pt>
                <c:pt idx="75">
                  <c:v>0.317662</c:v>
                </c:pt>
                <c:pt idx="76">
                  <c:v>0.579762</c:v>
                </c:pt>
                <c:pt idx="77">
                  <c:v>0.104418</c:v>
                </c:pt>
                <c:pt idx="78">
                  <c:v>0.24022</c:v>
                </c:pt>
                <c:pt idx="79">
                  <c:v>0.13467</c:v>
                </c:pt>
                <c:pt idx="80">
                  <c:v>0.44376</c:v>
                </c:pt>
                <c:pt idx="81">
                  <c:v>0.201038</c:v>
                </c:pt>
                <c:pt idx="82">
                  <c:v>0.492948</c:v>
                </c:pt>
                <c:pt idx="83">
                  <c:v>0.665486</c:v>
                </c:pt>
                <c:pt idx="84">
                  <c:v>0.112108</c:v>
                </c:pt>
                <c:pt idx="85">
                  <c:v>0.25212</c:v>
                </c:pt>
                <c:pt idx="86">
                  <c:v>0.248224</c:v>
                </c:pt>
                <c:pt idx="87">
                  <c:v>0.231974</c:v>
                </c:pt>
                <c:pt idx="88">
                  <c:v>0.292472</c:v>
                </c:pt>
                <c:pt idx="89">
                  <c:v>0.313662</c:v>
                </c:pt>
                <c:pt idx="90">
                  <c:v>0.281824</c:v>
                </c:pt>
                <c:pt idx="91">
                  <c:v>0.032448</c:v>
                </c:pt>
                <c:pt idx="92">
                  <c:v>0.401072</c:v>
                </c:pt>
                <c:pt idx="93">
                  <c:v>0.414878</c:v>
                </c:pt>
                <c:pt idx="94">
                  <c:v>0.427584</c:v>
                </c:pt>
                <c:pt idx="95">
                  <c:v>0.25248</c:v>
                </c:pt>
                <c:pt idx="96">
                  <c:v>0.02502</c:v>
                </c:pt>
                <c:pt idx="97">
                  <c:v>0.069948</c:v>
                </c:pt>
                <c:pt idx="98">
                  <c:v>0.464548</c:v>
                </c:pt>
                <c:pt idx="99">
                  <c:v>0.02824</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
        </c:scaling>
        <c:delete val="0"/>
        <c:axPos val="l"/>
        <c:majorGridlines>
          <c:spPr>
            <a:ln xmlns:a="http://schemas.openxmlformats.org/drawingml/2006/main" w="9525">
              <a:solidFill>
                <a:srgbClr val="DDE4E8"/>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|ΔC′ residual| (ppm)</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valAx>
      <c:valAx>
        <c:axId val="48650112"/>
        <c:scaling>
          <c:orientation val="minMax"/>
          <c:max val="446"/>
          <c:min val="33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AR residue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Raw pool</c:v>
          </c:tx>
          <c:spPr>
            <a:ln xmlns:a="http://schemas.openxmlformats.org/drawingml/2006/main" w="23813">
              <a:solidFill>
                <a:srgbClr val="596973"/>
              </a:solidFill>
            </a:ln>
          </c:spPr>
          <c:marker>
            <c:symbol val="none"/>
          </c:marker>
          <c:xVal>
            <c:numRef>
              <c:f>'Chart Data'!$A$2:$A$104</c:f>
              <c:numCache>
                <c:formatCode>General</c:formatCode>
                <c:ptCount val="103"/>
                <c:pt idx="0">
                  <c:v>330</c:v>
                </c:pt>
                <c:pt idx="1">
                  <c:v>331</c:v>
                </c:pt>
                <c:pt idx="2">
                  <c:v>332</c:v>
                </c:pt>
                <c:pt idx="3">
                  <c:v>333</c:v>
                </c:pt>
                <c:pt idx="4">
                  <c:v>334</c:v>
                </c:pt>
                <c:pt idx="5">
                  <c:v>335</c:v>
                </c:pt>
                <c:pt idx="6">
                  <c:v>336</c:v>
                </c:pt>
                <c:pt idx="7">
                  <c:v>337</c:v>
                </c:pt>
                <c:pt idx="8">
                  <c:v>338</c:v>
                </c:pt>
                <c:pt idx="9">
                  <c:v>340</c:v>
                </c:pt>
                <c:pt idx="10">
                  <c:v>341</c:v>
                </c:pt>
                <c:pt idx="11">
                  <c:v>342</c:v>
                </c:pt>
                <c:pt idx="12">
                  <c:v>343</c:v>
                </c:pt>
                <c:pt idx="13">
                  <c:v>344</c:v>
                </c:pt>
                <c:pt idx="14">
                  <c:v>345</c:v>
                </c:pt>
                <c:pt idx="15">
                  <c:v>346</c:v>
                </c:pt>
                <c:pt idx="16">
                  <c:v>347</c:v>
                </c:pt>
                <c:pt idx="17">
                  <c:v>348</c:v>
                </c:pt>
                <c:pt idx="18">
                  <c:v>349</c:v>
                </c:pt>
                <c:pt idx="19">
                  <c:v>350</c:v>
                </c:pt>
                <c:pt idx="20">
                  <c:v>351</c:v>
                </c:pt>
                <c:pt idx="21">
                  <c:v>352</c:v>
                </c:pt>
                <c:pt idx="22">
                  <c:v>353</c:v>
                </c:pt>
                <c:pt idx="23">
                  <c:v>354</c:v>
                </c:pt>
                <c:pt idx="24">
                  <c:v>355</c:v>
                </c:pt>
                <c:pt idx="25">
                  <c:v>356</c:v>
                </c:pt>
                <c:pt idx="26">
                  <c:v>357</c:v>
                </c:pt>
                <c:pt idx="27">
                  <c:v>358</c:v>
                </c:pt>
                <c:pt idx="28">
                  <c:v>359</c:v>
                </c:pt>
                <c:pt idx="29">
                  <c:v>360</c:v>
                </c:pt>
                <c:pt idx="30">
                  <c:v>361</c:v>
                </c:pt>
                <c:pt idx="31">
                  <c:v>362</c:v>
                </c:pt>
                <c:pt idx="32">
                  <c:v>364</c:v>
                </c:pt>
                <c:pt idx="33">
                  <c:v>366</c:v>
                </c:pt>
                <c:pt idx="34">
                  <c:v>367</c:v>
                </c:pt>
                <c:pt idx="35">
                  <c:v>368</c:v>
                </c:pt>
                <c:pt idx="36">
                  <c:v>369</c:v>
                </c:pt>
                <c:pt idx="37">
                  <c:v>370</c:v>
                </c:pt>
                <c:pt idx="38">
                  <c:v>371</c:v>
                </c:pt>
                <c:pt idx="39">
                  <c:v>379</c:v>
                </c:pt>
                <c:pt idx="40">
                  <c:v>380</c:v>
                </c:pt>
                <c:pt idx="41">
                  <c:v>381</c:v>
                </c:pt>
                <c:pt idx="42">
                  <c:v>382</c:v>
                </c:pt>
                <c:pt idx="43">
                  <c:v>383</c:v>
                </c:pt>
                <c:pt idx="44">
                  <c:v>384</c:v>
                </c:pt>
                <c:pt idx="45">
                  <c:v>385</c:v>
                </c:pt>
                <c:pt idx="46">
                  <c:v>386</c:v>
                </c:pt>
                <c:pt idx="47">
                  <c:v>387</c:v>
                </c:pt>
                <c:pt idx="48">
                  <c:v>388</c:v>
                </c:pt>
                <c:pt idx="49">
                  <c:v>390</c:v>
                </c:pt>
                <c:pt idx="50">
                  <c:v>391</c:v>
                </c:pt>
                <c:pt idx="51">
                  <c:v>392</c:v>
                </c:pt>
                <c:pt idx="52">
                  <c:v>393</c:v>
                </c:pt>
                <c:pt idx="53">
                  <c:v>394</c:v>
                </c:pt>
                <c:pt idx="54">
                  <c:v>395</c:v>
                </c:pt>
                <c:pt idx="55">
                  <c:v>396</c:v>
                </c:pt>
                <c:pt idx="56">
                  <c:v>397</c:v>
                </c:pt>
                <c:pt idx="57">
                  <c:v>398</c:v>
                </c:pt>
                <c:pt idx="58">
                  <c:v>399</c:v>
                </c:pt>
                <c:pt idx="59">
                  <c:v>400</c:v>
                </c:pt>
                <c:pt idx="60">
                  <c:v>401</c:v>
                </c:pt>
                <c:pt idx="61">
                  <c:v>402</c:v>
                </c:pt>
                <c:pt idx="62">
                  <c:v>403</c:v>
                </c:pt>
                <c:pt idx="63">
                  <c:v>404</c:v>
                </c:pt>
                <c:pt idx="64">
                  <c:v>405</c:v>
                </c:pt>
                <c:pt idx="65">
                  <c:v>406</c:v>
                </c:pt>
                <c:pt idx="66">
                  <c:v>407</c:v>
                </c:pt>
                <c:pt idx="67">
                  <c:v>408</c:v>
                </c:pt>
                <c:pt idx="68">
                  <c:v>409</c:v>
                </c:pt>
                <c:pt idx="69">
                  <c:v>410</c:v>
                </c:pt>
                <c:pt idx="70">
                  <c:v>411</c:v>
                </c:pt>
                <c:pt idx="71">
                  <c:v>412</c:v>
                </c:pt>
                <c:pt idx="72">
                  <c:v>413</c:v>
                </c:pt>
                <c:pt idx="73">
                  <c:v>414</c:v>
                </c:pt>
                <c:pt idx="74">
                  <c:v>415</c:v>
                </c:pt>
                <c:pt idx="75">
                  <c:v>416</c:v>
                </c:pt>
                <c:pt idx="76">
                  <c:v>417</c:v>
                </c:pt>
                <c:pt idx="77">
                  <c:v>418</c:v>
                </c:pt>
                <c:pt idx="78">
                  <c:v>420</c:v>
                </c:pt>
                <c:pt idx="79">
                  <c:v>421</c:v>
                </c:pt>
                <c:pt idx="80">
                  <c:v>422</c:v>
                </c:pt>
                <c:pt idx="81">
                  <c:v>423</c:v>
                </c:pt>
                <c:pt idx="82">
                  <c:v>425</c:v>
                </c:pt>
                <c:pt idx="83">
                  <c:v>426</c:v>
                </c:pt>
                <c:pt idx="84">
                  <c:v>427</c:v>
                </c:pt>
                <c:pt idx="85">
                  <c:v>428</c:v>
                </c:pt>
                <c:pt idx="86">
                  <c:v>429</c:v>
                </c:pt>
                <c:pt idx="87">
                  <c:v>430</c:v>
                </c:pt>
                <c:pt idx="88">
                  <c:v>431</c:v>
                </c:pt>
                <c:pt idx="89">
                  <c:v>432</c:v>
                </c:pt>
                <c:pt idx="90">
                  <c:v>433</c:v>
                </c:pt>
                <c:pt idx="91">
                  <c:v>434</c:v>
                </c:pt>
                <c:pt idx="92">
                  <c:v>435</c:v>
                </c:pt>
                <c:pt idx="93">
                  <c:v>436</c:v>
                </c:pt>
                <c:pt idx="94">
                  <c:v>437</c:v>
                </c:pt>
                <c:pt idx="95">
                  <c:v>438</c:v>
                </c:pt>
                <c:pt idx="96">
                  <c:v>439</c:v>
                </c:pt>
                <c:pt idx="97">
                  <c:v>440</c:v>
                </c:pt>
                <c:pt idx="98">
                  <c:v>441</c:v>
                </c:pt>
                <c:pt idx="99">
                  <c:v>442</c:v>
                </c:pt>
                <c:pt idx="100">
                  <c:v>443</c:v>
                </c:pt>
                <c:pt idx="101">
                  <c:v>444</c:v>
                </c:pt>
                <c:pt idx="102">
                  <c:v>445</c:v>
                </c:pt>
              </c:numCache>
            </c:numRef>
          </c:xVal>
          <c:yVal>
            <c:numRef>
              <c:f>'Chart Data'!$B$2:$B$104</c:f>
              <c:numCache>
                <c:formatCode>0.0</c:formatCode>
                <c:ptCount val="103"/>
                <c:pt idx="0">
                  <c:v>0.412432</c:v>
                </c:pt>
                <c:pt idx="1">
                  <c:v>0.229612</c:v>
                </c:pt>
                <c:pt idx="2">
                  <c:v>0.410735</c:v>
                </c:pt>
                <c:pt idx="3">
                  <c:v>0.188249</c:v>
                </c:pt>
                <c:pt idx="4">
                  <c:v>0.404582</c:v>
                </c:pt>
                <c:pt idx="5">
                  <c:v>0.264077</c:v>
                </c:pt>
                <c:pt idx="6">
                  <c:v>0.175871</c:v>
                </c:pt>
                <c:pt idx="7">
                  <c:v>0.221039</c:v>
                </c:pt>
                <c:pt idx="8">
                  <c:v>0.101438</c:v>
                </c:pt>
                <c:pt idx="9">
                  <c:v>0.436831</c:v>
                </c:pt>
                <c:pt idx="10">
                  <c:v>0.417505</c:v>
                </c:pt>
                <c:pt idx="11">
                  <c:v>0.321436</c:v>
                </c:pt>
                <c:pt idx="12">
                  <c:v>0.592277</c:v>
                </c:pt>
                <c:pt idx="13">
                  <c:v>0.246644</c:v>
                </c:pt>
                <c:pt idx="14">
                  <c:v>0.464195</c:v>
                </c:pt>
                <c:pt idx="15">
                  <c:v>0.257006</c:v>
                </c:pt>
                <c:pt idx="16">
                  <c:v>0.377093</c:v>
                </c:pt>
                <c:pt idx="17">
                  <c:v>0.388015</c:v>
                </c:pt>
                <c:pt idx="18">
                  <c:v>0.482933</c:v>
                </c:pt>
                <c:pt idx="19">
                  <c:v>0.455227</c:v>
                </c:pt>
                <c:pt idx="20">
                  <c:v>0.768908</c:v>
                </c:pt>
                <c:pt idx="21">
                  <c:v>0.038829</c:v>
                </c:pt>
                <c:pt idx="22">
                  <c:v>0.665928</c:v>
                </c:pt>
                <c:pt idx="23">
                  <c:v>0.664985</c:v>
                </c:pt>
                <c:pt idx="24">
                  <c:v>0.905708</c:v>
                </c:pt>
                <c:pt idx="25">
                  <c:v>0.325935</c:v>
                </c:pt>
                <c:pt idx="26">
                  <c:v>0.094227</c:v>
                </c:pt>
                <c:pt idx="27">
                  <c:v>0.423248</c:v>
                </c:pt>
                <c:pt idx="28">
                  <c:v>0.403597</c:v>
                </c:pt>
                <c:pt idx="29">
                  <c:v>0.306458</c:v>
                </c:pt>
                <c:pt idx="30">
                  <c:v>0.20546</c:v>
                </c:pt>
                <c:pt idx="31">
                  <c:v>0.564155</c:v>
                </c:pt>
                <c:pt idx="32">
                  <c:v>0.335507</c:v>
                </c:pt>
                <c:pt idx="33">
                  <c:v>0.185816</c:v>
                </c:pt>
                <c:pt idx="34">
                  <c:v>0.350941</c:v>
                </c:pt>
                <c:pt idx="35">
                  <c:v>0.048597</c:v>
                </c:pt>
                <c:pt idx="36">
                  <c:v>0.183018</c:v>
                </c:pt>
                <c:pt idx="37">
                  <c:v>0.058726</c:v>
                </c:pt>
                <c:pt idx="38">
                  <c:v>0.294704</c:v>
                </c:pt>
                <c:pt idx="39">
                  <c:v>0.493711</c:v>
                </c:pt>
                <c:pt idx="40">
                  <c:v>0.693421</c:v>
                </c:pt>
                <c:pt idx="41">
                  <c:v>0.056566</c:v>
                </c:pt>
                <c:pt idx="42">
                  <c:v>0.254593</c:v>
                </c:pt>
                <c:pt idx="43">
                  <c:v>0.252831</c:v>
                </c:pt>
                <c:pt idx="44">
                  <c:v>0.22626</c:v>
                </c:pt>
                <c:pt idx="45">
                  <c:v>0.008128</c:v>
                </c:pt>
                <c:pt idx="46">
                  <c:v>0.144561</c:v>
                </c:pt>
                <c:pt idx="47">
                  <c:v>0.139472</c:v>
                </c:pt>
                <c:pt idx="48">
                  <c:v>0.029131</c:v>
                </c:pt>
                <c:pt idx="49">
                  <c:v>0.039714</c:v>
                </c:pt>
                <c:pt idx="50">
                  <c:v>0.578249</c:v>
                </c:pt>
                <c:pt idx="51">
                  <c:v>0.195533</c:v>
                </c:pt>
                <c:pt idx="52">
                  <c:v>0.562294</c:v>
                </c:pt>
                <c:pt idx="53">
                  <c:v>0.600752</c:v>
                </c:pt>
                <c:pt idx="54">
                  <c:v>0.472793</c:v>
                </c:pt>
                <c:pt idx="55">
                  <c:v>1.037937</c:v>
                </c:pt>
                <c:pt idx="56">
                  <c:v>0.747221</c:v>
                </c:pt>
                <c:pt idx="57">
                  <c:v>0.396841</c:v>
                </c:pt>
                <c:pt idx="58">
                  <c:v>0.302609</c:v>
                </c:pt>
                <c:pt idx="59">
                  <c:v>0.301433</c:v>
                </c:pt>
                <c:pt idx="60">
                  <c:v>0.096082</c:v>
                </c:pt>
                <c:pt idx="61">
                  <c:v>0.029176</c:v>
                </c:pt>
                <c:pt idx="62">
                  <c:v>0.068203</c:v>
                </c:pt>
                <c:pt idx="63">
                  <c:v>0.387516</c:v>
                </c:pt>
                <c:pt idx="64">
                  <c:v>0.070674</c:v>
                </c:pt>
                <c:pt idx="65">
                  <c:v>0.102971</c:v>
                </c:pt>
                <c:pt idx="66">
                  <c:v>0.64988</c:v>
                </c:pt>
                <c:pt idx="67">
                  <c:v>0.49725</c:v>
                </c:pt>
                <c:pt idx="68">
                  <c:v>0.994953</c:v>
                </c:pt>
                <c:pt idx="69">
                  <c:v>0.733121</c:v>
                </c:pt>
                <c:pt idx="70">
                  <c:v>0.427884</c:v>
                </c:pt>
                <c:pt idx="71">
                  <c:v>0.426177</c:v>
                </c:pt>
                <c:pt idx="72">
                  <c:v>0.13507</c:v>
                </c:pt>
                <c:pt idx="73">
                  <c:v>0.503751</c:v>
                </c:pt>
                <c:pt idx="74">
                  <c:v>0.347197</c:v>
                </c:pt>
                <c:pt idx="75">
                  <c:v>0.5081</c:v>
                </c:pt>
                <c:pt idx="76">
                  <c:v>0.159544</c:v>
                </c:pt>
                <c:pt idx="77">
                  <c:v>0.32791</c:v>
                </c:pt>
                <c:pt idx="78">
                  <c:v>0.140297</c:v>
                </c:pt>
                <c:pt idx="79">
                  <c:v>0.496041</c:v>
                </c:pt>
                <c:pt idx="80">
                  <c:v>0.241471</c:v>
                </c:pt>
                <c:pt idx="81">
                  <c:v>0.118236</c:v>
                </c:pt>
                <c:pt idx="82">
                  <c:v>0.016942</c:v>
                </c:pt>
                <c:pt idx="83">
                  <c:v>0.112892</c:v>
                </c:pt>
                <c:pt idx="84">
                  <c:v>0.442046</c:v>
                </c:pt>
                <c:pt idx="85">
                  <c:v>0.340533</c:v>
                </c:pt>
                <c:pt idx="86">
                  <c:v>0.415897</c:v>
                </c:pt>
                <c:pt idx="87">
                  <c:v>0.110341</c:v>
                </c:pt>
                <c:pt idx="88">
                  <c:v>0.00438</c:v>
                </c:pt>
                <c:pt idx="89">
                  <c:v>0.103867</c:v>
                </c:pt>
                <c:pt idx="90">
                  <c:v>0.041961</c:v>
                </c:pt>
                <c:pt idx="91">
                  <c:v>0.059045</c:v>
                </c:pt>
                <c:pt idx="92">
                  <c:v>0.170486</c:v>
                </c:pt>
                <c:pt idx="93">
                  <c:v>0.287043</c:v>
                </c:pt>
                <c:pt idx="94">
                  <c:v>0.421756</c:v>
                </c:pt>
                <c:pt idx="95">
                  <c:v>0.018694</c:v>
                </c:pt>
                <c:pt idx="96">
                  <c:v>0.205922</c:v>
                </c:pt>
                <c:pt idx="97">
                  <c:v>0.59862</c:v>
                </c:pt>
                <c:pt idx="98">
                  <c:v>0.249272</c:v>
                </c:pt>
                <c:pt idx="99">
                  <c:v>0.399361</c:v>
                </c:pt>
                <c:pt idx="100">
                  <c:v>0.108941</c:v>
                </c:pt>
                <c:pt idx="101">
                  <c:v>0.082426</c:v>
                </c:pt>
                <c:pt idx="102">
                  <c:v>0.243483</c:v>
                </c:pt>
              </c:numCache>
            </c:numRef>
          </c:yVal>
        </c:ser>
        <c:ser>
          <c:idx val="1"/>
          <c:order val="1"/>
          <c:tx>
            <c:v>Selected</c:v>
          </c:tx>
          <c:spPr>
            <a:ln xmlns:a="http://schemas.openxmlformats.org/drawingml/2006/main" w="23813">
              <a:solidFill>
                <a:srgbClr val="DA762F"/>
              </a:solidFill>
            </a:ln>
          </c:spPr>
          <c:marker>
            <c:symbol val="none"/>
          </c:marker>
          <c:xVal>
            <c:numRef>
              <c:f>'Chart Data'!$C$2:$C$104</c:f>
              <c:numCache>
                <c:formatCode>General</c:formatCode>
                <c:ptCount val="103"/>
                <c:pt idx="0">
                  <c:v>330</c:v>
                </c:pt>
                <c:pt idx="1">
                  <c:v>331</c:v>
                </c:pt>
                <c:pt idx="2">
                  <c:v>332</c:v>
                </c:pt>
                <c:pt idx="3">
                  <c:v>333</c:v>
                </c:pt>
                <c:pt idx="4">
                  <c:v>334</c:v>
                </c:pt>
                <c:pt idx="5">
                  <c:v>335</c:v>
                </c:pt>
                <c:pt idx="6">
                  <c:v>336</c:v>
                </c:pt>
                <c:pt idx="7">
                  <c:v>337</c:v>
                </c:pt>
                <c:pt idx="8">
                  <c:v>338</c:v>
                </c:pt>
                <c:pt idx="9">
                  <c:v>340</c:v>
                </c:pt>
                <c:pt idx="10">
                  <c:v>341</c:v>
                </c:pt>
                <c:pt idx="11">
                  <c:v>342</c:v>
                </c:pt>
                <c:pt idx="12">
                  <c:v>343</c:v>
                </c:pt>
                <c:pt idx="13">
                  <c:v>344</c:v>
                </c:pt>
                <c:pt idx="14">
                  <c:v>345</c:v>
                </c:pt>
                <c:pt idx="15">
                  <c:v>346</c:v>
                </c:pt>
                <c:pt idx="16">
                  <c:v>347</c:v>
                </c:pt>
                <c:pt idx="17">
                  <c:v>348</c:v>
                </c:pt>
                <c:pt idx="18">
                  <c:v>349</c:v>
                </c:pt>
                <c:pt idx="19">
                  <c:v>350</c:v>
                </c:pt>
                <c:pt idx="20">
                  <c:v>351</c:v>
                </c:pt>
                <c:pt idx="21">
                  <c:v>352</c:v>
                </c:pt>
                <c:pt idx="22">
                  <c:v>353</c:v>
                </c:pt>
                <c:pt idx="23">
                  <c:v>354</c:v>
                </c:pt>
                <c:pt idx="24">
                  <c:v>355</c:v>
                </c:pt>
                <c:pt idx="25">
                  <c:v>356</c:v>
                </c:pt>
                <c:pt idx="26">
                  <c:v>357</c:v>
                </c:pt>
                <c:pt idx="27">
                  <c:v>358</c:v>
                </c:pt>
                <c:pt idx="28">
                  <c:v>359</c:v>
                </c:pt>
                <c:pt idx="29">
                  <c:v>360</c:v>
                </c:pt>
                <c:pt idx="30">
                  <c:v>361</c:v>
                </c:pt>
                <c:pt idx="31">
                  <c:v>362</c:v>
                </c:pt>
                <c:pt idx="32">
                  <c:v>364</c:v>
                </c:pt>
                <c:pt idx="33">
                  <c:v>366</c:v>
                </c:pt>
                <c:pt idx="34">
                  <c:v>367</c:v>
                </c:pt>
                <c:pt idx="35">
                  <c:v>368</c:v>
                </c:pt>
                <c:pt idx="36">
                  <c:v>369</c:v>
                </c:pt>
                <c:pt idx="37">
                  <c:v>370</c:v>
                </c:pt>
                <c:pt idx="38">
                  <c:v>371</c:v>
                </c:pt>
                <c:pt idx="39">
                  <c:v>379</c:v>
                </c:pt>
                <c:pt idx="40">
                  <c:v>380</c:v>
                </c:pt>
                <c:pt idx="41">
                  <c:v>381</c:v>
                </c:pt>
                <c:pt idx="42">
                  <c:v>382</c:v>
                </c:pt>
                <c:pt idx="43">
                  <c:v>383</c:v>
                </c:pt>
                <c:pt idx="44">
                  <c:v>384</c:v>
                </c:pt>
                <c:pt idx="45">
                  <c:v>385</c:v>
                </c:pt>
                <c:pt idx="46">
                  <c:v>386</c:v>
                </c:pt>
                <c:pt idx="47">
                  <c:v>387</c:v>
                </c:pt>
                <c:pt idx="48">
                  <c:v>388</c:v>
                </c:pt>
                <c:pt idx="49">
                  <c:v>390</c:v>
                </c:pt>
                <c:pt idx="50">
                  <c:v>391</c:v>
                </c:pt>
                <c:pt idx="51">
                  <c:v>392</c:v>
                </c:pt>
                <c:pt idx="52">
                  <c:v>393</c:v>
                </c:pt>
                <c:pt idx="53">
                  <c:v>394</c:v>
                </c:pt>
                <c:pt idx="54">
                  <c:v>395</c:v>
                </c:pt>
                <c:pt idx="55">
                  <c:v>396</c:v>
                </c:pt>
                <c:pt idx="56">
                  <c:v>397</c:v>
                </c:pt>
                <c:pt idx="57">
                  <c:v>398</c:v>
                </c:pt>
                <c:pt idx="58">
                  <c:v>399</c:v>
                </c:pt>
                <c:pt idx="59">
                  <c:v>400</c:v>
                </c:pt>
                <c:pt idx="60">
                  <c:v>401</c:v>
                </c:pt>
                <c:pt idx="61">
                  <c:v>402</c:v>
                </c:pt>
                <c:pt idx="62">
                  <c:v>403</c:v>
                </c:pt>
                <c:pt idx="63">
                  <c:v>404</c:v>
                </c:pt>
                <c:pt idx="64">
                  <c:v>405</c:v>
                </c:pt>
                <c:pt idx="65">
                  <c:v>406</c:v>
                </c:pt>
                <c:pt idx="66">
                  <c:v>407</c:v>
                </c:pt>
                <c:pt idx="67">
                  <c:v>408</c:v>
                </c:pt>
                <c:pt idx="68">
                  <c:v>409</c:v>
                </c:pt>
                <c:pt idx="69">
                  <c:v>410</c:v>
                </c:pt>
                <c:pt idx="70">
                  <c:v>411</c:v>
                </c:pt>
                <c:pt idx="71">
                  <c:v>412</c:v>
                </c:pt>
                <c:pt idx="72">
                  <c:v>413</c:v>
                </c:pt>
                <c:pt idx="73">
                  <c:v>414</c:v>
                </c:pt>
                <c:pt idx="74">
                  <c:v>415</c:v>
                </c:pt>
                <c:pt idx="75">
                  <c:v>416</c:v>
                </c:pt>
                <c:pt idx="76">
                  <c:v>417</c:v>
                </c:pt>
                <c:pt idx="77">
                  <c:v>418</c:v>
                </c:pt>
                <c:pt idx="78">
                  <c:v>420</c:v>
                </c:pt>
                <c:pt idx="79">
                  <c:v>421</c:v>
                </c:pt>
                <c:pt idx="80">
                  <c:v>422</c:v>
                </c:pt>
                <c:pt idx="81">
                  <c:v>423</c:v>
                </c:pt>
                <c:pt idx="82">
                  <c:v>425</c:v>
                </c:pt>
                <c:pt idx="83">
                  <c:v>426</c:v>
                </c:pt>
                <c:pt idx="84">
                  <c:v>427</c:v>
                </c:pt>
                <c:pt idx="85">
                  <c:v>428</c:v>
                </c:pt>
                <c:pt idx="86">
                  <c:v>429</c:v>
                </c:pt>
                <c:pt idx="87">
                  <c:v>430</c:v>
                </c:pt>
                <c:pt idx="88">
                  <c:v>431</c:v>
                </c:pt>
                <c:pt idx="89">
                  <c:v>432</c:v>
                </c:pt>
                <c:pt idx="90">
                  <c:v>433</c:v>
                </c:pt>
                <c:pt idx="91">
                  <c:v>434</c:v>
                </c:pt>
                <c:pt idx="92">
                  <c:v>435</c:v>
                </c:pt>
                <c:pt idx="93">
                  <c:v>436</c:v>
                </c:pt>
                <c:pt idx="94">
                  <c:v>437</c:v>
                </c:pt>
                <c:pt idx="95">
                  <c:v>438</c:v>
                </c:pt>
                <c:pt idx="96">
                  <c:v>439</c:v>
                </c:pt>
                <c:pt idx="97">
                  <c:v>440</c:v>
                </c:pt>
                <c:pt idx="98">
                  <c:v>441</c:v>
                </c:pt>
                <c:pt idx="99">
                  <c:v>442</c:v>
                </c:pt>
                <c:pt idx="100">
                  <c:v>443</c:v>
                </c:pt>
                <c:pt idx="101">
                  <c:v>444</c:v>
                </c:pt>
                <c:pt idx="102">
                  <c:v>445</c:v>
                </c:pt>
              </c:numCache>
            </c:numRef>
          </c:xVal>
          <c:yVal>
            <c:numRef>
              <c:f>'Chart Data'!$D$2:$D$104</c:f>
              <c:numCache>
                <c:formatCode>0.0</c:formatCode>
                <c:ptCount val="103"/>
                <c:pt idx="0">
                  <c:v>0.433834</c:v>
                </c:pt>
                <c:pt idx="1">
                  <c:v>0.21047</c:v>
                </c:pt>
                <c:pt idx="2">
                  <c:v>0.41137</c:v>
                </c:pt>
                <c:pt idx="3">
                  <c:v>0.2272</c:v>
                </c:pt>
                <c:pt idx="4">
                  <c:v>0.406338</c:v>
                </c:pt>
                <c:pt idx="5">
                  <c:v>0.245362</c:v>
                </c:pt>
                <c:pt idx="6">
                  <c:v>0.101652</c:v>
                </c:pt>
                <c:pt idx="7">
                  <c:v>0.187616</c:v>
                </c:pt>
                <c:pt idx="8">
                  <c:v>0.101538</c:v>
                </c:pt>
                <c:pt idx="9">
                  <c:v>0.365086</c:v>
                </c:pt>
                <c:pt idx="10">
                  <c:v>0.439588</c:v>
                </c:pt>
                <c:pt idx="11">
                  <c:v>0.253384</c:v>
                </c:pt>
                <c:pt idx="12">
                  <c:v>0.50041</c:v>
                </c:pt>
                <c:pt idx="13">
                  <c:v>0.167896</c:v>
                </c:pt>
                <c:pt idx="14">
                  <c:v>0.444714</c:v>
                </c:pt>
                <c:pt idx="15">
                  <c:v>0.21906</c:v>
                </c:pt>
                <c:pt idx="16">
                  <c:v>0.27456</c:v>
                </c:pt>
                <c:pt idx="17">
                  <c:v>0.360506</c:v>
                </c:pt>
                <c:pt idx="18">
                  <c:v>0.468224</c:v>
                </c:pt>
                <c:pt idx="19">
                  <c:v>0.401024</c:v>
                </c:pt>
                <c:pt idx="20">
                  <c:v>0.668502</c:v>
                </c:pt>
                <c:pt idx="21">
                  <c:v>0.031714</c:v>
                </c:pt>
                <c:pt idx="22">
                  <c:v>0.409596</c:v>
                </c:pt>
                <c:pt idx="23">
                  <c:v>0.44984</c:v>
                </c:pt>
                <c:pt idx="24">
                  <c:v>0.624672</c:v>
                </c:pt>
                <c:pt idx="25">
                  <c:v>0.196364</c:v>
                </c:pt>
                <c:pt idx="26">
                  <c:v>0.113932</c:v>
                </c:pt>
                <c:pt idx="27">
                  <c:v>0.44476</c:v>
                </c:pt>
                <c:pt idx="28">
                  <c:v>0.292902</c:v>
                </c:pt>
                <c:pt idx="29">
                  <c:v>0.321188</c:v>
                </c:pt>
                <c:pt idx="30">
                  <c:v>0.158014</c:v>
                </c:pt>
                <c:pt idx="31">
                  <c:v>0.319736</c:v>
                </c:pt>
                <c:pt idx="32">
                  <c:v>0.33639</c:v>
                </c:pt>
                <c:pt idx="33">
                  <c:v>0.16307</c:v>
                </c:pt>
                <c:pt idx="34">
                  <c:v>0.238478</c:v>
                </c:pt>
                <c:pt idx="35">
                  <c:v>0.111432</c:v>
                </c:pt>
                <c:pt idx="36">
                  <c:v>0.151154</c:v>
                </c:pt>
                <c:pt idx="37">
                  <c:v>0.072742</c:v>
                </c:pt>
                <c:pt idx="38">
                  <c:v>0.276804</c:v>
                </c:pt>
                <c:pt idx="39">
                  <c:v>0.483806</c:v>
                </c:pt>
                <c:pt idx="40">
                  <c:v>0.633838</c:v>
                </c:pt>
                <c:pt idx="41">
                  <c:v>0.042826</c:v>
                </c:pt>
                <c:pt idx="42">
                  <c:v>0.218096</c:v>
                </c:pt>
                <c:pt idx="43">
                  <c:v>0.187332</c:v>
                </c:pt>
                <c:pt idx="44">
                  <c:v>0.261788</c:v>
                </c:pt>
                <c:pt idx="45">
                  <c:v>0.015236</c:v>
                </c:pt>
                <c:pt idx="46">
                  <c:v>0.096676</c:v>
                </c:pt>
                <c:pt idx="47">
                  <c:v>0.099554</c:v>
                </c:pt>
                <c:pt idx="48">
                  <c:v>0.04489</c:v>
                </c:pt>
                <c:pt idx="49">
                  <c:v>0.035644</c:v>
                </c:pt>
                <c:pt idx="50">
                  <c:v>0.434822</c:v>
                </c:pt>
                <c:pt idx="51">
                  <c:v>0.261822</c:v>
                </c:pt>
                <c:pt idx="52">
                  <c:v>0.318386</c:v>
                </c:pt>
                <c:pt idx="53">
                  <c:v>0.448178</c:v>
                </c:pt>
                <c:pt idx="54">
                  <c:v>0.210728</c:v>
                </c:pt>
                <c:pt idx="55">
                  <c:v>0.544896</c:v>
                </c:pt>
                <c:pt idx="56">
                  <c:v>0.21723</c:v>
                </c:pt>
                <c:pt idx="57">
                  <c:v>0.096612</c:v>
                </c:pt>
                <c:pt idx="58">
                  <c:v>0.120338</c:v>
                </c:pt>
                <c:pt idx="59">
                  <c:v>0.087708</c:v>
                </c:pt>
                <c:pt idx="60">
                  <c:v>0.144952</c:v>
                </c:pt>
                <c:pt idx="61">
                  <c:v>0.108582</c:v>
                </c:pt>
                <c:pt idx="62">
                  <c:v>0.019618</c:v>
                </c:pt>
                <c:pt idx="63">
                  <c:v>0.331682</c:v>
                </c:pt>
                <c:pt idx="64">
                  <c:v>0.117382</c:v>
                </c:pt>
                <c:pt idx="65">
                  <c:v>0.135942</c:v>
                </c:pt>
                <c:pt idx="66">
                  <c:v>0.586912</c:v>
                </c:pt>
                <c:pt idx="67">
                  <c:v>0.501342</c:v>
                </c:pt>
                <c:pt idx="68">
                  <c:v>0.637944</c:v>
                </c:pt>
                <c:pt idx="69">
                  <c:v>0.459688</c:v>
                </c:pt>
                <c:pt idx="70">
                  <c:v>0.179898</c:v>
                </c:pt>
                <c:pt idx="71">
                  <c:v>0.269856</c:v>
                </c:pt>
                <c:pt idx="72">
                  <c:v>0.040024</c:v>
                </c:pt>
                <c:pt idx="73">
                  <c:v>0.407776</c:v>
                </c:pt>
                <c:pt idx="74">
                  <c:v>0.355862</c:v>
                </c:pt>
                <c:pt idx="75">
                  <c:v>0.482194</c:v>
                </c:pt>
                <c:pt idx="76">
                  <c:v>0.11869</c:v>
                </c:pt>
                <c:pt idx="77">
                  <c:v>0.302074</c:v>
                </c:pt>
                <c:pt idx="78">
                  <c:v>0.160918</c:v>
                </c:pt>
                <c:pt idx="79">
                  <c:v>0.479886</c:v>
                </c:pt>
                <c:pt idx="80">
                  <c:v>0.227596</c:v>
                </c:pt>
                <c:pt idx="81">
                  <c:v>0.110184</c:v>
                </c:pt>
                <c:pt idx="82">
                  <c:v>5E-05</c:v>
                </c:pt>
                <c:pt idx="83">
                  <c:v>0.115014</c:v>
                </c:pt>
                <c:pt idx="84">
                  <c:v>0.36725</c:v>
                </c:pt>
                <c:pt idx="85">
                  <c:v>0.307032</c:v>
                </c:pt>
                <c:pt idx="86">
                  <c:v>0.354564</c:v>
                </c:pt>
                <c:pt idx="87">
                  <c:v>0.0677</c:v>
                </c:pt>
                <c:pt idx="88">
                  <c:v>0.0514</c:v>
                </c:pt>
                <c:pt idx="89">
                  <c:v>0.136646</c:v>
                </c:pt>
                <c:pt idx="90">
                  <c:v>0.00272</c:v>
                </c:pt>
                <c:pt idx="91">
                  <c:v>0.036388</c:v>
                </c:pt>
                <c:pt idx="92">
                  <c:v>0.110282</c:v>
                </c:pt>
                <c:pt idx="93">
                  <c:v>0.145242</c:v>
                </c:pt>
                <c:pt idx="94">
                  <c:v>0.417158</c:v>
                </c:pt>
                <c:pt idx="95">
                  <c:v>0.152478</c:v>
                </c:pt>
                <c:pt idx="96">
                  <c:v>0.202784</c:v>
                </c:pt>
                <c:pt idx="97">
                  <c:v>0.443578</c:v>
                </c:pt>
                <c:pt idx="98">
                  <c:v>0.261022</c:v>
                </c:pt>
                <c:pt idx="99">
                  <c:v>0.379122</c:v>
                </c:pt>
                <c:pt idx="100">
                  <c:v>0.163392</c:v>
                </c:pt>
                <c:pt idx="101">
                  <c:v>0.080124</c:v>
                </c:pt>
                <c:pt idx="102">
                  <c:v>0.211394</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
        </c:scaling>
        <c:delete val="0"/>
        <c:axPos val="l"/>
        <c:majorGridlines>
          <c:spPr>
            <a:ln xmlns:a="http://schemas.openxmlformats.org/drawingml/2006/main" w="9525">
              <a:solidFill>
                <a:srgbClr val="DDE4E8"/>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|ΔCα residual| (ppm)</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valAx>
      <c:valAx>
        <c:axId val="48650112"/>
        <c:scaling>
          <c:orientation val="minMax"/>
          <c:max val="446"/>
          <c:min val="33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AR residue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Raw pool</c:v>
          </c:tx>
          <c:spPr>
            <a:ln xmlns:a="http://schemas.openxmlformats.org/drawingml/2006/main" w="23813">
              <a:solidFill>
                <a:srgbClr val="596973"/>
              </a:solidFill>
            </a:ln>
          </c:spPr>
          <c:marker>
            <c:symbol val="none"/>
          </c:marker>
          <c:xVal>
            <c:numRef>
              <c:f>'Chart Data'!$A$2:$A$107</c:f>
              <c:numCache>
                <c:formatCode>General</c:formatCode>
                <c:ptCount val="106"/>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379</c:v>
                </c:pt>
                <c:pt idx="42">
                  <c:v>380</c:v>
                </c:pt>
                <c:pt idx="43">
                  <c:v>381</c:v>
                </c:pt>
                <c:pt idx="44">
                  <c:v>382</c:v>
                </c:pt>
                <c:pt idx="45">
                  <c:v>383</c:v>
                </c:pt>
                <c:pt idx="46">
                  <c:v>384</c:v>
                </c:pt>
                <c:pt idx="47">
                  <c:v>385</c:v>
                </c:pt>
                <c:pt idx="48">
                  <c:v>386</c:v>
                </c:pt>
                <c:pt idx="49">
                  <c:v>387</c:v>
                </c:pt>
                <c:pt idx="50">
                  <c:v>388</c:v>
                </c:pt>
                <c:pt idx="51">
                  <c:v>389</c:v>
                </c:pt>
                <c:pt idx="52">
                  <c:v>390</c:v>
                </c:pt>
                <c:pt idx="53">
                  <c:v>391</c:v>
                </c:pt>
                <c:pt idx="54">
                  <c:v>392</c:v>
                </c:pt>
                <c:pt idx="55">
                  <c:v>393</c:v>
                </c:pt>
                <c:pt idx="56">
                  <c:v>394</c:v>
                </c:pt>
                <c:pt idx="57">
                  <c:v>395</c:v>
                </c:pt>
                <c:pt idx="58">
                  <c:v>396</c:v>
                </c:pt>
                <c:pt idx="59">
                  <c:v>397</c:v>
                </c:pt>
                <c:pt idx="60">
                  <c:v>398</c:v>
                </c:pt>
                <c:pt idx="61">
                  <c:v>399</c:v>
                </c:pt>
                <c:pt idx="62">
                  <c:v>400</c:v>
                </c:pt>
                <c:pt idx="63">
                  <c:v>401</c:v>
                </c:pt>
                <c:pt idx="64">
                  <c:v>402</c:v>
                </c:pt>
                <c:pt idx="65">
                  <c:v>403</c:v>
                </c:pt>
                <c:pt idx="66">
                  <c:v>404</c:v>
                </c:pt>
                <c:pt idx="67">
                  <c:v>405</c:v>
                </c:pt>
                <c:pt idx="68">
                  <c:v>406</c:v>
                </c:pt>
                <c:pt idx="69">
                  <c:v>407</c:v>
                </c:pt>
                <c:pt idx="70">
                  <c:v>408</c:v>
                </c:pt>
                <c:pt idx="71">
                  <c:v>409</c:v>
                </c:pt>
                <c:pt idx="72">
                  <c:v>410</c:v>
                </c:pt>
                <c:pt idx="73">
                  <c:v>411</c:v>
                </c:pt>
                <c:pt idx="74">
                  <c:v>412</c:v>
                </c:pt>
                <c:pt idx="75">
                  <c:v>413</c:v>
                </c:pt>
                <c:pt idx="76">
                  <c:v>414</c:v>
                </c:pt>
                <c:pt idx="77">
                  <c:v>415</c:v>
                </c:pt>
                <c:pt idx="78">
                  <c:v>416</c:v>
                </c:pt>
                <c:pt idx="79">
                  <c:v>417</c:v>
                </c:pt>
                <c:pt idx="80">
                  <c:v>418</c:v>
                </c:pt>
                <c:pt idx="81">
                  <c:v>420</c:v>
                </c:pt>
                <c:pt idx="82">
                  <c:v>421</c:v>
                </c:pt>
                <c:pt idx="83">
                  <c:v>422</c:v>
                </c:pt>
                <c:pt idx="84">
                  <c:v>423</c:v>
                </c:pt>
                <c:pt idx="85">
                  <c:v>425</c:v>
                </c:pt>
                <c:pt idx="86">
                  <c:v>426</c:v>
                </c:pt>
                <c:pt idx="87">
                  <c:v>427</c:v>
                </c:pt>
                <c:pt idx="88">
                  <c:v>428</c:v>
                </c:pt>
                <c:pt idx="89">
                  <c:v>429</c:v>
                </c:pt>
                <c:pt idx="90">
                  <c:v>430</c:v>
                </c:pt>
                <c:pt idx="91">
                  <c:v>431</c:v>
                </c:pt>
                <c:pt idx="92">
                  <c:v>432</c:v>
                </c:pt>
                <c:pt idx="93">
                  <c:v>433</c:v>
                </c:pt>
                <c:pt idx="94">
                  <c:v>434</c:v>
                </c:pt>
                <c:pt idx="95">
                  <c:v>435</c:v>
                </c:pt>
                <c:pt idx="96">
                  <c:v>436</c:v>
                </c:pt>
                <c:pt idx="97">
                  <c:v>437</c:v>
                </c:pt>
                <c:pt idx="98">
                  <c:v>438</c:v>
                </c:pt>
                <c:pt idx="99">
                  <c:v>439</c:v>
                </c:pt>
                <c:pt idx="100">
                  <c:v>440</c:v>
                </c:pt>
                <c:pt idx="101">
                  <c:v>441</c:v>
                </c:pt>
                <c:pt idx="102">
                  <c:v>442</c:v>
                </c:pt>
                <c:pt idx="103">
                  <c:v>443</c:v>
                </c:pt>
                <c:pt idx="104">
                  <c:v>444</c:v>
                </c:pt>
                <c:pt idx="105">
                  <c:v>445</c:v>
                </c:pt>
              </c:numCache>
            </c:numRef>
          </c:xVal>
          <c:yVal>
            <c:numRef>
              <c:f>'Chart Data'!$B$2:$B$107</c:f>
              <c:numCache>
                <c:formatCode>0.0</c:formatCode>
                <c:ptCount val="106"/>
                <c:pt idx="0">
                  <c:v>0.395245</c:v>
                </c:pt>
                <c:pt idx="1">
                  <c:v>0.440754</c:v>
                </c:pt>
                <c:pt idx="2">
                  <c:v>0.164394</c:v>
                </c:pt>
                <c:pt idx="3">
                  <c:v>0.109135</c:v>
                </c:pt>
                <c:pt idx="4">
                  <c:v>0.041498</c:v>
                </c:pt>
                <c:pt idx="5">
                  <c:v>0.008487</c:v>
                </c:pt>
                <c:pt idx="6">
                  <c:v>0.096096</c:v>
                </c:pt>
                <c:pt idx="7">
                  <c:v>0.428127</c:v>
                </c:pt>
                <c:pt idx="8">
                  <c:v>0.319437</c:v>
                </c:pt>
                <c:pt idx="9">
                  <c:v>0.088728</c:v>
                </c:pt>
                <c:pt idx="10">
                  <c:v>0.622596</c:v>
                </c:pt>
                <c:pt idx="11">
                  <c:v>0.782602</c:v>
                </c:pt>
                <c:pt idx="12">
                  <c:v>0.48347</c:v>
                </c:pt>
                <c:pt idx="13">
                  <c:v>0.885206</c:v>
                </c:pt>
                <c:pt idx="14">
                  <c:v>0.143408</c:v>
                </c:pt>
                <c:pt idx="15">
                  <c:v>0.669657</c:v>
                </c:pt>
                <c:pt idx="16">
                  <c:v>0.159423</c:v>
                </c:pt>
                <c:pt idx="17">
                  <c:v>0.008632</c:v>
                </c:pt>
                <c:pt idx="18">
                  <c:v>0.312347</c:v>
                </c:pt>
                <c:pt idx="19">
                  <c:v>0.021064</c:v>
                </c:pt>
                <c:pt idx="20">
                  <c:v>0.528512</c:v>
                </c:pt>
                <c:pt idx="21">
                  <c:v>0.783387</c:v>
                </c:pt>
                <c:pt idx="22">
                  <c:v>0.389375</c:v>
                </c:pt>
                <c:pt idx="23">
                  <c:v>0.612676</c:v>
                </c:pt>
                <c:pt idx="24">
                  <c:v>0.986299</c:v>
                </c:pt>
                <c:pt idx="25">
                  <c:v>0.696127</c:v>
                </c:pt>
                <c:pt idx="26">
                  <c:v>1.037029</c:v>
                </c:pt>
                <c:pt idx="27">
                  <c:v>0.345163</c:v>
                </c:pt>
                <c:pt idx="28">
                  <c:v>0.09976</c:v>
                </c:pt>
                <c:pt idx="29">
                  <c:v>0.203618</c:v>
                </c:pt>
                <c:pt idx="30">
                  <c:v>0.163233</c:v>
                </c:pt>
                <c:pt idx="31">
                  <c:v>0.412838</c:v>
                </c:pt>
                <c:pt idx="32">
                  <c:v>0.365107</c:v>
                </c:pt>
                <c:pt idx="33">
                  <c:v>0.001579</c:v>
                </c:pt>
                <c:pt idx="34">
                  <c:v>0.234875</c:v>
                </c:pt>
                <c:pt idx="35">
                  <c:v>0.37176</c:v>
                </c:pt>
                <c:pt idx="36">
                  <c:v>0.816878</c:v>
                </c:pt>
                <c:pt idx="37">
                  <c:v>0.378323</c:v>
                </c:pt>
                <c:pt idx="38">
                  <c:v>0.112364</c:v>
                </c:pt>
                <c:pt idx="39">
                  <c:v>0.049048</c:v>
                </c:pt>
                <c:pt idx="40">
                  <c:v>0.195015</c:v>
                </c:pt>
                <c:pt idx="41">
                  <c:v>0.480213</c:v>
                </c:pt>
                <c:pt idx="42">
                  <c:v>0.06232</c:v>
                </c:pt>
                <c:pt idx="43">
                  <c:v>0.666398</c:v>
                </c:pt>
                <c:pt idx="44">
                  <c:v>0.631995</c:v>
                </c:pt>
                <c:pt idx="45">
                  <c:v>0.346011</c:v>
                </c:pt>
                <c:pt idx="46">
                  <c:v>0.542919</c:v>
                </c:pt>
                <c:pt idx="47">
                  <c:v>0.233863</c:v>
                </c:pt>
                <c:pt idx="48">
                  <c:v>0.114414</c:v>
                </c:pt>
                <c:pt idx="49">
                  <c:v>0.239625</c:v>
                </c:pt>
                <c:pt idx="50">
                  <c:v>0.03098</c:v>
                </c:pt>
                <c:pt idx="51">
                  <c:v>0.481478</c:v>
                </c:pt>
                <c:pt idx="52">
                  <c:v>0.528808</c:v>
                </c:pt>
                <c:pt idx="53">
                  <c:v>0.557425</c:v>
                </c:pt>
                <c:pt idx="54">
                  <c:v>0.395822</c:v>
                </c:pt>
                <c:pt idx="55">
                  <c:v>0.750324</c:v>
                </c:pt>
                <c:pt idx="56">
                  <c:v>0.393511</c:v>
                </c:pt>
                <c:pt idx="57">
                  <c:v>0.35817</c:v>
                </c:pt>
                <c:pt idx="58">
                  <c:v>1.505985</c:v>
                </c:pt>
                <c:pt idx="59">
                  <c:v>1.202441</c:v>
                </c:pt>
                <c:pt idx="60">
                  <c:v>1.006479</c:v>
                </c:pt>
                <c:pt idx="61">
                  <c:v>0.683545</c:v>
                </c:pt>
                <c:pt idx="62">
                  <c:v>0.685794</c:v>
                </c:pt>
                <c:pt idx="63">
                  <c:v>0.3238</c:v>
                </c:pt>
                <c:pt idx="64">
                  <c:v>0.096816</c:v>
                </c:pt>
                <c:pt idx="65">
                  <c:v>0.304465</c:v>
                </c:pt>
                <c:pt idx="66">
                  <c:v>0.41342</c:v>
                </c:pt>
                <c:pt idx="67">
                  <c:v>0.445738</c:v>
                </c:pt>
                <c:pt idx="68">
                  <c:v>0.340487</c:v>
                </c:pt>
                <c:pt idx="69">
                  <c:v>0.099534</c:v>
                </c:pt>
                <c:pt idx="70">
                  <c:v>0.415636</c:v>
                </c:pt>
                <c:pt idx="71">
                  <c:v>0.958286</c:v>
                </c:pt>
                <c:pt idx="72">
                  <c:v>1.057206</c:v>
                </c:pt>
                <c:pt idx="73">
                  <c:v>0.301131</c:v>
                </c:pt>
                <c:pt idx="74">
                  <c:v>0.847991</c:v>
                </c:pt>
                <c:pt idx="75">
                  <c:v>0.278378</c:v>
                </c:pt>
                <c:pt idx="76">
                  <c:v>0.221234</c:v>
                </c:pt>
                <c:pt idx="77">
                  <c:v>0.380931</c:v>
                </c:pt>
                <c:pt idx="78">
                  <c:v>0.309456</c:v>
                </c:pt>
                <c:pt idx="79">
                  <c:v>0.102526</c:v>
                </c:pt>
                <c:pt idx="80">
                  <c:v>0.362378</c:v>
                </c:pt>
                <c:pt idx="81">
                  <c:v>0.578717</c:v>
                </c:pt>
                <c:pt idx="82">
                  <c:v>0.077682</c:v>
                </c:pt>
                <c:pt idx="83">
                  <c:v>0.216292</c:v>
                </c:pt>
                <c:pt idx="84">
                  <c:v>0.061873</c:v>
                </c:pt>
                <c:pt idx="85">
                  <c:v>0.495106</c:v>
                </c:pt>
                <c:pt idx="86">
                  <c:v>0.199479</c:v>
                </c:pt>
                <c:pt idx="87">
                  <c:v>0.426816</c:v>
                </c:pt>
                <c:pt idx="88">
                  <c:v>0.388775</c:v>
                </c:pt>
                <c:pt idx="89">
                  <c:v>0.627728</c:v>
                </c:pt>
                <c:pt idx="90">
                  <c:v>0.082664</c:v>
                </c:pt>
                <c:pt idx="91">
                  <c:v>0.171961</c:v>
                </c:pt>
                <c:pt idx="92">
                  <c:v>0.399199</c:v>
                </c:pt>
                <c:pt idx="93">
                  <c:v>0.379668</c:v>
                </c:pt>
                <c:pt idx="94">
                  <c:v>0.255704</c:v>
                </c:pt>
                <c:pt idx="95">
                  <c:v>0.457107</c:v>
                </c:pt>
                <c:pt idx="96">
                  <c:v>0.197631</c:v>
                </c:pt>
                <c:pt idx="97">
                  <c:v>0.006133</c:v>
                </c:pt>
                <c:pt idx="98">
                  <c:v>0.535799</c:v>
                </c:pt>
                <c:pt idx="99">
                  <c:v>0.507427</c:v>
                </c:pt>
                <c:pt idx="100">
                  <c:v>0.499074</c:v>
                </c:pt>
                <c:pt idx="101">
                  <c:v>0.283517</c:v>
                </c:pt>
                <c:pt idx="102">
                  <c:v>0.001033</c:v>
                </c:pt>
                <c:pt idx="103">
                  <c:v>0.066804</c:v>
                </c:pt>
                <c:pt idx="104">
                  <c:v>0.533462</c:v>
                </c:pt>
                <c:pt idx="105">
                  <c:v>0.05827</c:v>
                </c:pt>
              </c:numCache>
            </c:numRef>
          </c:yVal>
        </c:ser>
        <c:ser>
          <c:idx val="1"/>
          <c:order val="1"/>
          <c:tx>
            <c:v>Selected</c:v>
          </c:tx>
          <c:spPr>
            <a:ln xmlns:a="http://schemas.openxmlformats.org/drawingml/2006/main" w="23813">
              <a:solidFill>
                <a:srgbClr val="DA762F"/>
              </a:solidFill>
            </a:ln>
          </c:spPr>
          <c:marker>
            <c:symbol val="none"/>
          </c:marker>
          <c:xVal>
            <c:numRef>
              <c:f>'Chart Data'!$C$2:$C$107</c:f>
              <c:numCache>
                <c:formatCode>General</c:formatCode>
                <c:ptCount val="106"/>
                <c:pt idx="0">
                  <c:v>330</c:v>
                </c:pt>
                <c:pt idx="1">
                  <c:v>331</c:v>
                </c:pt>
                <c:pt idx="2">
                  <c:v>332</c:v>
                </c:pt>
                <c:pt idx="3">
                  <c:v>333</c:v>
                </c:pt>
                <c:pt idx="4">
                  <c:v>334</c:v>
                </c:pt>
                <c:pt idx="5">
                  <c:v>335</c:v>
                </c:pt>
                <c:pt idx="6">
                  <c:v>336</c:v>
                </c:pt>
                <c:pt idx="7">
                  <c:v>337</c:v>
                </c:pt>
                <c:pt idx="8">
                  <c:v>338</c:v>
                </c:pt>
                <c:pt idx="9">
                  <c:v>339</c:v>
                </c:pt>
                <c:pt idx="10">
                  <c:v>340</c:v>
                </c:pt>
                <c:pt idx="11">
                  <c:v>341</c:v>
                </c:pt>
                <c:pt idx="12">
                  <c:v>342</c:v>
                </c:pt>
                <c:pt idx="13">
                  <c:v>343</c:v>
                </c:pt>
                <c:pt idx="14">
                  <c:v>344</c:v>
                </c:pt>
                <c:pt idx="15">
                  <c:v>345</c:v>
                </c:pt>
                <c:pt idx="16">
                  <c:v>346</c:v>
                </c:pt>
                <c:pt idx="17">
                  <c:v>347</c:v>
                </c:pt>
                <c:pt idx="18">
                  <c:v>348</c:v>
                </c:pt>
                <c:pt idx="19">
                  <c:v>349</c:v>
                </c:pt>
                <c:pt idx="20">
                  <c:v>350</c:v>
                </c:pt>
                <c:pt idx="21">
                  <c:v>351</c:v>
                </c:pt>
                <c:pt idx="22">
                  <c:v>352</c:v>
                </c:pt>
                <c:pt idx="23">
                  <c:v>353</c:v>
                </c:pt>
                <c:pt idx="24">
                  <c:v>354</c:v>
                </c:pt>
                <c:pt idx="25">
                  <c:v>355</c:v>
                </c:pt>
                <c:pt idx="26">
                  <c:v>356</c:v>
                </c:pt>
                <c:pt idx="27">
                  <c:v>357</c:v>
                </c:pt>
                <c:pt idx="28">
                  <c:v>358</c:v>
                </c:pt>
                <c:pt idx="29">
                  <c:v>359</c:v>
                </c:pt>
                <c:pt idx="30">
                  <c:v>360</c:v>
                </c:pt>
                <c:pt idx="31">
                  <c:v>361</c:v>
                </c:pt>
                <c:pt idx="32">
                  <c:v>362</c:v>
                </c:pt>
                <c:pt idx="33">
                  <c:v>363</c:v>
                </c:pt>
                <c:pt idx="34">
                  <c:v>364</c:v>
                </c:pt>
                <c:pt idx="35">
                  <c:v>365</c:v>
                </c:pt>
                <c:pt idx="36">
                  <c:v>366</c:v>
                </c:pt>
                <c:pt idx="37">
                  <c:v>367</c:v>
                </c:pt>
                <c:pt idx="38">
                  <c:v>368</c:v>
                </c:pt>
                <c:pt idx="39">
                  <c:v>369</c:v>
                </c:pt>
                <c:pt idx="40">
                  <c:v>370</c:v>
                </c:pt>
                <c:pt idx="41">
                  <c:v>379</c:v>
                </c:pt>
                <c:pt idx="42">
                  <c:v>380</c:v>
                </c:pt>
                <c:pt idx="43">
                  <c:v>381</c:v>
                </c:pt>
                <c:pt idx="44">
                  <c:v>382</c:v>
                </c:pt>
                <c:pt idx="45">
                  <c:v>383</c:v>
                </c:pt>
                <c:pt idx="46">
                  <c:v>384</c:v>
                </c:pt>
                <c:pt idx="47">
                  <c:v>385</c:v>
                </c:pt>
                <c:pt idx="48">
                  <c:v>386</c:v>
                </c:pt>
                <c:pt idx="49">
                  <c:v>387</c:v>
                </c:pt>
                <c:pt idx="50">
                  <c:v>388</c:v>
                </c:pt>
                <c:pt idx="51">
                  <c:v>389</c:v>
                </c:pt>
                <c:pt idx="52">
                  <c:v>390</c:v>
                </c:pt>
                <c:pt idx="53">
                  <c:v>391</c:v>
                </c:pt>
                <c:pt idx="54">
                  <c:v>392</c:v>
                </c:pt>
                <c:pt idx="55">
                  <c:v>393</c:v>
                </c:pt>
                <c:pt idx="56">
                  <c:v>394</c:v>
                </c:pt>
                <c:pt idx="57">
                  <c:v>395</c:v>
                </c:pt>
                <c:pt idx="58">
                  <c:v>396</c:v>
                </c:pt>
                <c:pt idx="59">
                  <c:v>397</c:v>
                </c:pt>
                <c:pt idx="60">
                  <c:v>398</c:v>
                </c:pt>
                <c:pt idx="61">
                  <c:v>399</c:v>
                </c:pt>
                <c:pt idx="62">
                  <c:v>400</c:v>
                </c:pt>
                <c:pt idx="63">
                  <c:v>401</c:v>
                </c:pt>
                <c:pt idx="64">
                  <c:v>402</c:v>
                </c:pt>
                <c:pt idx="65">
                  <c:v>403</c:v>
                </c:pt>
                <c:pt idx="66">
                  <c:v>404</c:v>
                </c:pt>
                <c:pt idx="67">
                  <c:v>405</c:v>
                </c:pt>
                <c:pt idx="68">
                  <c:v>406</c:v>
                </c:pt>
                <c:pt idx="69">
                  <c:v>407</c:v>
                </c:pt>
                <c:pt idx="70">
                  <c:v>408</c:v>
                </c:pt>
                <c:pt idx="71">
                  <c:v>409</c:v>
                </c:pt>
                <c:pt idx="72">
                  <c:v>410</c:v>
                </c:pt>
                <c:pt idx="73">
                  <c:v>411</c:v>
                </c:pt>
                <c:pt idx="74">
                  <c:v>412</c:v>
                </c:pt>
                <c:pt idx="75">
                  <c:v>413</c:v>
                </c:pt>
                <c:pt idx="76">
                  <c:v>414</c:v>
                </c:pt>
                <c:pt idx="77">
                  <c:v>415</c:v>
                </c:pt>
                <c:pt idx="78">
                  <c:v>416</c:v>
                </c:pt>
                <c:pt idx="79">
                  <c:v>417</c:v>
                </c:pt>
                <c:pt idx="80">
                  <c:v>418</c:v>
                </c:pt>
                <c:pt idx="81">
                  <c:v>420</c:v>
                </c:pt>
                <c:pt idx="82">
                  <c:v>421</c:v>
                </c:pt>
                <c:pt idx="83">
                  <c:v>422</c:v>
                </c:pt>
                <c:pt idx="84">
                  <c:v>423</c:v>
                </c:pt>
                <c:pt idx="85">
                  <c:v>425</c:v>
                </c:pt>
                <c:pt idx="86">
                  <c:v>426</c:v>
                </c:pt>
                <c:pt idx="87">
                  <c:v>427</c:v>
                </c:pt>
                <c:pt idx="88">
                  <c:v>428</c:v>
                </c:pt>
                <c:pt idx="89">
                  <c:v>429</c:v>
                </c:pt>
                <c:pt idx="90">
                  <c:v>430</c:v>
                </c:pt>
                <c:pt idx="91">
                  <c:v>431</c:v>
                </c:pt>
                <c:pt idx="92">
                  <c:v>432</c:v>
                </c:pt>
                <c:pt idx="93">
                  <c:v>433</c:v>
                </c:pt>
                <c:pt idx="94">
                  <c:v>434</c:v>
                </c:pt>
                <c:pt idx="95">
                  <c:v>435</c:v>
                </c:pt>
                <c:pt idx="96">
                  <c:v>436</c:v>
                </c:pt>
                <c:pt idx="97">
                  <c:v>437</c:v>
                </c:pt>
                <c:pt idx="98">
                  <c:v>438</c:v>
                </c:pt>
                <c:pt idx="99">
                  <c:v>439</c:v>
                </c:pt>
                <c:pt idx="100">
                  <c:v>440</c:v>
                </c:pt>
                <c:pt idx="101">
                  <c:v>441</c:v>
                </c:pt>
                <c:pt idx="102">
                  <c:v>442</c:v>
                </c:pt>
                <c:pt idx="103">
                  <c:v>443</c:v>
                </c:pt>
                <c:pt idx="104">
                  <c:v>444</c:v>
                </c:pt>
                <c:pt idx="105">
                  <c:v>445</c:v>
                </c:pt>
              </c:numCache>
            </c:numRef>
          </c:xVal>
          <c:yVal>
            <c:numRef>
              <c:f>'Chart Data'!$D$2:$D$107</c:f>
              <c:numCache>
                <c:formatCode>0.0</c:formatCode>
                <c:ptCount val="106"/>
                <c:pt idx="0">
                  <c:v>0.38097</c:v>
                </c:pt>
                <c:pt idx="1">
                  <c:v>0.431266</c:v>
                </c:pt>
                <c:pt idx="2">
                  <c:v>0.179174</c:v>
                </c:pt>
                <c:pt idx="3">
                  <c:v>0.0902</c:v>
                </c:pt>
                <c:pt idx="4">
                  <c:v>0.02776</c:v>
                </c:pt>
                <c:pt idx="5">
                  <c:v>0.034602</c:v>
                </c:pt>
                <c:pt idx="6">
                  <c:v>0.094054</c:v>
                </c:pt>
                <c:pt idx="7">
                  <c:v>0.394944</c:v>
                </c:pt>
                <c:pt idx="8">
                  <c:v>0.30367</c:v>
                </c:pt>
                <c:pt idx="9">
                  <c:v>0.11848</c:v>
                </c:pt>
                <c:pt idx="10">
                  <c:v>0.567884</c:v>
                </c:pt>
                <c:pt idx="11">
                  <c:v>0.71688</c:v>
                </c:pt>
                <c:pt idx="12">
                  <c:v>0.370048</c:v>
                </c:pt>
                <c:pt idx="13">
                  <c:v>0.772892</c:v>
                </c:pt>
                <c:pt idx="14">
                  <c:v>0.08105</c:v>
                </c:pt>
                <c:pt idx="15">
                  <c:v>0.656356</c:v>
                </c:pt>
                <c:pt idx="16">
                  <c:v>0.198876</c:v>
                </c:pt>
                <c:pt idx="17">
                  <c:v>0.021742</c:v>
                </c:pt>
                <c:pt idx="18">
                  <c:v>0.299848</c:v>
                </c:pt>
                <c:pt idx="19">
                  <c:v>0.022272</c:v>
                </c:pt>
                <c:pt idx="20">
                  <c:v>0.39714</c:v>
                </c:pt>
                <c:pt idx="21">
                  <c:v>0.701104</c:v>
                </c:pt>
                <c:pt idx="22">
                  <c:v>0.286968</c:v>
                </c:pt>
                <c:pt idx="23">
                  <c:v>0.408642</c:v>
                </c:pt>
                <c:pt idx="24">
                  <c:v>0.716138</c:v>
                </c:pt>
                <c:pt idx="25">
                  <c:v>0.475466</c:v>
                </c:pt>
                <c:pt idx="26">
                  <c:v>0.830918</c:v>
                </c:pt>
                <c:pt idx="27">
                  <c:v>0.22192</c:v>
                </c:pt>
                <c:pt idx="28">
                  <c:v>0.04152</c:v>
                </c:pt>
                <c:pt idx="29">
                  <c:v>0.133626</c:v>
                </c:pt>
                <c:pt idx="30">
                  <c:v>0.119636</c:v>
                </c:pt>
                <c:pt idx="31">
                  <c:v>0.254716</c:v>
                </c:pt>
                <c:pt idx="32">
                  <c:v>0.24672</c:v>
                </c:pt>
                <c:pt idx="33">
                  <c:v>0.011146</c:v>
                </c:pt>
                <c:pt idx="34">
                  <c:v>0.218432</c:v>
                </c:pt>
                <c:pt idx="35">
                  <c:v>0.34784</c:v>
                </c:pt>
                <c:pt idx="36">
                  <c:v>0.739306</c:v>
                </c:pt>
                <c:pt idx="37">
                  <c:v>0.294826</c:v>
                </c:pt>
                <c:pt idx="38">
                  <c:v>0.070424</c:v>
                </c:pt>
                <c:pt idx="39">
                  <c:v>0.071662</c:v>
                </c:pt>
                <c:pt idx="40">
                  <c:v>0.233872</c:v>
                </c:pt>
                <c:pt idx="41">
                  <c:v>0.488338</c:v>
                </c:pt>
                <c:pt idx="42">
                  <c:v>0.05694</c:v>
                </c:pt>
                <c:pt idx="43">
                  <c:v>0.67683</c:v>
                </c:pt>
                <c:pt idx="44">
                  <c:v>0.562438</c:v>
                </c:pt>
                <c:pt idx="45">
                  <c:v>0.298808</c:v>
                </c:pt>
                <c:pt idx="46">
                  <c:v>0.476962</c:v>
                </c:pt>
                <c:pt idx="47">
                  <c:v>0.231464</c:v>
                </c:pt>
                <c:pt idx="48">
                  <c:v>0.071626</c:v>
                </c:pt>
                <c:pt idx="49">
                  <c:v>0.233396</c:v>
                </c:pt>
                <c:pt idx="50">
                  <c:v>0.035362</c:v>
                </c:pt>
                <c:pt idx="51">
                  <c:v>0.465818</c:v>
                </c:pt>
                <c:pt idx="52">
                  <c:v>0.471098</c:v>
                </c:pt>
                <c:pt idx="53">
                  <c:v>0.443662</c:v>
                </c:pt>
                <c:pt idx="54">
                  <c:v>0.200192</c:v>
                </c:pt>
                <c:pt idx="55">
                  <c:v>0.563874</c:v>
                </c:pt>
                <c:pt idx="56">
                  <c:v>0.234356</c:v>
                </c:pt>
                <c:pt idx="57">
                  <c:v>0.065122</c:v>
                </c:pt>
                <c:pt idx="58">
                  <c:v>1.059882</c:v>
                </c:pt>
                <c:pt idx="59">
                  <c:v>0.777222</c:v>
                </c:pt>
                <c:pt idx="60">
                  <c:v>0.643184</c:v>
                </c:pt>
                <c:pt idx="61">
                  <c:v>0.351636</c:v>
                </c:pt>
                <c:pt idx="62">
                  <c:v>0.425978</c:v>
                </c:pt>
                <c:pt idx="63">
                  <c:v>0.200124</c:v>
                </c:pt>
                <c:pt idx="64">
                  <c:v>0.01187</c:v>
                </c:pt>
                <c:pt idx="65">
                  <c:v>0.25904</c:v>
                </c:pt>
                <c:pt idx="66">
                  <c:v>0.363214</c:v>
                </c:pt>
                <c:pt idx="67">
                  <c:v>0.455986</c:v>
                </c:pt>
                <c:pt idx="68">
                  <c:v>0.30527</c:v>
                </c:pt>
                <c:pt idx="69">
                  <c:v>0.021464</c:v>
                </c:pt>
                <c:pt idx="70">
                  <c:v>0.217576</c:v>
                </c:pt>
                <c:pt idx="71">
                  <c:v>0.750426</c:v>
                </c:pt>
                <c:pt idx="72">
                  <c:v>0.783976</c:v>
                </c:pt>
                <c:pt idx="73">
                  <c:v>0.124144</c:v>
                </c:pt>
                <c:pt idx="74">
                  <c:v>0.693408</c:v>
                </c:pt>
                <c:pt idx="75">
                  <c:v>0.158566</c:v>
                </c:pt>
                <c:pt idx="76">
                  <c:v>0.151134</c:v>
                </c:pt>
                <c:pt idx="77">
                  <c:v>0.412464</c:v>
                </c:pt>
                <c:pt idx="78">
                  <c:v>0.326188</c:v>
                </c:pt>
                <c:pt idx="79">
                  <c:v>0.082802</c:v>
                </c:pt>
                <c:pt idx="80">
                  <c:v>0.363984</c:v>
                </c:pt>
                <c:pt idx="81">
                  <c:v>0.56726</c:v>
                </c:pt>
                <c:pt idx="82">
                  <c:v>0.058334</c:v>
                </c:pt>
                <c:pt idx="83">
                  <c:v>0.164084</c:v>
                </c:pt>
                <c:pt idx="84">
                  <c:v>0.053788</c:v>
                </c:pt>
                <c:pt idx="85">
                  <c:v>0.482022</c:v>
                </c:pt>
                <c:pt idx="86">
                  <c:v>0.210672</c:v>
                </c:pt>
                <c:pt idx="87">
                  <c:v>0.344398</c:v>
                </c:pt>
                <c:pt idx="88">
                  <c:v>0.358682</c:v>
                </c:pt>
                <c:pt idx="89">
                  <c:v>0.591646</c:v>
                </c:pt>
                <c:pt idx="90">
                  <c:v>0.073442</c:v>
                </c:pt>
                <c:pt idx="91">
                  <c:v>0.14696</c:v>
                </c:pt>
                <c:pt idx="92">
                  <c:v>0.362498</c:v>
                </c:pt>
                <c:pt idx="93">
                  <c:v>0.400722</c:v>
                </c:pt>
                <c:pt idx="94">
                  <c:v>0.237222</c:v>
                </c:pt>
                <c:pt idx="95">
                  <c:v>0.364486</c:v>
                </c:pt>
                <c:pt idx="96">
                  <c:v>0.257696</c:v>
                </c:pt>
                <c:pt idx="97">
                  <c:v>0.105052</c:v>
                </c:pt>
                <c:pt idx="98">
                  <c:v>0.46314</c:v>
                </c:pt>
                <c:pt idx="99">
                  <c:v>0.410828</c:v>
                </c:pt>
                <c:pt idx="100">
                  <c:v>0.375932</c:v>
                </c:pt>
                <c:pt idx="101">
                  <c:v>0.27395</c:v>
                </c:pt>
                <c:pt idx="102">
                  <c:v>0.030062</c:v>
                </c:pt>
                <c:pt idx="103">
                  <c:v>0.083198</c:v>
                </c:pt>
                <c:pt idx="104">
                  <c:v>0.526466</c:v>
                </c:pt>
                <c:pt idx="105">
                  <c:v>0.053642</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5"/>
          <c:min val="0"/>
        </c:scaling>
        <c:delete val="0"/>
        <c:axPos val="l"/>
        <c:majorGridlines>
          <c:spPr>
            <a:ln xmlns:a="http://schemas.openxmlformats.org/drawingml/2006/main" w="9525">
              <a:solidFill>
                <a:srgbClr val="DDE4E8"/>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|ΔC′ residual| (ppm)</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valAx>
      <c:valAx>
        <c:axId val="48650112"/>
        <c:scaling>
          <c:orientation val="minMax"/>
          <c:max val="446"/>
          <c:min val="33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AR residue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scatterChart>
        <c:scatterStyle val="line"/>
        <c:ser>
          <c:idx val="0"/>
          <c:order val="0"/>
          <c:tx>
            <c:v>WT raw</c:v>
          </c:tx>
          <c:spPr>
            <a:ln xmlns:a="http://schemas.openxmlformats.org/drawingml/2006/main" w="23813">
              <a:solidFill>
                <a:srgbClr val="596973"/>
              </a:solidFill>
            </a:ln>
          </c:spPr>
          <c:marker>
            <c:symbol val="none"/>
          </c:marker>
          <c:xVal>
            <c:numRef>
              <c:f>'Chart Data'!$A$2:$A$145</c:f>
              <c:numCache>
                <c:formatCode>General</c:formatCode>
                <c:ptCount val="144"/>
                <c:pt idx="0">
                  <c:v>0.012</c:v>
                </c:pt>
                <c:pt idx="1">
                  <c:v>0.013</c:v>
                </c:pt>
                <c:pt idx="2">
                  <c:v>0.014</c:v>
                </c:pt>
                <c:pt idx="3">
                  <c:v>0.015</c:v>
                </c:pt>
                <c:pt idx="4">
                  <c:v>0.016</c:v>
                </c:pt>
                <c:pt idx="5">
                  <c:v>0.017</c:v>
                </c:pt>
                <c:pt idx="6">
                  <c:v>0.018</c:v>
                </c:pt>
                <c:pt idx="7">
                  <c:v>0.019</c:v>
                </c:pt>
                <c:pt idx="8">
                  <c:v>0.02</c:v>
                </c:pt>
                <c:pt idx="9">
                  <c:v>0.021</c:v>
                </c:pt>
                <c:pt idx="10">
                  <c:v>0.022</c:v>
                </c:pt>
                <c:pt idx="11">
                  <c:v>0.023</c:v>
                </c:pt>
                <c:pt idx="12">
                  <c:v>0.024</c:v>
                </c:pt>
                <c:pt idx="13">
                  <c:v>0.025</c:v>
                </c:pt>
                <c:pt idx="14">
                  <c:v>0.026</c:v>
                </c:pt>
                <c:pt idx="15">
                  <c:v>0.027</c:v>
                </c:pt>
                <c:pt idx="16">
                  <c:v>0.028</c:v>
                </c:pt>
                <c:pt idx="17">
                  <c:v>0.029</c:v>
                </c:pt>
                <c:pt idx="18">
                  <c:v>0.03</c:v>
                </c:pt>
                <c:pt idx="19">
                  <c:v>0.031</c:v>
                </c:pt>
                <c:pt idx="20">
                  <c:v>0.032</c:v>
                </c:pt>
                <c:pt idx="21">
                  <c:v>0.033</c:v>
                </c:pt>
                <c:pt idx="22">
                  <c:v>0.034</c:v>
                </c:pt>
                <c:pt idx="23">
                  <c:v>0.035</c:v>
                </c:pt>
                <c:pt idx="24">
                  <c:v>0.036</c:v>
                </c:pt>
                <c:pt idx="25">
                  <c:v>0.037</c:v>
                </c:pt>
                <c:pt idx="26">
                  <c:v>0.038</c:v>
                </c:pt>
                <c:pt idx="27">
                  <c:v>0.039</c:v>
                </c:pt>
                <c:pt idx="28">
                  <c:v>0.04</c:v>
                </c:pt>
                <c:pt idx="29">
                  <c:v>0.041</c:v>
                </c:pt>
                <c:pt idx="30">
                  <c:v>0.042</c:v>
                </c:pt>
                <c:pt idx="31">
                  <c:v>0.043</c:v>
                </c:pt>
                <c:pt idx="32">
                  <c:v>0.044</c:v>
                </c:pt>
                <c:pt idx="33">
                  <c:v>0.045</c:v>
                </c:pt>
                <c:pt idx="34">
                  <c:v>0.046</c:v>
                </c:pt>
                <c:pt idx="35">
                  <c:v>0.047</c:v>
                </c:pt>
                <c:pt idx="36">
                  <c:v>0.048</c:v>
                </c:pt>
                <c:pt idx="37">
                  <c:v>0.049</c:v>
                </c:pt>
                <c:pt idx="38">
                  <c:v>0.05</c:v>
                </c:pt>
                <c:pt idx="39">
                  <c:v>0.052</c:v>
                </c:pt>
                <c:pt idx="40">
                  <c:v>0.054</c:v>
                </c:pt>
                <c:pt idx="41">
                  <c:v>0.056</c:v>
                </c:pt>
                <c:pt idx="42">
                  <c:v>0.058</c:v>
                </c:pt>
                <c:pt idx="43">
                  <c:v>0.06</c:v>
                </c:pt>
                <c:pt idx="44">
                  <c:v>0.062</c:v>
                </c:pt>
                <c:pt idx="45">
                  <c:v>0.064</c:v>
                </c:pt>
                <c:pt idx="46">
                  <c:v>0.066</c:v>
                </c:pt>
                <c:pt idx="47">
                  <c:v>0.068</c:v>
                </c:pt>
                <c:pt idx="48">
                  <c:v>0.07</c:v>
                </c:pt>
                <c:pt idx="49">
                  <c:v>0.072</c:v>
                </c:pt>
                <c:pt idx="50">
                  <c:v>0.074</c:v>
                </c:pt>
                <c:pt idx="51">
                  <c:v>0.076</c:v>
                </c:pt>
                <c:pt idx="52">
                  <c:v>0.078</c:v>
                </c:pt>
                <c:pt idx="53">
                  <c:v>0.08</c:v>
                </c:pt>
                <c:pt idx="54">
                  <c:v>0.082</c:v>
                </c:pt>
                <c:pt idx="55">
                  <c:v>0.084</c:v>
                </c:pt>
                <c:pt idx="56">
                  <c:v>0.086</c:v>
                </c:pt>
                <c:pt idx="57">
                  <c:v>0.088</c:v>
                </c:pt>
                <c:pt idx="58">
                  <c:v>0.09</c:v>
                </c:pt>
                <c:pt idx="59">
                  <c:v>0.092</c:v>
                </c:pt>
                <c:pt idx="60">
                  <c:v>0.094</c:v>
                </c:pt>
                <c:pt idx="61">
                  <c:v>0.096</c:v>
                </c:pt>
                <c:pt idx="62">
                  <c:v>0.098</c:v>
                </c:pt>
                <c:pt idx="63">
                  <c:v>0.1</c:v>
                </c:pt>
                <c:pt idx="64">
                  <c:v>0.105</c:v>
                </c:pt>
                <c:pt idx="65">
                  <c:v>0.11</c:v>
                </c:pt>
                <c:pt idx="66">
                  <c:v>0.115</c:v>
                </c:pt>
                <c:pt idx="67">
                  <c:v>0.12</c:v>
                </c:pt>
                <c:pt idx="68">
                  <c:v>0.125</c:v>
                </c:pt>
                <c:pt idx="69">
                  <c:v>0.13</c:v>
                </c:pt>
                <c:pt idx="70">
                  <c:v>0.135</c:v>
                </c:pt>
                <c:pt idx="71">
                  <c:v>0.14</c:v>
                </c:pt>
                <c:pt idx="72">
                  <c:v>0.145</c:v>
                </c:pt>
                <c:pt idx="73">
                  <c:v>0.15</c:v>
                </c:pt>
                <c:pt idx="74">
                  <c:v>0.155</c:v>
                </c:pt>
                <c:pt idx="75">
                  <c:v>0.16</c:v>
                </c:pt>
                <c:pt idx="76">
                  <c:v>0.165</c:v>
                </c:pt>
                <c:pt idx="77">
                  <c:v>0.17</c:v>
                </c:pt>
                <c:pt idx="78">
                  <c:v>0.175</c:v>
                </c:pt>
                <c:pt idx="79">
                  <c:v>0.18</c:v>
                </c:pt>
                <c:pt idx="80">
                  <c:v>0.185</c:v>
                </c:pt>
                <c:pt idx="81">
                  <c:v>0.19</c:v>
                </c:pt>
                <c:pt idx="82">
                  <c:v>0.195</c:v>
                </c:pt>
                <c:pt idx="83">
                  <c:v>0.2</c:v>
                </c:pt>
                <c:pt idx="84">
                  <c:v>0.205</c:v>
                </c:pt>
                <c:pt idx="85">
                  <c:v>0.21</c:v>
                </c:pt>
                <c:pt idx="86">
                  <c:v>0.215</c:v>
                </c:pt>
                <c:pt idx="87">
                  <c:v>0.22</c:v>
                </c:pt>
                <c:pt idx="88">
                  <c:v>0.225</c:v>
                </c:pt>
                <c:pt idx="89">
                  <c:v>0.23</c:v>
                </c:pt>
                <c:pt idx="90">
                  <c:v>0.235</c:v>
                </c:pt>
                <c:pt idx="91">
                  <c:v>0.24</c:v>
                </c:pt>
                <c:pt idx="92">
                  <c:v>0.245</c:v>
                </c:pt>
                <c:pt idx="93">
                  <c:v>0.25</c:v>
                </c:pt>
                <c:pt idx="94">
                  <c:v>0.255</c:v>
                </c:pt>
                <c:pt idx="95">
                  <c:v>0.26</c:v>
                </c:pt>
                <c:pt idx="96">
                  <c:v>0.265</c:v>
                </c:pt>
                <c:pt idx="97">
                  <c:v>0.27</c:v>
                </c:pt>
                <c:pt idx="98">
                  <c:v>0.275</c:v>
                </c:pt>
                <c:pt idx="99">
                  <c:v>0.28</c:v>
                </c:pt>
                <c:pt idx="100">
                  <c:v>0.285</c:v>
                </c:pt>
                <c:pt idx="101">
                  <c:v>0.29</c:v>
                </c:pt>
                <c:pt idx="102">
                  <c:v>0.295</c:v>
                </c:pt>
                <c:pt idx="103">
                  <c:v>0.3</c:v>
                </c:pt>
                <c:pt idx="104">
                  <c:v>0.305</c:v>
                </c:pt>
                <c:pt idx="105">
                  <c:v>0.31</c:v>
                </c:pt>
                <c:pt idx="106">
                  <c:v>0.315</c:v>
                </c:pt>
                <c:pt idx="107">
                  <c:v>0.32</c:v>
                </c:pt>
                <c:pt idx="108">
                  <c:v>0.325</c:v>
                </c:pt>
                <c:pt idx="109">
                  <c:v>0.33</c:v>
                </c:pt>
                <c:pt idx="110">
                  <c:v>0.335</c:v>
                </c:pt>
                <c:pt idx="111">
                  <c:v>0.34</c:v>
                </c:pt>
                <c:pt idx="112">
                  <c:v>0.345</c:v>
                </c:pt>
                <c:pt idx="113">
                  <c:v>0.35</c:v>
                </c:pt>
                <c:pt idx="114">
                  <c:v>0.355</c:v>
                </c:pt>
                <c:pt idx="115">
                  <c:v>0.36</c:v>
                </c:pt>
                <c:pt idx="116">
                  <c:v>0.365</c:v>
                </c:pt>
                <c:pt idx="117">
                  <c:v>0.37</c:v>
                </c:pt>
                <c:pt idx="118">
                  <c:v>0.375</c:v>
                </c:pt>
                <c:pt idx="119">
                  <c:v>0.38</c:v>
                </c:pt>
                <c:pt idx="120">
                  <c:v>0.385</c:v>
                </c:pt>
                <c:pt idx="121">
                  <c:v>0.39</c:v>
                </c:pt>
                <c:pt idx="122">
                  <c:v>0.395</c:v>
                </c:pt>
                <c:pt idx="123">
                  <c:v>0.4</c:v>
                </c:pt>
                <c:pt idx="124">
                  <c:v>0.405</c:v>
                </c:pt>
                <c:pt idx="125">
                  <c:v>0.41</c:v>
                </c:pt>
                <c:pt idx="126">
                  <c:v>0.415</c:v>
                </c:pt>
                <c:pt idx="127">
                  <c:v>0.42</c:v>
                </c:pt>
                <c:pt idx="128">
                  <c:v>0.425</c:v>
                </c:pt>
                <c:pt idx="129">
                  <c:v>0.43</c:v>
                </c:pt>
                <c:pt idx="130">
                  <c:v>0.435</c:v>
                </c:pt>
                <c:pt idx="131">
                  <c:v>0.44</c:v>
                </c:pt>
                <c:pt idx="132">
                  <c:v>0.445</c:v>
                </c:pt>
                <c:pt idx="133">
                  <c:v>0.45</c:v>
                </c:pt>
                <c:pt idx="134">
                  <c:v>0.455</c:v>
                </c:pt>
                <c:pt idx="135">
                  <c:v>0.46</c:v>
                </c:pt>
                <c:pt idx="136">
                  <c:v>0.465</c:v>
                </c:pt>
                <c:pt idx="137">
                  <c:v>0.47</c:v>
                </c:pt>
                <c:pt idx="138">
                  <c:v>0.475</c:v>
                </c:pt>
                <c:pt idx="139">
                  <c:v>0.48</c:v>
                </c:pt>
                <c:pt idx="140">
                  <c:v>0.485</c:v>
                </c:pt>
                <c:pt idx="141">
                  <c:v>0.49</c:v>
                </c:pt>
                <c:pt idx="142">
                  <c:v>0.495</c:v>
                </c:pt>
                <c:pt idx="143">
                  <c:v>0.5</c:v>
                </c:pt>
              </c:numCache>
            </c:numRef>
          </c:xVal>
          <c:yVal>
            <c:numRef>
              <c:f>'Chart Data'!$B$2:$B$145</c:f>
              <c:numCache>
                <c:formatCode>0.0</c:formatCode>
                <c:ptCount val="144"/>
                <c:pt idx="0">
                  <c:v>-5.071512</c:v>
                </c:pt>
                <c:pt idx="1">
                  <c:v>-4.444556</c:v>
                </c:pt>
                <c:pt idx="2">
                  <c:v>-5.71086</c:v>
                </c:pt>
                <c:pt idx="3">
                  <c:v>-6.750693</c:v>
                </c:pt>
                <c:pt idx="4">
                  <c:v>-6.853362</c:v>
                </c:pt>
                <c:pt idx="5">
                  <c:v>-6.741781</c:v>
                </c:pt>
                <c:pt idx="6">
                  <c:v>-8.494614</c:v>
                </c:pt>
                <c:pt idx="7">
                  <c:v>-7.224484</c:v>
                </c:pt>
                <c:pt idx="8">
                  <c:v>-7.91548</c:v>
                </c:pt>
                <c:pt idx="9">
                  <c:v>-6.496309</c:v>
                </c:pt>
                <c:pt idx="10">
                  <c:v>-6.878869</c:v>
                </c:pt>
                <c:pt idx="11">
                  <c:v>-8.108242</c:v>
                </c:pt>
                <c:pt idx="12">
                  <c:v>-8.678535</c:v>
                </c:pt>
                <c:pt idx="13">
                  <c:v>-8.075975</c:v>
                </c:pt>
                <c:pt idx="14">
                  <c:v>-7.779473</c:v>
                </c:pt>
                <c:pt idx="15">
                  <c:v>-7.3376</c:v>
                </c:pt>
                <c:pt idx="16">
                  <c:v>-6.896606</c:v>
                </c:pt>
                <c:pt idx="17">
                  <c:v>-6.429819</c:v>
                </c:pt>
                <c:pt idx="18">
                  <c:v>-5.830335</c:v>
                </c:pt>
                <c:pt idx="19">
                  <c:v>-5.045517</c:v>
                </c:pt>
                <c:pt idx="20">
                  <c:v>-4.645261</c:v>
                </c:pt>
                <c:pt idx="21">
                  <c:v>-4.510778</c:v>
                </c:pt>
                <c:pt idx="22">
                  <c:v>-5.22255</c:v>
                </c:pt>
                <c:pt idx="23">
                  <c:v>-3.146184</c:v>
                </c:pt>
                <c:pt idx="24">
                  <c:v>-2.712289</c:v>
                </c:pt>
                <c:pt idx="25">
                  <c:v>-2.74763</c:v>
                </c:pt>
                <c:pt idx="26">
                  <c:v>-2.113537</c:v>
                </c:pt>
                <c:pt idx="27">
                  <c:v>-1.638466</c:v>
                </c:pt>
                <c:pt idx="28">
                  <c:v>-2.116479</c:v>
                </c:pt>
                <c:pt idx="29">
                  <c:v>-2.402238</c:v>
                </c:pt>
                <c:pt idx="30">
                  <c:v>0.572233</c:v>
                </c:pt>
                <c:pt idx="31">
                  <c:v>-1.083477</c:v>
                </c:pt>
                <c:pt idx="32">
                  <c:v>-2.189833</c:v>
                </c:pt>
                <c:pt idx="33">
                  <c:v>0.802534</c:v>
                </c:pt>
                <c:pt idx="34">
                  <c:v>0.285771</c:v>
                </c:pt>
                <c:pt idx="35">
                  <c:v>2.138445</c:v>
                </c:pt>
                <c:pt idx="36">
                  <c:v>2.593486</c:v>
                </c:pt>
                <c:pt idx="37">
                  <c:v>0.825842</c:v>
                </c:pt>
                <c:pt idx="38">
                  <c:v>1.286211</c:v>
                </c:pt>
                <c:pt idx="39">
                  <c:v>3.141399</c:v>
                </c:pt>
                <c:pt idx="40">
                  <c:v>3.640508</c:v>
                </c:pt>
                <c:pt idx="41">
                  <c:v>3.189847</c:v>
                </c:pt>
                <c:pt idx="42">
                  <c:v>5.776909</c:v>
                </c:pt>
                <c:pt idx="43">
                  <c:v>4.885917</c:v>
                </c:pt>
                <c:pt idx="44">
                  <c:v>6.312874</c:v>
                </c:pt>
                <c:pt idx="45">
                  <c:v>6.941909</c:v>
                </c:pt>
                <c:pt idx="46">
                  <c:v>7.551724</c:v>
                </c:pt>
                <c:pt idx="47">
                  <c:v>7.023511</c:v>
                </c:pt>
                <c:pt idx="48">
                  <c:v>7.483372</c:v>
                </c:pt>
                <c:pt idx="49">
                  <c:v>7.201332</c:v>
                </c:pt>
                <c:pt idx="50">
                  <c:v>7.814016</c:v>
                </c:pt>
                <c:pt idx="51">
                  <c:v>7.765293</c:v>
                </c:pt>
                <c:pt idx="52">
                  <c:v>8.06507</c:v>
                </c:pt>
                <c:pt idx="53">
                  <c:v>7.84253</c:v>
                </c:pt>
                <c:pt idx="54">
                  <c:v>7.833584</c:v>
                </c:pt>
                <c:pt idx="55">
                  <c:v>8.425504</c:v>
                </c:pt>
                <c:pt idx="56">
                  <c:v>7.447898</c:v>
                </c:pt>
                <c:pt idx="57">
                  <c:v>7.846004</c:v>
                </c:pt>
                <c:pt idx="58">
                  <c:v>6.977047</c:v>
                </c:pt>
                <c:pt idx="59">
                  <c:v>7.423361</c:v>
                </c:pt>
                <c:pt idx="60">
                  <c:v>7.0956</c:v>
                </c:pt>
                <c:pt idx="61">
                  <c:v>6.915958</c:v>
                </c:pt>
                <c:pt idx="62">
                  <c:v>6.451873</c:v>
                </c:pt>
                <c:pt idx="63">
                  <c:v>5.458256</c:v>
                </c:pt>
                <c:pt idx="64">
                  <c:v>9.566311</c:v>
                </c:pt>
                <c:pt idx="65">
                  <c:v>9.768838</c:v>
                </c:pt>
                <c:pt idx="66">
                  <c:v>8.462188</c:v>
                </c:pt>
                <c:pt idx="67">
                  <c:v>6.659551</c:v>
                </c:pt>
                <c:pt idx="68">
                  <c:v>5.952838</c:v>
                </c:pt>
                <c:pt idx="69">
                  <c:v>4.685124</c:v>
                </c:pt>
                <c:pt idx="70">
                  <c:v>3.079227</c:v>
                </c:pt>
                <c:pt idx="71">
                  <c:v>1.566094</c:v>
                </c:pt>
                <c:pt idx="72">
                  <c:v>1.038913</c:v>
                </c:pt>
                <c:pt idx="73">
                  <c:v>1.010032</c:v>
                </c:pt>
                <c:pt idx="74">
                  <c:v>0.996217</c:v>
                </c:pt>
                <c:pt idx="75">
                  <c:v>-1.057635</c:v>
                </c:pt>
                <c:pt idx="76">
                  <c:v>0.37227</c:v>
                </c:pt>
                <c:pt idx="77">
                  <c:v>-1.454773</c:v>
                </c:pt>
                <c:pt idx="78">
                  <c:v>-2.553469</c:v>
                </c:pt>
                <c:pt idx="79">
                  <c:v>-1.610951</c:v>
                </c:pt>
                <c:pt idx="80">
                  <c:v>-1.991135</c:v>
                </c:pt>
                <c:pt idx="81">
                  <c:v>-3.763984</c:v>
                </c:pt>
                <c:pt idx="82">
                  <c:v>-2.38809</c:v>
                </c:pt>
                <c:pt idx="83">
                  <c:v>-2.913528</c:v>
                </c:pt>
                <c:pt idx="84">
                  <c:v>-3.665036</c:v>
                </c:pt>
                <c:pt idx="85">
                  <c:v>-3.159051</c:v>
                </c:pt>
                <c:pt idx="86">
                  <c:v>-4.590666</c:v>
                </c:pt>
                <c:pt idx="87">
                  <c:v>-3.604579</c:v>
                </c:pt>
                <c:pt idx="88">
                  <c:v>-3.709036</c:v>
                </c:pt>
                <c:pt idx="89">
                  <c:v>-2.656763</c:v>
                </c:pt>
                <c:pt idx="90">
                  <c:v>-4.428195</c:v>
                </c:pt>
                <c:pt idx="91">
                  <c:v>-1.375124</c:v>
                </c:pt>
                <c:pt idx="92">
                  <c:v>-3.800243</c:v>
                </c:pt>
                <c:pt idx="93">
                  <c:v>-3.156969</c:v>
                </c:pt>
                <c:pt idx="94">
                  <c:v>-3.160781</c:v>
                </c:pt>
                <c:pt idx="95">
                  <c:v>-3.847983</c:v>
                </c:pt>
                <c:pt idx="96">
                  <c:v>-3.589071</c:v>
                </c:pt>
                <c:pt idx="97">
                  <c:v>-1.974158</c:v>
                </c:pt>
                <c:pt idx="98">
                  <c:v>-2.752619</c:v>
                </c:pt>
                <c:pt idx="99">
                  <c:v>-2.258305</c:v>
                </c:pt>
                <c:pt idx="100">
                  <c:v>-4.168491</c:v>
                </c:pt>
                <c:pt idx="101">
                  <c:v>-2.077459</c:v>
                </c:pt>
                <c:pt idx="102">
                  <c:v>-3.818734</c:v>
                </c:pt>
                <c:pt idx="103">
                  <c:v>-2.781589</c:v>
                </c:pt>
                <c:pt idx="104">
                  <c:v>-3.395369</c:v>
                </c:pt>
                <c:pt idx="105">
                  <c:v>-1.336645</c:v>
                </c:pt>
                <c:pt idx="106">
                  <c:v>-1.194849</c:v>
                </c:pt>
                <c:pt idx="107">
                  <c:v>-1.940882</c:v>
                </c:pt>
                <c:pt idx="108">
                  <c:v>-2.505565</c:v>
                </c:pt>
                <c:pt idx="109">
                  <c:v>-1.625792</c:v>
                </c:pt>
                <c:pt idx="110">
                  <c:v>-1.753117</c:v>
                </c:pt>
                <c:pt idx="111">
                  <c:v>-0.843776</c:v>
                </c:pt>
                <c:pt idx="112">
                  <c:v>-1.673015</c:v>
                </c:pt>
                <c:pt idx="113">
                  <c:v>-2.110806</c:v>
                </c:pt>
                <c:pt idx="114">
                  <c:v>-1.120878</c:v>
                </c:pt>
                <c:pt idx="115">
                  <c:v>-2.596802</c:v>
                </c:pt>
                <c:pt idx="116">
                  <c:v>-2.075961</c:v>
                </c:pt>
                <c:pt idx="117">
                  <c:v>-2.031567</c:v>
                </c:pt>
                <c:pt idx="118">
                  <c:v>-1.389297</c:v>
                </c:pt>
                <c:pt idx="119">
                  <c:v>-1.798509</c:v>
                </c:pt>
                <c:pt idx="120">
                  <c:v>-1.334359</c:v>
                </c:pt>
                <c:pt idx="121">
                  <c:v>-1.704467</c:v>
                </c:pt>
                <c:pt idx="122">
                  <c:v>-0.227244</c:v>
                </c:pt>
                <c:pt idx="123">
                  <c:v>-2.142391</c:v>
                </c:pt>
                <c:pt idx="124">
                  <c:v>-0.428393</c:v>
                </c:pt>
                <c:pt idx="125">
                  <c:v>-0.380514</c:v>
                </c:pt>
                <c:pt idx="126">
                  <c:v>-1.619887</c:v>
                </c:pt>
                <c:pt idx="127">
                  <c:v>-0.799883</c:v>
                </c:pt>
                <c:pt idx="128">
                  <c:v>-0.817504</c:v>
                </c:pt>
                <c:pt idx="129">
                  <c:v>-1.570211</c:v>
                </c:pt>
                <c:pt idx="130">
                  <c:v>-0.255337</c:v>
                </c:pt>
                <c:pt idx="131">
                  <c:v>0.253167</c:v>
                </c:pt>
                <c:pt idx="132">
                  <c:v>-0.558578</c:v>
                </c:pt>
                <c:pt idx="133">
                  <c:v>-0.208896</c:v>
                </c:pt>
                <c:pt idx="134">
                  <c:v>-2.855264</c:v>
                </c:pt>
                <c:pt idx="135">
                  <c:v>-0.457857</c:v>
                </c:pt>
                <c:pt idx="136">
                  <c:v>-1.623218</c:v>
                </c:pt>
                <c:pt idx="137">
                  <c:v>-0.604113</c:v>
                </c:pt>
                <c:pt idx="138">
                  <c:v>-1.559493</c:v>
                </c:pt>
                <c:pt idx="139">
                  <c:v>0.123695</c:v>
                </c:pt>
                <c:pt idx="140">
                  <c:v>-0.659331</c:v>
                </c:pt>
                <c:pt idx="141">
                  <c:v>-1.058548</c:v>
                </c:pt>
                <c:pt idx="142">
                  <c:v>-0.043121</c:v>
                </c:pt>
                <c:pt idx="143">
                  <c:v>0.153136</c:v>
                </c:pt>
              </c:numCache>
            </c:numRef>
          </c:yVal>
        </c:ser>
        <c:ser>
          <c:idx val="1"/>
          <c:order val="1"/>
          <c:tx>
            <c:v>WT selected</c:v>
          </c:tx>
          <c:spPr>
            <a:ln xmlns:a="http://schemas.openxmlformats.org/drawingml/2006/main" w="23813">
              <a:solidFill>
                <a:srgbClr val="2876B8"/>
              </a:solidFill>
            </a:ln>
          </c:spPr>
          <c:marker>
            <c:symbol val="none"/>
          </c:marker>
          <c:xVal>
            <c:numRef>
              <c:f>'Chart Data'!$C$2:$C$145</c:f>
              <c:numCache>
                <c:formatCode>General</c:formatCode>
                <c:ptCount val="144"/>
                <c:pt idx="0">
                  <c:v>0.012</c:v>
                </c:pt>
                <c:pt idx="1">
                  <c:v>0.013</c:v>
                </c:pt>
                <c:pt idx="2">
                  <c:v>0.014</c:v>
                </c:pt>
                <c:pt idx="3">
                  <c:v>0.015</c:v>
                </c:pt>
                <c:pt idx="4">
                  <c:v>0.016</c:v>
                </c:pt>
                <c:pt idx="5">
                  <c:v>0.017</c:v>
                </c:pt>
                <c:pt idx="6">
                  <c:v>0.018</c:v>
                </c:pt>
                <c:pt idx="7">
                  <c:v>0.019</c:v>
                </c:pt>
                <c:pt idx="8">
                  <c:v>0.02</c:v>
                </c:pt>
                <c:pt idx="9">
                  <c:v>0.021</c:v>
                </c:pt>
                <c:pt idx="10">
                  <c:v>0.022</c:v>
                </c:pt>
                <c:pt idx="11">
                  <c:v>0.023</c:v>
                </c:pt>
                <c:pt idx="12">
                  <c:v>0.024</c:v>
                </c:pt>
                <c:pt idx="13">
                  <c:v>0.025</c:v>
                </c:pt>
                <c:pt idx="14">
                  <c:v>0.026</c:v>
                </c:pt>
                <c:pt idx="15">
                  <c:v>0.027</c:v>
                </c:pt>
                <c:pt idx="16">
                  <c:v>0.028</c:v>
                </c:pt>
                <c:pt idx="17">
                  <c:v>0.029</c:v>
                </c:pt>
                <c:pt idx="18">
                  <c:v>0.03</c:v>
                </c:pt>
                <c:pt idx="19">
                  <c:v>0.031</c:v>
                </c:pt>
                <c:pt idx="20">
                  <c:v>0.032</c:v>
                </c:pt>
                <c:pt idx="21">
                  <c:v>0.033</c:v>
                </c:pt>
                <c:pt idx="22">
                  <c:v>0.034</c:v>
                </c:pt>
                <c:pt idx="23">
                  <c:v>0.035</c:v>
                </c:pt>
                <c:pt idx="24">
                  <c:v>0.036</c:v>
                </c:pt>
                <c:pt idx="25">
                  <c:v>0.037</c:v>
                </c:pt>
                <c:pt idx="26">
                  <c:v>0.038</c:v>
                </c:pt>
                <c:pt idx="27">
                  <c:v>0.039</c:v>
                </c:pt>
                <c:pt idx="28">
                  <c:v>0.04</c:v>
                </c:pt>
                <c:pt idx="29">
                  <c:v>0.041</c:v>
                </c:pt>
                <c:pt idx="30">
                  <c:v>0.042</c:v>
                </c:pt>
                <c:pt idx="31">
                  <c:v>0.043</c:v>
                </c:pt>
                <c:pt idx="32">
                  <c:v>0.044</c:v>
                </c:pt>
                <c:pt idx="33">
                  <c:v>0.045</c:v>
                </c:pt>
                <c:pt idx="34">
                  <c:v>0.046</c:v>
                </c:pt>
                <c:pt idx="35">
                  <c:v>0.047</c:v>
                </c:pt>
                <c:pt idx="36">
                  <c:v>0.048</c:v>
                </c:pt>
                <c:pt idx="37">
                  <c:v>0.049</c:v>
                </c:pt>
                <c:pt idx="38">
                  <c:v>0.05</c:v>
                </c:pt>
                <c:pt idx="39">
                  <c:v>0.052</c:v>
                </c:pt>
                <c:pt idx="40">
                  <c:v>0.054</c:v>
                </c:pt>
                <c:pt idx="41">
                  <c:v>0.056</c:v>
                </c:pt>
                <c:pt idx="42">
                  <c:v>0.058</c:v>
                </c:pt>
                <c:pt idx="43">
                  <c:v>0.06</c:v>
                </c:pt>
                <c:pt idx="44">
                  <c:v>0.062</c:v>
                </c:pt>
                <c:pt idx="45">
                  <c:v>0.064</c:v>
                </c:pt>
                <c:pt idx="46">
                  <c:v>0.066</c:v>
                </c:pt>
                <c:pt idx="47">
                  <c:v>0.068</c:v>
                </c:pt>
                <c:pt idx="48">
                  <c:v>0.07</c:v>
                </c:pt>
                <c:pt idx="49">
                  <c:v>0.072</c:v>
                </c:pt>
                <c:pt idx="50">
                  <c:v>0.074</c:v>
                </c:pt>
                <c:pt idx="51">
                  <c:v>0.076</c:v>
                </c:pt>
                <c:pt idx="52">
                  <c:v>0.078</c:v>
                </c:pt>
                <c:pt idx="53">
                  <c:v>0.08</c:v>
                </c:pt>
                <c:pt idx="54">
                  <c:v>0.082</c:v>
                </c:pt>
                <c:pt idx="55">
                  <c:v>0.084</c:v>
                </c:pt>
                <c:pt idx="56">
                  <c:v>0.086</c:v>
                </c:pt>
                <c:pt idx="57">
                  <c:v>0.088</c:v>
                </c:pt>
                <c:pt idx="58">
                  <c:v>0.09</c:v>
                </c:pt>
                <c:pt idx="59">
                  <c:v>0.092</c:v>
                </c:pt>
                <c:pt idx="60">
                  <c:v>0.094</c:v>
                </c:pt>
                <c:pt idx="61">
                  <c:v>0.096</c:v>
                </c:pt>
                <c:pt idx="62">
                  <c:v>0.098</c:v>
                </c:pt>
                <c:pt idx="63">
                  <c:v>0.1</c:v>
                </c:pt>
                <c:pt idx="64">
                  <c:v>0.105</c:v>
                </c:pt>
                <c:pt idx="65">
                  <c:v>0.11</c:v>
                </c:pt>
                <c:pt idx="66">
                  <c:v>0.115</c:v>
                </c:pt>
                <c:pt idx="67">
                  <c:v>0.12</c:v>
                </c:pt>
                <c:pt idx="68">
                  <c:v>0.125</c:v>
                </c:pt>
                <c:pt idx="69">
                  <c:v>0.13</c:v>
                </c:pt>
                <c:pt idx="70">
                  <c:v>0.135</c:v>
                </c:pt>
                <c:pt idx="71">
                  <c:v>0.14</c:v>
                </c:pt>
                <c:pt idx="72">
                  <c:v>0.145</c:v>
                </c:pt>
                <c:pt idx="73">
                  <c:v>0.15</c:v>
                </c:pt>
                <c:pt idx="74">
                  <c:v>0.155</c:v>
                </c:pt>
                <c:pt idx="75">
                  <c:v>0.16</c:v>
                </c:pt>
                <c:pt idx="76">
                  <c:v>0.165</c:v>
                </c:pt>
                <c:pt idx="77">
                  <c:v>0.17</c:v>
                </c:pt>
                <c:pt idx="78">
                  <c:v>0.175</c:v>
                </c:pt>
                <c:pt idx="79">
                  <c:v>0.18</c:v>
                </c:pt>
                <c:pt idx="80">
                  <c:v>0.185</c:v>
                </c:pt>
                <c:pt idx="81">
                  <c:v>0.19</c:v>
                </c:pt>
                <c:pt idx="82">
                  <c:v>0.195</c:v>
                </c:pt>
                <c:pt idx="83">
                  <c:v>0.2</c:v>
                </c:pt>
                <c:pt idx="84">
                  <c:v>0.205</c:v>
                </c:pt>
                <c:pt idx="85">
                  <c:v>0.21</c:v>
                </c:pt>
                <c:pt idx="86">
                  <c:v>0.215</c:v>
                </c:pt>
                <c:pt idx="87">
                  <c:v>0.22</c:v>
                </c:pt>
                <c:pt idx="88">
                  <c:v>0.225</c:v>
                </c:pt>
                <c:pt idx="89">
                  <c:v>0.23</c:v>
                </c:pt>
                <c:pt idx="90">
                  <c:v>0.235</c:v>
                </c:pt>
                <c:pt idx="91">
                  <c:v>0.24</c:v>
                </c:pt>
                <c:pt idx="92">
                  <c:v>0.245</c:v>
                </c:pt>
                <c:pt idx="93">
                  <c:v>0.25</c:v>
                </c:pt>
                <c:pt idx="94">
                  <c:v>0.255</c:v>
                </c:pt>
                <c:pt idx="95">
                  <c:v>0.26</c:v>
                </c:pt>
                <c:pt idx="96">
                  <c:v>0.265</c:v>
                </c:pt>
                <c:pt idx="97">
                  <c:v>0.27</c:v>
                </c:pt>
                <c:pt idx="98">
                  <c:v>0.275</c:v>
                </c:pt>
                <c:pt idx="99">
                  <c:v>0.28</c:v>
                </c:pt>
                <c:pt idx="100">
                  <c:v>0.285</c:v>
                </c:pt>
                <c:pt idx="101">
                  <c:v>0.29</c:v>
                </c:pt>
                <c:pt idx="102">
                  <c:v>0.295</c:v>
                </c:pt>
                <c:pt idx="103">
                  <c:v>0.3</c:v>
                </c:pt>
                <c:pt idx="104">
                  <c:v>0.305</c:v>
                </c:pt>
                <c:pt idx="105">
                  <c:v>0.31</c:v>
                </c:pt>
                <c:pt idx="106">
                  <c:v>0.315</c:v>
                </c:pt>
                <c:pt idx="107">
                  <c:v>0.32</c:v>
                </c:pt>
                <c:pt idx="108">
                  <c:v>0.325</c:v>
                </c:pt>
                <c:pt idx="109">
                  <c:v>0.33</c:v>
                </c:pt>
                <c:pt idx="110">
                  <c:v>0.335</c:v>
                </c:pt>
                <c:pt idx="111">
                  <c:v>0.34</c:v>
                </c:pt>
                <c:pt idx="112">
                  <c:v>0.345</c:v>
                </c:pt>
                <c:pt idx="113">
                  <c:v>0.35</c:v>
                </c:pt>
                <c:pt idx="114">
                  <c:v>0.355</c:v>
                </c:pt>
                <c:pt idx="115">
                  <c:v>0.36</c:v>
                </c:pt>
                <c:pt idx="116">
                  <c:v>0.365</c:v>
                </c:pt>
                <c:pt idx="117">
                  <c:v>0.37</c:v>
                </c:pt>
                <c:pt idx="118">
                  <c:v>0.375</c:v>
                </c:pt>
                <c:pt idx="119">
                  <c:v>0.38</c:v>
                </c:pt>
                <c:pt idx="120">
                  <c:v>0.385</c:v>
                </c:pt>
                <c:pt idx="121">
                  <c:v>0.39</c:v>
                </c:pt>
                <c:pt idx="122">
                  <c:v>0.395</c:v>
                </c:pt>
                <c:pt idx="123">
                  <c:v>0.4</c:v>
                </c:pt>
                <c:pt idx="124">
                  <c:v>0.405</c:v>
                </c:pt>
                <c:pt idx="125">
                  <c:v>0.41</c:v>
                </c:pt>
                <c:pt idx="126">
                  <c:v>0.415</c:v>
                </c:pt>
                <c:pt idx="127">
                  <c:v>0.42</c:v>
                </c:pt>
                <c:pt idx="128">
                  <c:v>0.425</c:v>
                </c:pt>
                <c:pt idx="129">
                  <c:v>0.43</c:v>
                </c:pt>
                <c:pt idx="130">
                  <c:v>0.435</c:v>
                </c:pt>
                <c:pt idx="131">
                  <c:v>0.44</c:v>
                </c:pt>
                <c:pt idx="132">
                  <c:v>0.445</c:v>
                </c:pt>
                <c:pt idx="133">
                  <c:v>0.45</c:v>
                </c:pt>
                <c:pt idx="134">
                  <c:v>0.455</c:v>
                </c:pt>
                <c:pt idx="135">
                  <c:v>0.46</c:v>
                </c:pt>
                <c:pt idx="136">
                  <c:v>0.465</c:v>
                </c:pt>
                <c:pt idx="137">
                  <c:v>0.47</c:v>
                </c:pt>
                <c:pt idx="138">
                  <c:v>0.475</c:v>
                </c:pt>
                <c:pt idx="139">
                  <c:v>0.48</c:v>
                </c:pt>
                <c:pt idx="140">
                  <c:v>0.485</c:v>
                </c:pt>
                <c:pt idx="141">
                  <c:v>0.49</c:v>
                </c:pt>
                <c:pt idx="142">
                  <c:v>0.495</c:v>
                </c:pt>
                <c:pt idx="143">
                  <c:v>0.5</c:v>
                </c:pt>
              </c:numCache>
            </c:numRef>
          </c:xVal>
          <c:yVal>
            <c:numRef>
              <c:f>'Chart Data'!$D$2:$D$145</c:f>
              <c:numCache>
                <c:formatCode>0.0</c:formatCode>
                <c:ptCount val="144"/>
                <c:pt idx="0">
                  <c:v>-3.475558</c:v>
                </c:pt>
                <c:pt idx="1">
                  <c:v>-2.644052</c:v>
                </c:pt>
                <c:pt idx="2">
                  <c:v>-3.777028</c:v>
                </c:pt>
                <c:pt idx="3">
                  <c:v>-4.658883</c:v>
                </c:pt>
                <c:pt idx="4">
                  <c:v>-4.625245</c:v>
                </c:pt>
                <c:pt idx="5">
                  <c:v>-4.363112</c:v>
                </c:pt>
                <c:pt idx="6">
                  <c:v>-6.036532</c:v>
                </c:pt>
                <c:pt idx="7">
                  <c:v>-4.704561</c:v>
                </c:pt>
                <c:pt idx="8">
                  <c:v>-5.345956</c:v>
                </c:pt>
                <c:pt idx="9">
                  <c:v>-3.889194</c:v>
                </c:pt>
                <c:pt idx="10">
                  <c:v>-4.266512</c:v>
                </c:pt>
                <c:pt idx="11">
                  <c:v>-5.497337</c:v>
                </c:pt>
                <c:pt idx="12">
                  <c:v>-6.106959</c:v>
                </c:pt>
                <c:pt idx="13">
                  <c:v>-5.537239</c:v>
                </c:pt>
                <c:pt idx="14">
                  <c:v>-5.320602</c:v>
                </c:pt>
                <c:pt idx="15">
                  <c:v>-4.942129</c:v>
                </c:pt>
                <c:pt idx="16">
                  <c:v>-4.571223</c:v>
                </c:pt>
                <c:pt idx="17">
                  <c:v>-4.213577</c:v>
                </c:pt>
                <c:pt idx="18">
                  <c:v>-3.727283</c:v>
                </c:pt>
                <c:pt idx="19">
                  <c:v>-3.05144</c:v>
                </c:pt>
                <c:pt idx="20">
                  <c:v>-2.764301</c:v>
                </c:pt>
                <c:pt idx="21">
                  <c:v>-2.750809</c:v>
                </c:pt>
                <c:pt idx="22">
                  <c:v>-3.593585</c:v>
                </c:pt>
                <c:pt idx="23">
                  <c:v>-1.658626</c:v>
                </c:pt>
                <c:pt idx="24">
                  <c:v>-1.373363</c:v>
                </c:pt>
                <c:pt idx="25">
                  <c:v>-1.56313</c:v>
                </c:pt>
                <c:pt idx="26">
                  <c:v>-1.075576</c:v>
                </c:pt>
                <c:pt idx="27">
                  <c:v>-0.747283</c:v>
                </c:pt>
                <c:pt idx="28">
                  <c:v>-1.389115</c:v>
                </c:pt>
                <c:pt idx="29">
                  <c:v>-1.83034</c:v>
                </c:pt>
                <c:pt idx="30">
                  <c:v>0.982011</c:v>
                </c:pt>
                <c:pt idx="31">
                  <c:v>-0.82944</c:v>
                </c:pt>
                <c:pt idx="32">
                  <c:v>-2.095817</c:v>
                </c:pt>
                <c:pt idx="33">
                  <c:v>0.737683</c:v>
                </c:pt>
                <c:pt idx="34">
                  <c:v>0.061228</c:v>
                </c:pt>
                <c:pt idx="35">
                  <c:v>1.754062</c:v>
                </c:pt>
                <c:pt idx="36">
                  <c:v>2.050084</c:v>
                </c:pt>
                <c:pt idx="37">
                  <c:v>0.135943</c:v>
                </c:pt>
                <c:pt idx="38">
                  <c:v>0.441975</c:v>
                </c:pt>
                <c:pt idx="39">
                  <c:v>1.542477</c:v>
                </c:pt>
                <c:pt idx="40">
                  <c:v>1.636218</c:v>
                </c:pt>
                <c:pt idx="41">
                  <c:v>0.884619</c:v>
                </c:pt>
                <c:pt idx="42">
                  <c:v>3.240403</c:v>
                </c:pt>
                <c:pt idx="43">
                  <c:v>2.089563</c:v>
                </c:pt>
                <c:pt idx="44">
                  <c:v>3.215023</c:v>
                </c:pt>
                <c:pt idx="45">
                  <c:v>3.563729</c:v>
                </c:pt>
                <c:pt idx="46">
                  <c:v>3.962569</c:v>
                </c:pt>
                <c:pt idx="47">
                  <c:v>3.236375</c:v>
                </c:pt>
                <c:pt idx="48">
                  <c:v>3.566175</c:v>
                </c:pt>
                <c:pt idx="49">
                  <c:v>3.152502</c:v>
                </c:pt>
                <c:pt idx="50">
                  <c:v>3.785813</c:v>
                </c:pt>
                <c:pt idx="51">
                  <c:v>3.713428</c:v>
                </c:pt>
                <c:pt idx="52">
                  <c:v>3.934425</c:v>
                </c:pt>
                <c:pt idx="53">
                  <c:v>3.830254</c:v>
                </c:pt>
                <c:pt idx="54">
                  <c:v>3.940051</c:v>
                </c:pt>
                <c:pt idx="55">
                  <c:v>4.609843</c:v>
                </c:pt>
                <c:pt idx="56">
                  <c:v>3.626296</c:v>
                </c:pt>
                <c:pt idx="57">
                  <c:v>4.144626</c:v>
                </c:pt>
                <c:pt idx="58">
                  <c:v>3.465109</c:v>
                </c:pt>
                <c:pt idx="59">
                  <c:v>4.062421</c:v>
                </c:pt>
                <c:pt idx="60">
                  <c:v>3.869471</c:v>
                </c:pt>
                <c:pt idx="61">
                  <c:v>3.865015</c:v>
                </c:pt>
                <c:pt idx="62">
                  <c:v>3.576512</c:v>
                </c:pt>
                <c:pt idx="63">
                  <c:v>2.761119</c:v>
                </c:pt>
                <c:pt idx="64">
                  <c:v>5.978019</c:v>
                </c:pt>
                <c:pt idx="65">
                  <c:v>6.859708</c:v>
                </c:pt>
                <c:pt idx="66">
                  <c:v>6.213061</c:v>
                </c:pt>
                <c:pt idx="67">
                  <c:v>5.036311</c:v>
                </c:pt>
                <c:pt idx="68">
                  <c:v>4.927159</c:v>
                </c:pt>
                <c:pt idx="69">
                  <c:v>4.205094</c:v>
                </c:pt>
                <c:pt idx="70">
                  <c:v>3.046082</c:v>
                </c:pt>
                <c:pt idx="71">
                  <c:v>1.935478</c:v>
                </c:pt>
                <c:pt idx="72">
                  <c:v>1.75752</c:v>
                </c:pt>
                <c:pt idx="73">
                  <c:v>2.001471</c:v>
                </c:pt>
                <c:pt idx="74">
                  <c:v>2.175038</c:v>
                </c:pt>
                <c:pt idx="75">
                  <c:v>0.273292</c:v>
                </c:pt>
                <c:pt idx="76">
                  <c:v>1.821204</c:v>
                </c:pt>
                <c:pt idx="77">
                  <c:v>0.068359</c:v>
                </c:pt>
                <c:pt idx="78">
                  <c:v>-0.969333</c:v>
                </c:pt>
                <c:pt idx="79">
                  <c:v>0.02154</c:v>
                </c:pt>
                <c:pt idx="80">
                  <c:v>-0.326616</c:v>
                </c:pt>
                <c:pt idx="81">
                  <c:v>-2.07925</c:v>
                </c:pt>
                <c:pt idx="82">
                  <c:v>-0.721777</c:v>
                </c:pt>
                <c:pt idx="83">
                  <c:v>-1.133063</c:v>
                </c:pt>
                <c:pt idx="84">
                  <c:v>-1.954197</c:v>
                </c:pt>
                <c:pt idx="85">
                  <c:v>-1.446042</c:v>
                </c:pt>
                <c:pt idx="86">
                  <c:v>-2.930137</c:v>
                </c:pt>
                <c:pt idx="87">
                  <c:v>-1.930298</c:v>
                </c:pt>
                <c:pt idx="88">
                  <c:v>-2.058869</c:v>
                </c:pt>
                <c:pt idx="89">
                  <c:v>-1.070711</c:v>
                </c:pt>
                <c:pt idx="90">
                  <c:v>-2.876056</c:v>
                </c:pt>
                <c:pt idx="91">
                  <c:v>0.072666</c:v>
                </c:pt>
                <c:pt idx="92">
                  <c:v>-2.45711</c:v>
                </c:pt>
                <c:pt idx="93">
                  <c:v>-1.830037</c:v>
                </c:pt>
                <c:pt idx="94">
                  <c:v>-1.959604</c:v>
                </c:pt>
                <c:pt idx="95">
                  <c:v>-2.668807</c:v>
                </c:pt>
                <c:pt idx="96">
                  <c:v>-2.500606</c:v>
                </c:pt>
                <c:pt idx="97">
                  <c:v>-0.948388</c:v>
                </c:pt>
                <c:pt idx="98">
                  <c:v>-1.701288</c:v>
                </c:pt>
                <c:pt idx="99">
                  <c:v>-1.348359</c:v>
                </c:pt>
                <c:pt idx="100">
                  <c:v>-3.208862</c:v>
                </c:pt>
                <c:pt idx="101">
                  <c:v>-1.195608</c:v>
                </c:pt>
                <c:pt idx="102">
                  <c:v>-2.944094</c:v>
                </c:pt>
                <c:pt idx="103">
                  <c:v>-1.945411</c:v>
                </c:pt>
                <c:pt idx="104">
                  <c:v>-2.565292</c:v>
                </c:pt>
                <c:pt idx="105">
                  <c:v>-0.529542</c:v>
                </c:pt>
                <c:pt idx="106">
                  <c:v>-0.405252</c:v>
                </c:pt>
                <c:pt idx="107">
                  <c:v>-1.124854</c:v>
                </c:pt>
                <c:pt idx="108">
                  <c:v>-1.713577</c:v>
                </c:pt>
                <c:pt idx="109">
                  <c:v>-0.858949</c:v>
                </c:pt>
                <c:pt idx="110">
                  <c:v>-0.989703</c:v>
                </c:pt>
                <c:pt idx="111">
                  <c:v>-0.094609</c:v>
                </c:pt>
                <c:pt idx="112">
                  <c:v>-0.962475</c:v>
                </c:pt>
                <c:pt idx="113">
                  <c:v>-1.369027</c:v>
                </c:pt>
                <c:pt idx="114">
                  <c:v>-0.439899</c:v>
                </c:pt>
                <c:pt idx="115">
                  <c:v>-1.91574</c:v>
                </c:pt>
                <c:pt idx="116">
                  <c:v>-1.432902</c:v>
                </c:pt>
                <c:pt idx="117">
                  <c:v>-1.396702</c:v>
                </c:pt>
                <c:pt idx="118">
                  <c:v>-0.752579</c:v>
                </c:pt>
                <c:pt idx="119">
                  <c:v>-1.175928</c:v>
                </c:pt>
                <c:pt idx="120">
                  <c:v>-0.739853</c:v>
                </c:pt>
                <c:pt idx="121">
                  <c:v>-1.098418</c:v>
                </c:pt>
                <c:pt idx="122">
                  <c:v>0.346764</c:v>
                </c:pt>
                <c:pt idx="123">
                  <c:v>-1.566907</c:v>
                </c:pt>
                <c:pt idx="124">
                  <c:v>0.063434</c:v>
                </c:pt>
                <c:pt idx="125">
                  <c:v>0.120455</c:v>
                </c:pt>
                <c:pt idx="126">
                  <c:v>-1.159439</c:v>
                </c:pt>
                <c:pt idx="127">
                  <c:v>-0.284639</c:v>
                </c:pt>
                <c:pt idx="128">
                  <c:v>-0.31339</c:v>
                </c:pt>
                <c:pt idx="129">
                  <c:v>-1.091791</c:v>
                </c:pt>
                <c:pt idx="130">
                  <c:v>0.210526</c:v>
                </c:pt>
                <c:pt idx="131">
                  <c:v>0.712811</c:v>
                </c:pt>
                <c:pt idx="132">
                  <c:v>-0.101728</c:v>
                </c:pt>
                <c:pt idx="133">
                  <c:v>0.220451</c:v>
                </c:pt>
                <c:pt idx="134">
                  <c:v>-2.421417</c:v>
                </c:pt>
                <c:pt idx="135">
                  <c:v>-0.040154</c:v>
                </c:pt>
                <c:pt idx="136">
                  <c:v>-1.212932</c:v>
                </c:pt>
                <c:pt idx="137">
                  <c:v>-0.218609</c:v>
                </c:pt>
                <c:pt idx="138">
                  <c:v>-1.164648</c:v>
                </c:pt>
                <c:pt idx="139">
                  <c:v>0.476988</c:v>
                </c:pt>
                <c:pt idx="140">
                  <c:v>-0.295972</c:v>
                </c:pt>
                <c:pt idx="141">
                  <c:v>-0.710979</c:v>
                </c:pt>
                <c:pt idx="142">
                  <c:v>0.311805</c:v>
                </c:pt>
                <c:pt idx="143">
                  <c:v>0.445729</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E4E8"/>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(Exp − Calc) / σ</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q (Å⁻¹)</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scatterChart>
        <c:scatterStyle val="line"/>
        <c:ser>
          <c:idx val="0"/>
          <c:order val="0"/>
          <c:tx>
            <c:v>AA raw</c:v>
          </c:tx>
          <c:spPr>
            <a:ln xmlns:a="http://schemas.openxmlformats.org/drawingml/2006/main" w="23813">
              <a:solidFill>
                <a:srgbClr val="596973"/>
              </a:solidFill>
            </a:ln>
          </c:spPr>
          <c:marker>
            <c:symbol val="none"/>
          </c:marker>
          <c:xVal>
            <c:numRef>
              <c:f>'Chart Data'!$A$2:$A$145</c:f>
              <c:numCache>
                <c:formatCode>General</c:formatCode>
                <c:ptCount val="144"/>
                <c:pt idx="0">
                  <c:v>0.012</c:v>
                </c:pt>
                <c:pt idx="1">
                  <c:v>0.013</c:v>
                </c:pt>
                <c:pt idx="2">
                  <c:v>0.014</c:v>
                </c:pt>
                <c:pt idx="3">
                  <c:v>0.015</c:v>
                </c:pt>
                <c:pt idx="4">
                  <c:v>0.016</c:v>
                </c:pt>
                <c:pt idx="5">
                  <c:v>0.017</c:v>
                </c:pt>
                <c:pt idx="6">
                  <c:v>0.018</c:v>
                </c:pt>
                <c:pt idx="7">
                  <c:v>0.019</c:v>
                </c:pt>
                <c:pt idx="8">
                  <c:v>0.02</c:v>
                </c:pt>
                <c:pt idx="9">
                  <c:v>0.021</c:v>
                </c:pt>
                <c:pt idx="10">
                  <c:v>0.022</c:v>
                </c:pt>
                <c:pt idx="11">
                  <c:v>0.023</c:v>
                </c:pt>
                <c:pt idx="12">
                  <c:v>0.024</c:v>
                </c:pt>
                <c:pt idx="13">
                  <c:v>0.025</c:v>
                </c:pt>
                <c:pt idx="14">
                  <c:v>0.026</c:v>
                </c:pt>
                <c:pt idx="15">
                  <c:v>0.027</c:v>
                </c:pt>
                <c:pt idx="16">
                  <c:v>0.028</c:v>
                </c:pt>
                <c:pt idx="17">
                  <c:v>0.029</c:v>
                </c:pt>
                <c:pt idx="18">
                  <c:v>0.03</c:v>
                </c:pt>
                <c:pt idx="19">
                  <c:v>0.031</c:v>
                </c:pt>
                <c:pt idx="20">
                  <c:v>0.032</c:v>
                </c:pt>
                <c:pt idx="21">
                  <c:v>0.033</c:v>
                </c:pt>
                <c:pt idx="22">
                  <c:v>0.034</c:v>
                </c:pt>
                <c:pt idx="23">
                  <c:v>0.035</c:v>
                </c:pt>
                <c:pt idx="24">
                  <c:v>0.036</c:v>
                </c:pt>
                <c:pt idx="25">
                  <c:v>0.037</c:v>
                </c:pt>
                <c:pt idx="26">
                  <c:v>0.038</c:v>
                </c:pt>
                <c:pt idx="27">
                  <c:v>0.039</c:v>
                </c:pt>
                <c:pt idx="28">
                  <c:v>0.04</c:v>
                </c:pt>
                <c:pt idx="29">
                  <c:v>0.041</c:v>
                </c:pt>
                <c:pt idx="30">
                  <c:v>0.042</c:v>
                </c:pt>
                <c:pt idx="31">
                  <c:v>0.043</c:v>
                </c:pt>
                <c:pt idx="32">
                  <c:v>0.044</c:v>
                </c:pt>
                <c:pt idx="33">
                  <c:v>0.045</c:v>
                </c:pt>
                <c:pt idx="34">
                  <c:v>0.046</c:v>
                </c:pt>
                <c:pt idx="35">
                  <c:v>0.047</c:v>
                </c:pt>
                <c:pt idx="36">
                  <c:v>0.048</c:v>
                </c:pt>
                <c:pt idx="37">
                  <c:v>0.049</c:v>
                </c:pt>
                <c:pt idx="38">
                  <c:v>0.05</c:v>
                </c:pt>
                <c:pt idx="39">
                  <c:v>0.052</c:v>
                </c:pt>
                <c:pt idx="40">
                  <c:v>0.054</c:v>
                </c:pt>
                <c:pt idx="41">
                  <c:v>0.056</c:v>
                </c:pt>
                <c:pt idx="42">
                  <c:v>0.058</c:v>
                </c:pt>
                <c:pt idx="43">
                  <c:v>0.06</c:v>
                </c:pt>
                <c:pt idx="44">
                  <c:v>0.062</c:v>
                </c:pt>
                <c:pt idx="45">
                  <c:v>0.064</c:v>
                </c:pt>
                <c:pt idx="46">
                  <c:v>0.066</c:v>
                </c:pt>
                <c:pt idx="47">
                  <c:v>0.068</c:v>
                </c:pt>
                <c:pt idx="48">
                  <c:v>0.07</c:v>
                </c:pt>
                <c:pt idx="49">
                  <c:v>0.072</c:v>
                </c:pt>
                <c:pt idx="50">
                  <c:v>0.074</c:v>
                </c:pt>
                <c:pt idx="51">
                  <c:v>0.076</c:v>
                </c:pt>
                <c:pt idx="52">
                  <c:v>0.078</c:v>
                </c:pt>
                <c:pt idx="53">
                  <c:v>0.08</c:v>
                </c:pt>
                <c:pt idx="54">
                  <c:v>0.082</c:v>
                </c:pt>
                <c:pt idx="55">
                  <c:v>0.084</c:v>
                </c:pt>
                <c:pt idx="56">
                  <c:v>0.086</c:v>
                </c:pt>
                <c:pt idx="57">
                  <c:v>0.088</c:v>
                </c:pt>
                <c:pt idx="58">
                  <c:v>0.09</c:v>
                </c:pt>
                <c:pt idx="59">
                  <c:v>0.092</c:v>
                </c:pt>
                <c:pt idx="60">
                  <c:v>0.094</c:v>
                </c:pt>
                <c:pt idx="61">
                  <c:v>0.096</c:v>
                </c:pt>
                <c:pt idx="62">
                  <c:v>0.098</c:v>
                </c:pt>
                <c:pt idx="63">
                  <c:v>0.1</c:v>
                </c:pt>
                <c:pt idx="64">
                  <c:v>0.105</c:v>
                </c:pt>
                <c:pt idx="65">
                  <c:v>0.11</c:v>
                </c:pt>
                <c:pt idx="66">
                  <c:v>0.115</c:v>
                </c:pt>
                <c:pt idx="67">
                  <c:v>0.12</c:v>
                </c:pt>
                <c:pt idx="68">
                  <c:v>0.125</c:v>
                </c:pt>
                <c:pt idx="69">
                  <c:v>0.13</c:v>
                </c:pt>
                <c:pt idx="70">
                  <c:v>0.135</c:v>
                </c:pt>
                <c:pt idx="71">
                  <c:v>0.14</c:v>
                </c:pt>
                <c:pt idx="72">
                  <c:v>0.145</c:v>
                </c:pt>
                <c:pt idx="73">
                  <c:v>0.15</c:v>
                </c:pt>
                <c:pt idx="74">
                  <c:v>0.155</c:v>
                </c:pt>
                <c:pt idx="75">
                  <c:v>0.16</c:v>
                </c:pt>
                <c:pt idx="76">
                  <c:v>0.165</c:v>
                </c:pt>
                <c:pt idx="77">
                  <c:v>0.17</c:v>
                </c:pt>
                <c:pt idx="78">
                  <c:v>0.175</c:v>
                </c:pt>
                <c:pt idx="79">
                  <c:v>0.18</c:v>
                </c:pt>
                <c:pt idx="80">
                  <c:v>0.185</c:v>
                </c:pt>
                <c:pt idx="81">
                  <c:v>0.19</c:v>
                </c:pt>
                <c:pt idx="82">
                  <c:v>0.195</c:v>
                </c:pt>
                <c:pt idx="83">
                  <c:v>0.2</c:v>
                </c:pt>
                <c:pt idx="84">
                  <c:v>0.205</c:v>
                </c:pt>
                <c:pt idx="85">
                  <c:v>0.21</c:v>
                </c:pt>
                <c:pt idx="86">
                  <c:v>0.215</c:v>
                </c:pt>
                <c:pt idx="87">
                  <c:v>0.22</c:v>
                </c:pt>
                <c:pt idx="88">
                  <c:v>0.225</c:v>
                </c:pt>
                <c:pt idx="89">
                  <c:v>0.23</c:v>
                </c:pt>
                <c:pt idx="90">
                  <c:v>0.235</c:v>
                </c:pt>
                <c:pt idx="91">
                  <c:v>0.24</c:v>
                </c:pt>
                <c:pt idx="92">
                  <c:v>0.245</c:v>
                </c:pt>
                <c:pt idx="93">
                  <c:v>0.25</c:v>
                </c:pt>
                <c:pt idx="94">
                  <c:v>0.255</c:v>
                </c:pt>
                <c:pt idx="95">
                  <c:v>0.26</c:v>
                </c:pt>
                <c:pt idx="96">
                  <c:v>0.265</c:v>
                </c:pt>
                <c:pt idx="97">
                  <c:v>0.27</c:v>
                </c:pt>
                <c:pt idx="98">
                  <c:v>0.275</c:v>
                </c:pt>
                <c:pt idx="99">
                  <c:v>0.28</c:v>
                </c:pt>
                <c:pt idx="100">
                  <c:v>0.285</c:v>
                </c:pt>
                <c:pt idx="101">
                  <c:v>0.29</c:v>
                </c:pt>
                <c:pt idx="102">
                  <c:v>0.295</c:v>
                </c:pt>
                <c:pt idx="103">
                  <c:v>0.3</c:v>
                </c:pt>
                <c:pt idx="104">
                  <c:v>0.305</c:v>
                </c:pt>
                <c:pt idx="105">
                  <c:v>0.31</c:v>
                </c:pt>
                <c:pt idx="106">
                  <c:v>0.315</c:v>
                </c:pt>
                <c:pt idx="107">
                  <c:v>0.32</c:v>
                </c:pt>
                <c:pt idx="108">
                  <c:v>0.325</c:v>
                </c:pt>
                <c:pt idx="109">
                  <c:v>0.33</c:v>
                </c:pt>
                <c:pt idx="110">
                  <c:v>0.335</c:v>
                </c:pt>
                <c:pt idx="111">
                  <c:v>0.34</c:v>
                </c:pt>
                <c:pt idx="112">
                  <c:v>0.345</c:v>
                </c:pt>
                <c:pt idx="113">
                  <c:v>0.35</c:v>
                </c:pt>
                <c:pt idx="114">
                  <c:v>0.355</c:v>
                </c:pt>
                <c:pt idx="115">
                  <c:v>0.36</c:v>
                </c:pt>
                <c:pt idx="116">
                  <c:v>0.365</c:v>
                </c:pt>
                <c:pt idx="117">
                  <c:v>0.37</c:v>
                </c:pt>
                <c:pt idx="118">
                  <c:v>0.375</c:v>
                </c:pt>
                <c:pt idx="119">
                  <c:v>0.38</c:v>
                </c:pt>
                <c:pt idx="120">
                  <c:v>0.385</c:v>
                </c:pt>
                <c:pt idx="121">
                  <c:v>0.39</c:v>
                </c:pt>
                <c:pt idx="122">
                  <c:v>0.395</c:v>
                </c:pt>
                <c:pt idx="123">
                  <c:v>0.4</c:v>
                </c:pt>
                <c:pt idx="124">
                  <c:v>0.405</c:v>
                </c:pt>
                <c:pt idx="125">
                  <c:v>0.41</c:v>
                </c:pt>
                <c:pt idx="126">
                  <c:v>0.415</c:v>
                </c:pt>
                <c:pt idx="127">
                  <c:v>0.42</c:v>
                </c:pt>
                <c:pt idx="128">
                  <c:v>0.425</c:v>
                </c:pt>
                <c:pt idx="129">
                  <c:v>0.43</c:v>
                </c:pt>
                <c:pt idx="130">
                  <c:v>0.435</c:v>
                </c:pt>
                <c:pt idx="131">
                  <c:v>0.44</c:v>
                </c:pt>
                <c:pt idx="132">
                  <c:v>0.445</c:v>
                </c:pt>
                <c:pt idx="133">
                  <c:v>0.45</c:v>
                </c:pt>
                <c:pt idx="134">
                  <c:v>0.455</c:v>
                </c:pt>
                <c:pt idx="135">
                  <c:v>0.46</c:v>
                </c:pt>
                <c:pt idx="136">
                  <c:v>0.465</c:v>
                </c:pt>
                <c:pt idx="137">
                  <c:v>0.47</c:v>
                </c:pt>
                <c:pt idx="138">
                  <c:v>0.475</c:v>
                </c:pt>
                <c:pt idx="139">
                  <c:v>0.48</c:v>
                </c:pt>
                <c:pt idx="140">
                  <c:v>0.485</c:v>
                </c:pt>
                <c:pt idx="141">
                  <c:v>0.49</c:v>
                </c:pt>
                <c:pt idx="142">
                  <c:v>0.495</c:v>
                </c:pt>
                <c:pt idx="143">
                  <c:v>0.5</c:v>
                </c:pt>
              </c:numCache>
            </c:numRef>
          </c:xVal>
          <c:yVal>
            <c:numRef>
              <c:f>'Chart Data'!$B$2:$B$145</c:f>
              <c:numCache>
                <c:formatCode>0.0</c:formatCode>
                <c:ptCount val="144"/>
                <c:pt idx="0">
                  <c:v>1.611611</c:v>
                </c:pt>
                <c:pt idx="1">
                  <c:v>1.6022</c:v>
                </c:pt>
                <c:pt idx="2">
                  <c:v>0.960175</c:v>
                </c:pt>
                <c:pt idx="3">
                  <c:v>0.364856</c:v>
                </c:pt>
                <c:pt idx="4">
                  <c:v>1.245909</c:v>
                </c:pt>
                <c:pt idx="5">
                  <c:v>0.905149</c:v>
                </c:pt>
                <c:pt idx="6">
                  <c:v>0.45183</c:v>
                </c:pt>
                <c:pt idx="7">
                  <c:v>-0.623424</c:v>
                </c:pt>
                <c:pt idx="8">
                  <c:v>-0.353196</c:v>
                </c:pt>
                <c:pt idx="9">
                  <c:v>0.466446</c:v>
                </c:pt>
                <c:pt idx="10">
                  <c:v>-0.948691</c:v>
                </c:pt>
                <c:pt idx="11">
                  <c:v>-1.114682</c:v>
                </c:pt>
                <c:pt idx="12">
                  <c:v>0.771516</c:v>
                </c:pt>
                <c:pt idx="13">
                  <c:v>-0.842465</c:v>
                </c:pt>
                <c:pt idx="14">
                  <c:v>-1.431673</c:v>
                </c:pt>
                <c:pt idx="15">
                  <c:v>0.153799</c:v>
                </c:pt>
                <c:pt idx="16">
                  <c:v>-0.027403</c:v>
                </c:pt>
                <c:pt idx="17">
                  <c:v>-1.202673</c:v>
                </c:pt>
                <c:pt idx="18">
                  <c:v>-1.602821</c:v>
                </c:pt>
                <c:pt idx="19">
                  <c:v>0.507664</c:v>
                </c:pt>
                <c:pt idx="20">
                  <c:v>-1.234084</c:v>
                </c:pt>
                <c:pt idx="21">
                  <c:v>-0.810844</c:v>
                </c:pt>
                <c:pt idx="22">
                  <c:v>-1.509605</c:v>
                </c:pt>
                <c:pt idx="23">
                  <c:v>-1.608573</c:v>
                </c:pt>
                <c:pt idx="24">
                  <c:v>-0.150042</c:v>
                </c:pt>
                <c:pt idx="25">
                  <c:v>-0.68543</c:v>
                </c:pt>
                <c:pt idx="26">
                  <c:v>-0.482571</c:v>
                </c:pt>
                <c:pt idx="27">
                  <c:v>-2.20378</c:v>
                </c:pt>
                <c:pt idx="28">
                  <c:v>-0.555271</c:v>
                </c:pt>
                <c:pt idx="29">
                  <c:v>-0.575887</c:v>
                </c:pt>
                <c:pt idx="30">
                  <c:v>-0.327308</c:v>
                </c:pt>
                <c:pt idx="31">
                  <c:v>1.117012</c:v>
                </c:pt>
                <c:pt idx="32">
                  <c:v>-0.890293</c:v>
                </c:pt>
                <c:pt idx="33">
                  <c:v>-0.546443</c:v>
                </c:pt>
                <c:pt idx="34">
                  <c:v>0.148596</c:v>
                </c:pt>
                <c:pt idx="35">
                  <c:v>0.845717</c:v>
                </c:pt>
                <c:pt idx="36">
                  <c:v>0.736872</c:v>
                </c:pt>
                <c:pt idx="37">
                  <c:v>1.283452</c:v>
                </c:pt>
                <c:pt idx="38">
                  <c:v>1.647407</c:v>
                </c:pt>
                <c:pt idx="39">
                  <c:v>0.248412</c:v>
                </c:pt>
                <c:pt idx="40">
                  <c:v>1.053035</c:v>
                </c:pt>
                <c:pt idx="41">
                  <c:v>1.221299</c:v>
                </c:pt>
                <c:pt idx="42">
                  <c:v>0.987721</c:v>
                </c:pt>
                <c:pt idx="43">
                  <c:v>3.536756</c:v>
                </c:pt>
                <c:pt idx="44">
                  <c:v>2.87568</c:v>
                </c:pt>
                <c:pt idx="45">
                  <c:v>2.543803</c:v>
                </c:pt>
                <c:pt idx="46">
                  <c:v>3.372646</c:v>
                </c:pt>
                <c:pt idx="47">
                  <c:v>2.010381</c:v>
                </c:pt>
                <c:pt idx="48">
                  <c:v>1.650316</c:v>
                </c:pt>
                <c:pt idx="49">
                  <c:v>2.615546</c:v>
                </c:pt>
                <c:pt idx="50">
                  <c:v>3.026576</c:v>
                </c:pt>
                <c:pt idx="51">
                  <c:v>3.436787</c:v>
                </c:pt>
                <c:pt idx="52">
                  <c:v>1.664252</c:v>
                </c:pt>
                <c:pt idx="53">
                  <c:v>3.390341</c:v>
                </c:pt>
                <c:pt idx="54">
                  <c:v>1.843321</c:v>
                </c:pt>
                <c:pt idx="55">
                  <c:v>1.949022</c:v>
                </c:pt>
                <c:pt idx="56">
                  <c:v>3.981315</c:v>
                </c:pt>
                <c:pt idx="57">
                  <c:v>2.986501</c:v>
                </c:pt>
                <c:pt idx="58">
                  <c:v>2.973009</c:v>
                </c:pt>
                <c:pt idx="59">
                  <c:v>3.184937</c:v>
                </c:pt>
                <c:pt idx="60">
                  <c:v>2.421234</c:v>
                </c:pt>
                <c:pt idx="61">
                  <c:v>1.229322</c:v>
                </c:pt>
                <c:pt idx="62">
                  <c:v>1.018578</c:v>
                </c:pt>
                <c:pt idx="63">
                  <c:v>0.615564</c:v>
                </c:pt>
                <c:pt idx="64">
                  <c:v>2.249205</c:v>
                </c:pt>
                <c:pt idx="65">
                  <c:v>-0.229212</c:v>
                </c:pt>
                <c:pt idx="66">
                  <c:v>2.589164</c:v>
                </c:pt>
                <c:pt idx="67">
                  <c:v>-1.548538</c:v>
                </c:pt>
                <c:pt idx="68">
                  <c:v>-0.005539</c:v>
                </c:pt>
                <c:pt idx="69">
                  <c:v>0.162127</c:v>
                </c:pt>
                <c:pt idx="70">
                  <c:v>-0.001265</c:v>
                </c:pt>
                <c:pt idx="71">
                  <c:v>-1.345691</c:v>
                </c:pt>
                <c:pt idx="72">
                  <c:v>-2.342274</c:v>
                </c:pt>
                <c:pt idx="73">
                  <c:v>-2.613307</c:v>
                </c:pt>
                <c:pt idx="74">
                  <c:v>-3.972471</c:v>
                </c:pt>
                <c:pt idx="75">
                  <c:v>-4.191607</c:v>
                </c:pt>
                <c:pt idx="76">
                  <c:v>-3.690202</c:v>
                </c:pt>
                <c:pt idx="77">
                  <c:v>-4.414334</c:v>
                </c:pt>
                <c:pt idx="78">
                  <c:v>-4.012995</c:v>
                </c:pt>
                <c:pt idx="79">
                  <c:v>-4.905824</c:v>
                </c:pt>
                <c:pt idx="80">
                  <c:v>-6.067133</c:v>
                </c:pt>
                <c:pt idx="81">
                  <c:v>-6.268691</c:v>
                </c:pt>
                <c:pt idx="82">
                  <c:v>-6.469832</c:v>
                </c:pt>
                <c:pt idx="83">
                  <c:v>-5.238415</c:v>
                </c:pt>
                <c:pt idx="84">
                  <c:v>-6.415117</c:v>
                </c:pt>
                <c:pt idx="85">
                  <c:v>-6.007879</c:v>
                </c:pt>
                <c:pt idx="86">
                  <c:v>-4.578179</c:v>
                </c:pt>
                <c:pt idx="87">
                  <c:v>-4.386753</c:v>
                </c:pt>
                <c:pt idx="88">
                  <c:v>-5.630241</c:v>
                </c:pt>
                <c:pt idx="89">
                  <c:v>-5.139836</c:v>
                </c:pt>
                <c:pt idx="90">
                  <c:v>-4.849826</c:v>
                </c:pt>
                <c:pt idx="91">
                  <c:v>-5.503763</c:v>
                </c:pt>
                <c:pt idx="92">
                  <c:v>-4.428967</c:v>
                </c:pt>
                <c:pt idx="93">
                  <c:v>-3.064734</c:v>
                </c:pt>
                <c:pt idx="94">
                  <c:v>-3.949443</c:v>
                </c:pt>
                <c:pt idx="95">
                  <c:v>-3.28271</c:v>
                </c:pt>
                <c:pt idx="96">
                  <c:v>-4.379038</c:v>
                </c:pt>
                <c:pt idx="97">
                  <c:v>-3.619692</c:v>
                </c:pt>
                <c:pt idx="98">
                  <c:v>-2.138028</c:v>
                </c:pt>
                <c:pt idx="99">
                  <c:v>-2.860496</c:v>
                </c:pt>
                <c:pt idx="100">
                  <c:v>-2.56696</c:v>
                </c:pt>
                <c:pt idx="101">
                  <c:v>-2.585238</c:v>
                </c:pt>
                <c:pt idx="102">
                  <c:v>-3.039433</c:v>
                </c:pt>
                <c:pt idx="103">
                  <c:v>-2.449689</c:v>
                </c:pt>
                <c:pt idx="104">
                  <c:v>-2.856473</c:v>
                </c:pt>
                <c:pt idx="105">
                  <c:v>-2.276617</c:v>
                </c:pt>
                <c:pt idx="106">
                  <c:v>-1.792746</c:v>
                </c:pt>
                <c:pt idx="107">
                  <c:v>-0.880246</c:v>
                </c:pt>
                <c:pt idx="108">
                  <c:v>-0.719222</c:v>
                </c:pt>
                <c:pt idx="109">
                  <c:v>-1.95049</c:v>
                </c:pt>
                <c:pt idx="110">
                  <c:v>-1.88014</c:v>
                </c:pt>
                <c:pt idx="111">
                  <c:v>-3.017612</c:v>
                </c:pt>
                <c:pt idx="112">
                  <c:v>-2.340287</c:v>
                </c:pt>
                <c:pt idx="113">
                  <c:v>-1.786912</c:v>
                </c:pt>
                <c:pt idx="114">
                  <c:v>0.334383</c:v>
                </c:pt>
                <c:pt idx="115">
                  <c:v>0.186624</c:v>
                </c:pt>
                <c:pt idx="116">
                  <c:v>-0.769893</c:v>
                </c:pt>
                <c:pt idx="117">
                  <c:v>-0.101918</c:v>
                </c:pt>
                <c:pt idx="118">
                  <c:v>1.351218</c:v>
                </c:pt>
                <c:pt idx="119">
                  <c:v>0.089712</c:v>
                </c:pt>
                <c:pt idx="120">
                  <c:v>0.616958</c:v>
                </c:pt>
                <c:pt idx="121">
                  <c:v>-0.224157</c:v>
                </c:pt>
                <c:pt idx="122">
                  <c:v>1.059873</c:v>
                </c:pt>
                <c:pt idx="123">
                  <c:v>0.619832</c:v>
                </c:pt>
                <c:pt idx="124">
                  <c:v>-0.190687</c:v>
                </c:pt>
                <c:pt idx="125">
                  <c:v>2.611674</c:v>
                </c:pt>
                <c:pt idx="126">
                  <c:v>0.883319</c:v>
                </c:pt>
                <c:pt idx="127">
                  <c:v>1.452092</c:v>
                </c:pt>
                <c:pt idx="128">
                  <c:v>1.926985</c:v>
                </c:pt>
                <c:pt idx="129">
                  <c:v>0.657008</c:v>
                </c:pt>
                <c:pt idx="130">
                  <c:v>1.779207</c:v>
                </c:pt>
                <c:pt idx="131">
                  <c:v>1.541854</c:v>
                </c:pt>
                <c:pt idx="132">
                  <c:v>3.23233</c:v>
                </c:pt>
                <c:pt idx="133">
                  <c:v>2.743019</c:v>
                </c:pt>
                <c:pt idx="134">
                  <c:v>3.589743</c:v>
                </c:pt>
                <c:pt idx="135">
                  <c:v>3.424754</c:v>
                </c:pt>
                <c:pt idx="136">
                  <c:v>2.700497</c:v>
                </c:pt>
                <c:pt idx="137">
                  <c:v>3.935217</c:v>
                </c:pt>
                <c:pt idx="138">
                  <c:v>3.88953</c:v>
                </c:pt>
                <c:pt idx="139">
                  <c:v>3.468655</c:v>
                </c:pt>
                <c:pt idx="140">
                  <c:v>3.018181</c:v>
                </c:pt>
                <c:pt idx="141">
                  <c:v>2.499133</c:v>
                </c:pt>
                <c:pt idx="142">
                  <c:v>4.095531</c:v>
                </c:pt>
                <c:pt idx="143">
                  <c:v>4.708474</c:v>
                </c:pt>
              </c:numCache>
            </c:numRef>
          </c:yVal>
        </c:ser>
        <c:ser>
          <c:idx val="1"/>
          <c:order val="1"/>
          <c:tx>
            <c:v>AA selected</c:v>
          </c:tx>
          <c:spPr>
            <a:ln xmlns:a="http://schemas.openxmlformats.org/drawingml/2006/main" w="23813">
              <a:solidFill>
                <a:srgbClr val="DA762F"/>
              </a:solidFill>
            </a:ln>
          </c:spPr>
          <c:marker>
            <c:symbol val="none"/>
          </c:marker>
          <c:xVal>
            <c:numRef>
              <c:f>'Chart Data'!$C$2:$C$145</c:f>
              <c:numCache>
                <c:formatCode>General</c:formatCode>
                <c:ptCount val="144"/>
                <c:pt idx="0">
                  <c:v>0.012</c:v>
                </c:pt>
                <c:pt idx="1">
                  <c:v>0.013</c:v>
                </c:pt>
                <c:pt idx="2">
                  <c:v>0.014</c:v>
                </c:pt>
                <c:pt idx="3">
                  <c:v>0.015</c:v>
                </c:pt>
                <c:pt idx="4">
                  <c:v>0.016</c:v>
                </c:pt>
                <c:pt idx="5">
                  <c:v>0.017</c:v>
                </c:pt>
                <c:pt idx="6">
                  <c:v>0.018</c:v>
                </c:pt>
                <c:pt idx="7">
                  <c:v>0.019</c:v>
                </c:pt>
                <c:pt idx="8">
                  <c:v>0.02</c:v>
                </c:pt>
                <c:pt idx="9">
                  <c:v>0.021</c:v>
                </c:pt>
                <c:pt idx="10">
                  <c:v>0.022</c:v>
                </c:pt>
                <c:pt idx="11">
                  <c:v>0.023</c:v>
                </c:pt>
                <c:pt idx="12">
                  <c:v>0.024</c:v>
                </c:pt>
                <c:pt idx="13">
                  <c:v>0.025</c:v>
                </c:pt>
                <c:pt idx="14">
                  <c:v>0.026</c:v>
                </c:pt>
                <c:pt idx="15">
                  <c:v>0.027</c:v>
                </c:pt>
                <c:pt idx="16">
                  <c:v>0.028</c:v>
                </c:pt>
                <c:pt idx="17">
                  <c:v>0.029</c:v>
                </c:pt>
                <c:pt idx="18">
                  <c:v>0.03</c:v>
                </c:pt>
                <c:pt idx="19">
                  <c:v>0.031</c:v>
                </c:pt>
                <c:pt idx="20">
                  <c:v>0.032</c:v>
                </c:pt>
                <c:pt idx="21">
                  <c:v>0.033</c:v>
                </c:pt>
                <c:pt idx="22">
                  <c:v>0.034</c:v>
                </c:pt>
                <c:pt idx="23">
                  <c:v>0.035</c:v>
                </c:pt>
                <c:pt idx="24">
                  <c:v>0.036</c:v>
                </c:pt>
                <c:pt idx="25">
                  <c:v>0.037</c:v>
                </c:pt>
                <c:pt idx="26">
                  <c:v>0.038</c:v>
                </c:pt>
                <c:pt idx="27">
                  <c:v>0.039</c:v>
                </c:pt>
                <c:pt idx="28">
                  <c:v>0.04</c:v>
                </c:pt>
                <c:pt idx="29">
                  <c:v>0.041</c:v>
                </c:pt>
                <c:pt idx="30">
                  <c:v>0.042</c:v>
                </c:pt>
                <c:pt idx="31">
                  <c:v>0.043</c:v>
                </c:pt>
                <c:pt idx="32">
                  <c:v>0.044</c:v>
                </c:pt>
                <c:pt idx="33">
                  <c:v>0.045</c:v>
                </c:pt>
                <c:pt idx="34">
                  <c:v>0.046</c:v>
                </c:pt>
                <c:pt idx="35">
                  <c:v>0.047</c:v>
                </c:pt>
                <c:pt idx="36">
                  <c:v>0.048</c:v>
                </c:pt>
                <c:pt idx="37">
                  <c:v>0.049</c:v>
                </c:pt>
                <c:pt idx="38">
                  <c:v>0.05</c:v>
                </c:pt>
                <c:pt idx="39">
                  <c:v>0.052</c:v>
                </c:pt>
                <c:pt idx="40">
                  <c:v>0.054</c:v>
                </c:pt>
                <c:pt idx="41">
                  <c:v>0.056</c:v>
                </c:pt>
                <c:pt idx="42">
                  <c:v>0.058</c:v>
                </c:pt>
                <c:pt idx="43">
                  <c:v>0.06</c:v>
                </c:pt>
                <c:pt idx="44">
                  <c:v>0.062</c:v>
                </c:pt>
                <c:pt idx="45">
                  <c:v>0.064</c:v>
                </c:pt>
                <c:pt idx="46">
                  <c:v>0.066</c:v>
                </c:pt>
                <c:pt idx="47">
                  <c:v>0.068</c:v>
                </c:pt>
                <c:pt idx="48">
                  <c:v>0.07</c:v>
                </c:pt>
                <c:pt idx="49">
                  <c:v>0.072</c:v>
                </c:pt>
                <c:pt idx="50">
                  <c:v>0.074</c:v>
                </c:pt>
                <c:pt idx="51">
                  <c:v>0.076</c:v>
                </c:pt>
                <c:pt idx="52">
                  <c:v>0.078</c:v>
                </c:pt>
                <c:pt idx="53">
                  <c:v>0.08</c:v>
                </c:pt>
                <c:pt idx="54">
                  <c:v>0.082</c:v>
                </c:pt>
                <c:pt idx="55">
                  <c:v>0.084</c:v>
                </c:pt>
                <c:pt idx="56">
                  <c:v>0.086</c:v>
                </c:pt>
                <c:pt idx="57">
                  <c:v>0.088</c:v>
                </c:pt>
                <c:pt idx="58">
                  <c:v>0.09</c:v>
                </c:pt>
                <c:pt idx="59">
                  <c:v>0.092</c:v>
                </c:pt>
                <c:pt idx="60">
                  <c:v>0.094</c:v>
                </c:pt>
                <c:pt idx="61">
                  <c:v>0.096</c:v>
                </c:pt>
                <c:pt idx="62">
                  <c:v>0.098</c:v>
                </c:pt>
                <c:pt idx="63">
                  <c:v>0.1</c:v>
                </c:pt>
                <c:pt idx="64">
                  <c:v>0.105</c:v>
                </c:pt>
                <c:pt idx="65">
                  <c:v>0.11</c:v>
                </c:pt>
                <c:pt idx="66">
                  <c:v>0.115</c:v>
                </c:pt>
                <c:pt idx="67">
                  <c:v>0.12</c:v>
                </c:pt>
                <c:pt idx="68">
                  <c:v>0.125</c:v>
                </c:pt>
                <c:pt idx="69">
                  <c:v>0.13</c:v>
                </c:pt>
                <c:pt idx="70">
                  <c:v>0.135</c:v>
                </c:pt>
                <c:pt idx="71">
                  <c:v>0.14</c:v>
                </c:pt>
                <c:pt idx="72">
                  <c:v>0.145</c:v>
                </c:pt>
                <c:pt idx="73">
                  <c:v>0.15</c:v>
                </c:pt>
                <c:pt idx="74">
                  <c:v>0.155</c:v>
                </c:pt>
                <c:pt idx="75">
                  <c:v>0.16</c:v>
                </c:pt>
                <c:pt idx="76">
                  <c:v>0.165</c:v>
                </c:pt>
                <c:pt idx="77">
                  <c:v>0.17</c:v>
                </c:pt>
                <c:pt idx="78">
                  <c:v>0.175</c:v>
                </c:pt>
                <c:pt idx="79">
                  <c:v>0.18</c:v>
                </c:pt>
                <c:pt idx="80">
                  <c:v>0.185</c:v>
                </c:pt>
                <c:pt idx="81">
                  <c:v>0.19</c:v>
                </c:pt>
                <c:pt idx="82">
                  <c:v>0.195</c:v>
                </c:pt>
                <c:pt idx="83">
                  <c:v>0.2</c:v>
                </c:pt>
                <c:pt idx="84">
                  <c:v>0.205</c:v>
                </c:pt>
                <c:pt idx="85">
                  <c:v>0.21</c:v>
                </c:pt>
                <c:pt idx="86">
                  <c:v>0.215</c:v>
                </c:pt>
                <c:pt idx="87">
                  <c:v>0.22</c:v>
                </c:pt>
                <c:pt idx="88">
                  <c:v>0.225</c:v>
                </c:pt>
                <c:pt idx="89">
                  <c:v>0.23</c:v>
                </c:pt>
                <c:pt idx="90">
                  <c:v>0.235</c:v>
                </c:pt>
                <c:pt idx="91">
                  <c:v>0.24</c:v>
                </c:pt>
                <c:pt idx="92">
                  <c:v>0.245</c:v>
                </c:pt>
                <c:pt idx="93">
                  <c:v>0.25</c:v>
                </c:pt>
                <c:pt idx="94">
                  <c:v>0.255</c:v>
                </c:pt>
                <c:pt idx="95">
                  <c:v>0.26</c:v>
                </c:pt>
                <c:pt idx="96">
                  <c:v>0.265</c:v>
                </c:pt>
                <c:pt idx="97">
                  <c:v>0.27</c:v>
                </c:pt>
                <c:pt idx="98">
                  <c:v>0.275</c:v>
                </c:pt>
                <c:pt idx="99">
                  <c:v>0.28</c:v>
                </c:pt>
                <c:pt idx="100">
                  <c:v>0.285</c:v>
                </c:pt>
                <c:pt idx="101">
                  <c:v>0.29</c:v>
                </c:pt>
                <c:pt idx="102">
                  <c:v>0.295</c:v>
                </c:pt>
                <c:pt idx="103">
                  <c:v>0.3</c:v>
                </c:pt>
                <c:pt idx="104">
                  <c:v>0.305</c:v>
                </c:pt>
                <c:pt idx="105">
                  <c:v>0.31</c:v>
                </c:pt>
                <c:pt idx="106">
                  <c:v>0.315</c:v>
                </c:pt>
                <c:pt idx="107">
                  <c:v>0.32</c:v>
                </c:pt>
                <c:pt idx="108">
                  <c:v>0.325</c:v>
                </c:pt>
                <c:pt idx="109">
                  <c:v>0.33</c:v>
                </c:pt>
                <c:pt idx="110">
                  <c:v>0.335</c:v>
                </c:pt>
                <c:pt idx="111">
                  <c:v>0.34</c:v>
                </c:pt>
                <c:pt idx="112">
                  <c:v>0.345</c:v>
                </c:pt>
                <c:pt idx="113">
                  <c:v>0.35</c:v>
                </c:pt>
                <c:pt idx="114">
                  <c:v>0.355</c:v>
                </c:pt>
                <c:pt idx="115">
                  <c:v>0.36</c:v>
                </c:pt>
                <c:pt idx="116">
                  <c:v>0.365</c:v>
                </c:pt>
                <c:pt idx="117">
                  <c:v>0.37</c:v>
                </c:pt>
                <c:pt idx="118">
                  <c:v>0.375</c:v>
                </c:pt>
                <c:pt idx="119">
                  <c:v>0.38</c:v>
                </c:pt>
                <c:pt idx="120">
                  <c:v>0.385</c:v>
                </c:pt>
                <c:pt idx="121">
                  <c:v>0.39</c:v>
                </c:pt>
                <c:pt idx="122">
                  <c:v>0.395</c:v>
                </c:pt>
                <c:pt idx="123">
                  <c:v>0.4</c:v>
                </c:pt>
                <c:pt idx="124">
                  <c:v>0.405</c:v>
                </c:pt>
                <c:pt idx="125">
                  <c:v>0.41</c:v>
                </c:pt>
                <c:pt idx="126">
                  <c:v>0.415</c:v>
                </c:pt>
                <c:pt idx="127">
                  <c:v>0.42</c:v>
                </c:pt>
                <c:pt idx="128">
                  <c:v>0.425</c:v>
                </c:pt>
                <c:pt idx="129">
                  <c:v>0.43</c:v>
                </c:pt>
                <c:pt idx="130">
                  <c:v>0.435</c:v>
                </c:pt>
                <c:pt idx="131">
                  <c:v>0.44</c:v>
                </c:pt>
                <c:pt idx="132">
                  <c:v>0.445</c:v>
                </c:pt>
                <c:pt idx="133">
                  <c:v>0.45</c:v>
                </c:pt>
                <c:pt idx="134">
                  <c:v>0.455</c:v>
                </c:pt>
                <c:pt idx="135">
                  <c:v>0.46</c:v>
                </c:pt>
                <c:pt idx="136">
                  <c:v>0.465</c:v>
                </c:pt>
                <c:pt idx="137">
                  <c:v>0.47</c:v>
                </c:pt>
                <c:pt idx="138">
                  <c:v>0.475</c:v>
                </c:pt>
                <c:pt idx="139">
                  <c:v>0.48</c:v>
                </c:pt>
                <c:pt idx="140">
                  <c:v>0.485</c:v>
                </c:pt>
                <c:pt idx="141">
                  <c:v>0.49</c:v>
                </c:pt>
                <c:pt idx="142">
                  <c:v>0.495</c:v>
                </c:pt>
                <c:pt idx="143">
                  <c:v>0.5</c:v>
                </c:pt>
              </c:numCache>
            </c:numRef>
          </c:xVal>
          <c:yVal>
            <c:numRef>
              <c:f>'Chart Data'!$D$2:$D$145</c:f>
              <c:numCache>
                <c:formatCode>0.0</c:formatCode>
                <c:ptCount val="144"/>
                <c:pt idx="0">
                  <c:v>2.58038</c:v>
                </c:pt>
                <c:pt idx="1">
                  <c:v>2.72118</c:v>
                </c:pt>
                <c:pt idx="2">
                  <c:v>2.220387</c:v>
                </c:pt>
                <c:pt idx="3">
                  <c:v>1.777485</c:v>
                </c:pt>
                <c:pt idx="4">
                  <c:v>2.8052</c:v>
                </c:pt>
                <c:pt idx="5">
                  <c:v>2.566761</c:v>
                </c:pt>
                <c:pt idx="6">
                  <c:v>2.194753</c:v>
                </c:pt>
                <c:pt idx="7">
                  <c:v>1.170472</c:v>
                </c:pt>
                <c:pt idx="8">
                  <c:v>1.505105</c:v>
                </c:pt>
                <c:pt idx="9">
                  <c:v>2.3304</c:v>
                </c:pt>
                <c:pt idx="10">
                  <c:v>0.902483</c:v>
                </c:pt>
                <c:pt idx="11">
                  <c:v>0.732944</c:v>
                </c:pt>
                <c:pt idx="12">
                  <c:v>2.578931</c:v>
                </c:pt>
                <c:pt idx="13">
                  <c:v>0.89539</c:v>
                </c:pt>
                <c:pt idx="14">
                  <c:v>0.237158</c:v>
                </c:pt>
                <c:pt idx="15">
                  <c:v>1.731744</c:v>
                </c:pt>
                <c:pt idx="16">
                  <c:v>1.479903</c:v>
                </c:pt>
                <c:pt idx="17">
                  <c:v>0.171467</c:v>
                </c:pt>
                <c:pt idx="18">
                  <c:v>-0.35423</c:v>
                </c:pt>
                <c:pt idx="19">
                  <c:v>1.6309</c:v>
                </c:pt>
                <c:pt idx="20">
                  <c:v>-0.225942</c:v>
                </c:pt>
                <c:pt idx="21">
                  <c:v>0.045931</c:v>
                </c:pt>
                <c:pt idx="22">
                  <c:v>-0.791871</c:v>
                </c:pt>
                <c:pt idx="23">
                  <c:v>-1.030014</c:v>
                </c:pt>
                <c:pt idx="24">
                  <c:v>0.283034</c:v>
                </c:pt>
                <c:pt idx="25">
                  <c:v>-0.390516</c:v>
                </c:pt>
                <c:pt idx="26">
                  <c:v>-0.329313</c:v>
                </c:pt>
                <c:pt idx="27">
                  <c:v>-2.187479</c:v>
                </c:pt>
                <c:pt idx="28">
                  <c:v>-0.673947</c:v>
                </c:pt>
                <c:pt idx="29">
                  <c:v>-0.825987</c:v>
                </c:pt>
                <c:pt idx="30">
                  <c:v>-0.701311</c:v>
                </c:pt>
                <c:pt idx="31">
                  <c:v>0.620314</c:v>
                </c:pt>
                <c:pt idx="32">
                  <c:v>-1.503288</c:v>
                </c:pt>
                <c:pt idx="33">
                  <c:v>-1.270828</c:v>
                </c:pt>
                <c:pt idx="34">
                  <c:v>-0.689413</c:v>
                </c:pt>
                <c:pt idx="35">
                  <c:v>-0.084098</c:v>
                </c:pt>
                <c:pt idx="36">
                  <c:v>-0.283542</c:v>
                </c:pt>
                <c:pt idx="37">
                  <c:v>0.177049</c:v>
                </c:pt>
                <c:pt idx="38">
                  <c:v>0.471982</c:v>
                </c:pt>
                <c:pt idx="39">
                  <c:v>-1.635127</c:v>
                </c:pt>
                <c:pt idx="40">
                  <c:v>-0.979925</c:v>
                </c:pt>
                <c:pt idx="41">
                  <c:v>-0.872993</c:v>
                </c:pt>
                <c:pt idx="42">
                  <c:v>-1.143056</c:v>
                </c:pt>
                <c:pt idx="43">
                  <c:v>1.359284</c:v>
                </c:pt>
                <c:pt idx="44">
                  <c:v>0.598416</c:v>
                </c:pt>
                <c:pt idx="45">
                  <c:v>0.230584</c:v>
                </c:pt>
                <c:pt idx="46">
                  <c:v>1.02872</c:v>
                </c:pt>
                <c:pt idx="47">
                  <c:v>-0.345485</c:v>
                </c:pt>
                <c:pt idx="48">
                  <c:v>-0.696612</c:v>
                </c:pt>
                <c:pt idx="49">
                  <c:v>0.299606</c:v>
                </c:pt>
                <c:pt idx="50">
                  <c:v>0.763271</c:v>
                </c:pt>
                <c:pt idx="51">
                  <c:v>1.176423</c:v>
                </c:pt>
                <c:pt idx="52">
                  <c:v>-0.544748</c:v>
                </c:pt>
                <c:pt idx="53">
                  <c:v>1.267184</c:v>
                </c:pt>
                <c:pt idx="54">
                  <c:v>-0.227754</c:v>
                </c:pt>
                <c:pt idx="55">
                  <c:v>-0.135275</c:v>
                </c:pt>
                <c:pt idx="56">
                  <c:v>1.912162</c:v>
                </c:pt>
                <c:pt idx="57">
                  <c:v>0.999947</c:v>
                </c:pt>
                <c:pt idx="58">
                  <c:v>1.053228</c:v>
                </c:pt>
                <c:pt idx="59">
                  <c:v>1.310723</c:v>
                </c:pt>
                <c:pt idx="60">
                  <c:v>0.606912</c:v>
                </c:pt>
                <c:pt idx="61">
                  <c:v>-0.503654</c:v>
                </c:pt>
                <c:pt idx="62">
                  <c:v>-0.644906</c:v>
                </c:pt>
                <c:pt idx="63">
                  <c:v>-0.974472</c:v>
                </c:pt>
                <c:pt idx="64">
                  <c:v>0.076645</c:v>
                </c:pt>
                <c:pt idx="65">
                  <c:v>-1.973936</c:v>
                </c:pt>
                <c:pt idx="66">
                  <c:v>1.35219</c:v>
                </c:pt>
                <c:pt idx="67">
                  <c:v>-2.206622</c:v>
                </c:pt>
                <c:pt idx="68">
                  <c:v>-0.040289</c:v>
                </c:pt>
                <c:pt idx="69">
                  <c:v>0.732607</c:v>
                </c:pt>
                <c:pt idx="70">
                  <c:v>1.187389</c:v>
                </c:pt>
                <c:pt idx="71">
                  <c:v>0.408477</c:v>
                </c:pt>
                <c:pt idx="72">
                  <c:v>-0.087096</c:v>
                </c:pt>
                <c:pt idx="73">
                  <c:v>-0.075158</c:v>
                </c:pt>
                <c:pt idx="74">
                  <c:v>-1.172905</c:v>
                </c:pt>
                <c:pt idx="75">
                  <c:v>-1.214084</c:v>
                </c:pt>
                <c:pt idx="76">
                  <c:v>-0.613112</c:v>
                </c:pt>
                <c:pt idx="77">
                  <c:v>-1.282309</c:v>
                </c:pt>
                <c:pt idx="78">
                  <c:v>-0.819837</c:v>
                </c:pt>
                <c:pt idx="79">
                  <c:v>-1.237174</c:v>
                </c:pt>
                <c:pt idx="80">
                  <c:v>-2.37025</c:v>
                </c:pt>
                <c:pt idx="81">
                  <c:v>-2.49651</c:v>
                </c:pt>
                <c:pt idx="82">
                  <c:v>-2.716742</c:v>
                </c:pt>
                <c:pt idx="83">
                  <c:v>-1.625303</c:v>
                </c:pt>
                <c:pt idx="84">
                  <c:v>-2.904345</c:v>
                </c:pt>
                <c:pt idx="85">
                  <c:v>-2.507819</c:v>
                </c:pt>
                <c:pt idx="86">
                  <c:v>-1.236514</c:v>
                </c:pt>
                <c:pt idx="87">
                  <c:v>-1.071662</c:v>
                </c:pt>
                <c:pt idx="88">
                  <c:v>-2.447598</c:v>
                </c:pt>
                <c:pt idx="89">
                  <c:v>-2.036996</c:v>
                </c:pt>
                <c:pt idx="90">
                  <c:v>-2.067609</c:v>
                </c:pt>
                <c:pt idx="91">
                  <c:v>-3.044167</c:v>
                </c:pt>
                <c:pt idx="92">
                  <c:v>-2.075281</c:v>
                </c:pt>
                <c:pt idx="93">
                  <c:v>-0.986853</c:v>
                </c:pt>
                <c:pt idx="94">
                  <c:v>-1.987219</c:v>
                </c:pt>
                <c:pt idx="95">
                  <c:v>-1.572249</c:v>
                </c:pt>
                <c:pt idx="96">
                  <c:v>-2.726869</c:v>
                </c:pt>
                <c:pt idx="97">
                  <c:v>-2.153784</c:v>
                </c:pt>
                <c:pt idx="98">
                  <c:v>-0.721942</c:v>
                </c:pt>
                <c:pt idx="99">
                  <c:v>-1.539262</c:v>
                </c:pt>
                <c:pt idx="100">
                  <c:v>-1.336399</c:v>
                </c:pt>
                <c:pt idx="101">
                  <c:v>-1.357003</c:v>
                </c:pt>
                <c:pt idx="102">
                  <c:v>-1.875562</c:v>
                </c:pt>
                <c:pt idx="103">
                  <c:v>-1.358411</c:v>
                </c:pt>
                <c:pt idx="104">
                  <c:v>-1.822317</c:v>
                </c:pt>
                <c:pt idx="105">
                  <c:v>-1.272628</c:v>
                </c:pt>
                <c:pt idx="106">
                  <c:v>-0.823354</c:v>
                </c:pt>
                <c:pt idx="107">
                  <c:v>0.04488</c:v>
                </c:pt>
                <c:pt idx="108">
                  <c:v>0.161795</c:v>
                </c:pt>
                <c:pt idx="109">
                  <c:v>-1.104124</c:v>
                </c:pt>
                <c:pt idx="110">
                  <c:v>-1.093813</c:v>
                </c:pt>
                <c:pt idx="111">
                  <c:v>-2.255018</c:v>
                </c:pt>
                <c:pt idx="112">
                  <c:v>-1.666927</c:v>
                </c:pt>
                <c:pt idx="113">
                  <c:v>-1.116628</c:v>
                </c:pt>
                <c:pt idx="114">
                  <c:v>0.920378</c:v>
                </c:pt>
                <c:pt idx="115">
                  <c:v>0.731523</c:v>
                </c:pt>
                <c:pt idx="116">
                  <c:v>-0.263514</c:v>
                </c:pt>
                <c:pt idx="117">
                  <c:v>0.355038</c:v>
                </c:pt>
                <c:pt idx="118">
                  <c:v>1.760557</c:v>
                </c:pt>
                <c:pt idx="119">
                  <c:v>0.44096</c:v>
                </c:pt>
                <c:pt idx="120">
                  <c:v>0.945692</c:v>
                </c:pt>
                <c:pt idx="121">
                  <c:v>0.026689</c:v>
                </c:pt>
                <c:pt idx="122">
                  <c:v>1.270123</c:v>
                </c:pt>
                <c:pt idx="123">
                  <c:v>0.79294</c:v>
                </c:pt>
                <c:pt idx="124">
                  <c:v>-0.054946</c:v>
                </c:pt>
                <c:pt idx="125">
                  <c:v>2.705845</c:v>
                </c:pt>
                <c:pt idx="126">
                  <c:v>0.940298</c:v>
                </c:pt>
                <c:pt idx="127">
                  <c:v>1.475583</c:v>
                </c:pt>
                <c:pt idx="128">
                  <c:v>1.923252</c:v>
                </c:pt>
                <c:pt idx="129">
                  <c:v>0.631506</c:v>
                </c:pt>
                <c:pt idx="130">
                  <c:v>1.739716</c:v>
                </c:pt>
                <c:pt idx="131">
                  <c:v>1.49267</c:v>
                </c:pt>
                <c:pt idx="132">
                  <c:v>3.179536</c:v>
                </c:pt>
                <c:pt idx="133">
                  <c:v>2.690575</c:v>
                </c:pt>
                <c:pt idx="134">
                  <c:v>3.542263</c:v>
                </c:pt>
                <c:pt idx="135">
                  <c:v>3.384193</c:v>
                </c:pt>
                <c:pt idx="136">
                  <c:v>2.66838</c:v>
                </c:pt>
                <c:pt idx="137">
                  <c:v>3.910428</c:v>
                </c:pt>
                <c:pt idx="138">
                  <c:v>3.871597</c:v>
                </c:pt>
                <c:pt idx="139">
                  <c:v>3.456148</c:v>
                </c:pt>
                <c:pt idx="140">
                  <c:v>3.008424</c:v>
                </c:pt>
                <c:pt idx="141">
                  <c:v>2.48887</c:v>
                </c:pt>
                <c:pt idx="142">
                  <c:v>4.084337</c:v>
                </c:pt>
                <c:pt idx="143">
                  <c:v>4.695497</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DE4E8"/>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(Exp − Calc) / σ</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50112"/>
      </c:valAx>
      <c:val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q (Å⁻¹)</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elvetica Neue"/>
                <a:ea typeface="Helvetica Neue"/>
                <a:cs typeface="Helvetica Neue"/>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218614-52C7-498B-BA2A-AD1E5E315855}"/>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Tau-5* structural ensembles</a:t>
            </a:r>
          </a:p>
        </p:txBody>
      </p:sp>
      <p:sp>
        <p:nvSpPr>
          <p:cNvPr id="2" name="">
            <a:extLst xmlns:a="http://schemas.openxmlformats.org/drawingml/2006/main">
              <a:ext uri="{FF2B5EF4-FFF2-40B4-BE49-F238E27FC236}">
                <a16:creationId xmlns:a16="http://schemas.microsoft.com/office/drawing/2014/main" id="{452E3947-0F83-4037-937C-C80CA85BE14A}"/>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F7857D6B-8363-4766-A68B-2D7D102AB53F}"/>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0B1E2C6C-0358-4D73-9BFF-9F2A1461CCA9}"/>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Zhu et al., Nature Communications (2022)  ·  Current analysis: code, selected members and numerical results</a:t>
            </a:r>
          </a:p>
        </p:txBody>
      </p:sp>
      <p:sp>
        <p:nvSpPr>
          <p:cNvPr id="5" name="">
            <a:extLst xmlns:a="http://schemas.openxmlformats.org/drawingml/2006/main">
              <a:ext uri="{FF2B5EF4-FFF2-40B4-BE49-F238E27FC236}">
                <a16:creationId xmlns:a16="http://schemas.microsoft.com/office/drawing/2014/main" id="{E7830148-45E1-4C40-AEE9-6C97F90A1709}"/>
              </a:ext>
            </a:extLst>
          </p:cNvPr>
          <p:cNvSpPr>
            <a:spLocks xmlns:a="http://schemas.openxmlformats.org/drawingml/2006/main" noGrp="1"/>
          </p:cNvSpPr>
          <p:nvPr/>
        </p:nvSpPr>
        <p:spPr>
          <a:xfrm xmlns:a="http://schemas.openxmlformats.org/drawingml/2006/main">
            <a:off x="619125" y="223837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2876B8"/>
                </a:solidFill>
                <a:latin typeface="Helvetica Neue"/>
                <a:ea typeface="Helvetica Neue"/>
                <a:cs typeface="Helvetica Neue"/>
              </a:defRPr>
            </a:pPr>
            <a:r>
              <a:rPr sz="3675" b="0">
                <a:solidFill>
                  <a:srgbClr val="2876B8"/>
                </a:solidFill>
                <a:latin typeface="Helvetica Neue"/>
                <a:ea typeface="Helvetica Neue"/>
                <a:cs typeface="Helvetica Neue"/>
              </a:rPr>
              <a:t>Chemical shifts, SAXS and cooperative helicity</a:t>
            </a:r>
          </a:p>
        </p:txBody>
      </p:sp>
      <p:sp>
        <p:nvSpPr>
          <p:cNvPr id="6" name="">
            <a:extLst xmlns:a="http://schemas.openxmlformats.org/drawingml/2006/main">
              <a:ext uri="{FF2B5EF4-FFF2-40B4-BE49-F238E27FC236}">
                <a16:creationId xmlns:a16="http://schemas.microsoft.com/office/drawing/2014/main" id="{8872AF70-6F92-4D7A-A5BA-CC20573C237C}"/>
              </a:ext>
            </a:extLst>
          </p:cNvPr>
          <p:cNvSpPr>
            <a:spLocks xmlns:a="http://schemas.openxmlformats.org/drawingml/2006/main" noGrp="1"/>
          </p:cNvSpPr>
          <p:nvPr/>
        </p:nvSpPr>
        <p:spPr>
          <a:xfrm xmlns:a="http://schemas.openxmlformats.org/drawingml/2006/main">
            <a:off x="619125" y="4048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94D"/>
                </a:solidFill>
                <a:latin typeface="Helvetica Neue"/>
                <a:ea typeface="Helvetica Neue"/>
                <a:cs typeface="Helvetica Neue"/>
              </a:defRPr>
            </a:pPr>
            <a:r>
              <a:rPr sz="2175" b="0">
                <a:solidFill>
                  <a:srgbClr val="18394D"/>
                </a:solidFill>
                <a:latin typeface="Helvetica Neue"/>
                <a:ea typeface="Helvetica Neue"/>
                <a:cs typeface="Helvetica Neue"/>
              </a:rPr>
              <a:t>Methods • equations • theory • current results</a:t>
            </a:r>
          </a:p>
        </p:txBody>
      </p:sp>
      <p:sp>
        <p:nvSpPr>
          <p:cNvPr id="7" name="">
            <a:extLst xmlns:a="http://schemas.openxmlformats.org/drawingml/2006/main">
              <a:ext uri="{FF2B5EF4-FFF2-40B4-BE49-F238E27FC236}">
                <a16:creationId xmlns:a16="http://schemas.microsoft.com/office/drawing/2014/main" id="{7A82AFDC-CFA1-45CE-9406-1EDA3BA98FB0}"/>
              </a:ext>
            </a:extLst>
          </p:cNvPr>
          <p:cNvSpPr>
            <a:spLocks xmlns:a="http://schemas.openxmlformats.org/drawingml/2006/main" noGrp="1"/>
          </p:cNvSpPr>
          <p:nvPr/>
        </p:nvSpPr>
        <p:spPr>
          <a:xfrm xmlns:a="http://schemas.openxmlformats.org/drawingml/2006/main">
            <a:off x="619125" y="490537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6973"/>
                </a:solidFill>
                <a:latin typeface="Helvetica Neue"/>
                <a:ea typeface="Helvetica Neue"/>
                <a:cs typeface="Helvetica Neue"/>
              </a:defRPr>
            </a:pPr>
            <a:r>
              <a:rPr sz="1950" b="0">
                <a:solidFill>
                  <a:srgbClr val="596973"/>
                </a:solidFill>
                <a:latin typeface="Helvetica Neue"/>
                <a:ea typeface="Helvetica Neue"/>
                <a:cs typeface="Helvetica Neue"/>
              </a:rPr>
              <a:t>WT and W397A/W433A (AA)   |   29 September 2026</a:t>
            </a:r>
          </a:p>
        </p:txBody>
      </p:sp>
    </p:spTree>
    <p:extLst>
      <p:ext uri="{BB962C8B-B14F-4D97-AF65-F5344CB8AC3E}">
        <p14:creationId xmlns:p14="http://schemas.microsoft.com/office/powerpoint/2010/main" val="9341999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BDA7518-50BF-4DD2-A2AD-F96CCDDDBB81}"/>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The structural question</a:t>
            </a:r>
          </a:p>
        </p:txBody>
      </p:sp>
      <p:sp>
        <p:nvSpPr>
          <p:cNvPr id="2" name="">
            <a:extLst xmlns:a="http://schemas.openxmlformats.org/drawingml/2006/main">
              <a:ext uri="{FF2B5EF4-FFF2-40B4-BE49-F238E27FC236}">
                <a16:creationId xmlns:a16="http://schemas.microsoft.com/office/drawing/2014/main" id="{066A4EB2-0F89-4B33-A68D-084579170534}"/>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9090A12C-789C-4AF9-AEFC-A438FA01B8B3}"/>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a:t>
            </a:r>
          </a:p>
        </p:txBody>
      </p:sp>
      <p:sp>
        <p:nvSpPr>
          <p:cNvPr id="4" name="">
            <a:extLst xmlns:a="http://schemas.openxmlformats.org/drawingml/2006/main">
              <a:ext uri="{FF2B5EF4-FFF2-40B4-BE49-F238E27FC236}">
                <a16:creationId xmlns:a16="http://schemas.microsoft.com/office/drawing/2014/main" id="{8D028AF3-D1FA-4A2A-A520-86FB7AF3A176}"/>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Zhu et al., Nature Communications (2022)</a:t>
            </a:r>
          </a:p>
        </p:txBody>
      </p:sp>
      <p:sp>
        <p:nvSpPr>
          <p:cNvPr id="5" name="">
            <a:extLst xmlns:a="http://schemas.openxmlformats.org/drawingml/2006/main">
              <a:ext uri="{FF2B5EF4-FFF2-40B4-BE49-F238E27FC236}">
                <a16:creationId xmlns:a16="http://schemas.microsoft.com/office/drawing/2014/main" id="{8A340FE9-A09C-40CC-B033-FDB45E83A49D}"/>
              </a:ext>
            </a:extLst>
          </p:cNvPr>
          <p:cNvSpPr>
            <a:spLocks xmlns:a="http://schemas.openxmlformats.org/drawingml/2006/main" noGrp="1"/>
          </p:cNvSpPr>
          <p:nvPr/>
        </p:nvSpPr>
        <p:spPr>
          <a:xfrm xmlns:a="http://schemas.openxmlformats.org/drawingml/2006/main">
            <a:off x="666750" y="1571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Does SAXS compaction arise from long cooperative helices and hydrophobic contacts, or from collapsed disordered tails?</a:t>
            </a:r>
          </a:p>
        </p:txBody>
      </p:sp>
      <p:sp>
        <p:nvSpPr>
          <p:cNvPr id="6" name="">
            <a:extLst xmlns:a="http://schemas.openxmlformats.org/drawingml/2006/main">
              <a:ext uri="{FF2B5EF4-FFF2-40B4-BE49-F238E27FC236}">
                <a16:creationId xmlns:a16="http://schemas.microsoft.com/office/drawing/2014/main" id="{5032D65D-C361-40E9-BE7D-A1C37552A5BF}"/>
              </a:ext>
            </a:extLst>
          </p:cNvPr>
          <p:cNvSpPr>
            <a:spLocks xmlns:a="http://schemas.openxmlformats.org/drawingml/2006/main" noGrp="1"/>
          </p:cNvSpPr>
          <p:nvPr/>
        </p:nvSpPr>
        <p:spPr>
          <a:xfrm xmlns:a="http://schemas.openxmlformats.org/drawingml/2006/main">
            <a:off x="666750" y="2571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Chemical shifts constrain local environments; SAXS constrains global size and pair-distance distributions.</a:t>
            </a:r>
          </a:p>
        </p:txBody>
      </p:sp>
      <p:sp>
        <p:nvSpPr>
          <p:cNvPr id="7" name="">
            <a:extLst xmlns:a="http://schemas.openxmlformats.org/drawingml/2006/main">
              <a:ext uri="{FF2B5EF4-FFF2-40B4-BE49-F238E27FC236}">
                <a16:creationId xmlns:a16="http://schemas.microsoft.com/office/drawing/2014/main" id="{345FD286-A3C9-47E4-912C-F97B843F6681}"/>
              </a:ext>
            </a:extLst>
          </p:cNvPr>
          <p:cNvSpPr>
            <a:spLocks xmlns:a="http://schemas.openxmlformats.org/drawingml/2006/main" noGrp="1"/>
          </p:cNvSpPr>
          <p:nvPr/>
        </p:nvSpPr>
        <p:spPr>
          <a:xfrm xmlns:a="http://schemas.openxmlformats.org/drawingml/2006/main">
            <a:off x="666750" y="3571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Different ensembles can satisfy the same averages. Pool design is therefore part of the inference.</a:t>
            </a:r>
          </a:p>
        </p:txBody>
      </p:sp>
    </p:spTree>
    <p:extLst>
      <p:ext uri="{BB962C8B-B14F-4D97-AF65-F5344CB8AC3E}">
        <p14:creationId xmlns:p14="http://schemas.microsoft.com/office/powerpoint/2010/main" val="13939263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6C1696-5222-49ED-B95A-E82F84E370C5}"/>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Constructs and residue mapping</a:t>
            </a:r>
          </a:p>
        </p:txBody>
      </p:sp>
      <p:sp>
        <p:nvSpPr>
          <p:cNvPr id="2" name="">
            <a:extLst xmlns:a="http://schemas.openxmlformats.org/drawingml/2006/main">
              <a:ext uri="{FF2B5EF4-FFF2-40B4-BE49-F238E27FC236}">
                <a16:creationId xmlns:a16="http://schemas.microsoft.com/office/drawing/2014/main" id="{34A9E60F-79E6-4BB0-9B1E-05353919E192}"/>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4F88FFDA-31DE-4D84-815E-ECCA6720B676}"/>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a:t>
            </a:r>
          </a:p>
        </p:txBody>
      </p:sp>
      <p:sp>
        <p:nvSpPr>
          <p:cNvPr id="4" name="">
            <a:extLst xmlns:a="http://schemas.openxmlformats.org/drawingml/2006/main">
              <a:ext uri="{FF2B5EF4-FFF2-40B4-BE49-F238E27FC236}">
                <a16:creationId xmlns:a16="http://schemas.microsoft.com/office/drawing/2014/main" id="{1A416C92-F272-4154-980C-0716547518D1}"/>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  ·  Zhu et al., Nature Communications (2022)</a:t>
            </a:r>
          </a:p>
        </p:txBody>
      </p:sp>
      <p:graphicFrame>
        <p:nvGraphicFramePr>
          <p:cNvPr id="11" name=""/>
          <p:cNvGraphicFramePr/>
          <p:nvPr/>
        </p:nvGraphicFramePr>
        <p:xfrm>
          <a:off xmlns:a="http://schemas.openxmlformats.org/drawingml/2006/main" x="619125" y="1571625"/>
          <a:ext xmlns:a="http://schemas.openxmlformats.org/drawingml/2006/main" cx="10953750" cy="3095625"/>
        </p:xfrm>
        <a:graphic xmlns:a="http://schemas.openxmlformats.org/drawingml/2006/main">
          <a:graphicData uri="http://schemas.openxmlformats.org/drawingml/2006/table">
            <a:tbl>
              <a:tblPr/>
              <a:tblGrid>
                <a:gridCol w="4857750"/>
                <a:gridCol w="3048000"/>
                <a:gridCol w="3048000"/>
              </a:tblGrid>
              <a:tr h="619125">
                <a:tc>
                  <a:txBody>
                    <a:bodyPr/>
                    <a:lstStyle/>
                    <a:p>
                      <a:r>
                        <a:rPr sz="1800" b="1">
                          <a:solidFill>
                            <a:srgbClr val="FFFFFF"/>
                          </a:solidFill>
                          <a:latin typeface="Helvetica Neue"/>
                          <a:ea typeface="Helvetica Neue"/>
                          <a:cs typeface="Helvetica Neue"/>
                        </a:rPr>
                        <a:t>Region / construct</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AR numbering</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Model numbering</a:t>
                      </a:r>
                    </a:p>
                  </a:txBody>
                  <a:tcPr marL="91440" marR="91440" marT="45720" marB="45720">
                    <a:solidFill>
                      <a:srgbClr val="18394D"/>
                    </a:solidFill>
                  </a:tcPr>
                </a:tc>
              </a:tr>
              <a:tr h="619125">
                <a:tc>
                  <a:txBody>
                    <a:bodyPr/>
                    <a:lstStyle/>
                    <a:p>
                      <a:r>
                        <a:rPr sz="1800" b="0">
                          <a:solidFill>
                            <a:srgbClr val="18394D"/>
                          </a:solidFill>
                          <a:latin typeface="Helvetica Neue"/>
                          <a:ea typeface="Helvetica Neue"/>
                          <a:cs typeface="Helvetica Neue"/>
                        </a:rPr>
                        <a:t>Full Tau-5*</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GP + 330–447</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1–120</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AA substitutions</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W397A / W433A</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70 / 106</a:t>
                      </a:r>
                    </a:p>
                  </a:txBody>
                  <a:tcPr marL="91440" marR="91440" marT="45720" marB="45720">
                    <a:solidFill>
                      <a:srgbClr val="FFFFFF"/>
                    </a:solidFill>
                  </a:tcPr>
                </a:tc>
              </a:tr>
              <a:tr h="619125">
                <a:tc>
                  <a:txBody>
                    <a:bodyPr/>
                    <a:lstStyle/>
                    <a:p>
                      <a:r>
                        <a:rPr sz="1800" b="0">
                          <a:solidFill>
                            <a:srgbClr val="18394D"/>
                          </a:solidFill>
                          <a:latin typeface="Helvetica Neue"/>
                          <a:ea typeface="Helvetica Neue"/>
                          <a:cs typeface="Helvetica Neue"/>
                        </a:rPr>
                        <a:t>Matched R2_R3 segment</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391–446 (56 residues)</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64–119</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CS comparison range</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330–446</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3–119</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8C3886C-2BFC-41E3-A93A-5DA8E929BCAA}"/>
              </a:ext>
            </a:extLst>
          </p:cNvPr>
          <p:cNvSpPr>
            <a:spLocks xmlns:a="http://schemas.openxmlformats.org/drawingml/2006/main" noGrp="1"/>
          </p:cNvSpPr>
          <p:nvPr/>
        </p:nvSpPr>
        <p:spPr>
          <a:xfrm xmlns:a="http://schemas.openxmlformats.org/drawingml/2006/main">
            <a:off x="666750" y="509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94D"/>
                </a:solidFill>
                <a:latin typeface="Helvetica Neue"/>
                <a:ea typeface="Helvetica Neue"/>
                <a:cs typeface="Helvetica Neue"/>
              </a:defRPr>
            </a:pPr>
            <a:r>
              <a:rPr sz="1950" b="0">
                <a:solidFill>
                  <a:srgbClr val="18394D"/>
                </a:solidFill>
                <a:latin typeface="Helvetica Neue"/>
                <a:ea typeface="Helvetica Neue"/>
                <a:cs typeface="Helvetica Neue"/>
              </a:rPr>
              <a:t>Use each construct’s own sequence and available shifts; omit terminal predictions.</a:t>
            </a:r>
          </a:p>
        </p:txBody>
      </p:sp>
    </p:spTree>
    <p:extLst>
      <p:ext uri="{BB962C8B-B14F-4D97-AF65-F5344CB8AC3E}">
        <p14:creationId xmlns:p14="http://schemas.microsoft.com/office/powerpoint/2010/main" val="4495618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E4BF78-9849-420B-A0AD-27CC990E2B0C}"/>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Current workflow</a:t>
            </a:r>
          </a:p>
        </p:txBody>
      </p:sp>
      <p:sp>
        <p:nvSpPr>
          <p:cNvPr id="2" name="">
            <a:extLst xmlns:a="http://schemas.openxmlformats.org/drawingml/2006/main">
              <a:ext uri="{FF2B5EF4-FFF2-40B4-BE49-F238E27FC236}">
                <a16:creationId xmlns:a16="http://schemas.microsoft.com/office/drawing/2014/main" id="{84B46539-005F-467B-8AA6-63351A86A626}"/>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2FF7225A-EA72-4341-9692-37639A813901}"/>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4</a:t>
            </a:r>
          </a:p>
        </p:txBody>
      </p:sp>
      <p:sp>
        <p:nvSpPr>
          <p:cNvPr id="4" name="">
            <a:extLst xmlns:a="http://schemas.openxmlformats.org/drawingml/2006/main">
              <a:ext uri="{FF2B5EF4-FFF2-40B4-BE49-F238E27FC236}">
                <a16:creationId xmlns:a16="http://schemas.microsoft.com/office/drawing/2014/main" id="{7CBA0531-B78A-4A79-AAA8-BD5044B7A3B5}"/>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Teixeira et al., J. Phys. Chem. A (2022)  ·  Shen &amp; Bax, J. Biomol. NMR (2010)  ·  Svergun et al., J. Appl. Crystallogr. (1995)  ·  Schwalbe et al., Structure (2014)</a:t>
            </a:r>
          </a:p>
        </p:txBody>
      </p:sp>
      <p:sp>
        <p:nvSpPr>
          <p:cNvPr id="5" name="">
            <a:extLst xmlns:a="http://schemas.openxmlformats.org/drawingml/2006/main">
              <a:ext uri="{FF2B5EF4-FFF2-40B4-BE49-F238E27FC236}">
                <a16:creationId xmlns:a16="http://schemas.microsoft.com/office/drawing/2014/main" id="{7FEDBDE1-DF19-4083-B1EE-364A9F8D828F}"/>
              </a:ext>
            </a:extLst>
          </p:cNvPr>
          <p:cNvSpPr>
            <a:spLocks xmlns:a="http://schemas.openxmlformats.org/drawingml/2006/main" noGrp="1"/>
          </p:cNvSpPr>
          <p:nvPr/>
        </p:nvSpPr>
        <p:spPr>
          <a:xfrm xmlns:a="http://schemas.openxmlformats.org/drawingml/2006/main">
            <a:off x="666750" y="1571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1   Generate 2,000 IDPConfGen conformers per construct; add the helix-length supplement for an expanded comparison.</a:t>
            </a:r>
          </a:p>
        </p:txBody>
      </p:sp>
      <p:sp>
        <p:nvSpPr>
          <p:cNvPr id="6" name="">
            <a:extLst xmlns:a="http://schemas.openxmlformats.org/drawingml/2006/main">
              <a:ext uri="{FF2B5EF4-FFF2-40B4-BE49-F238E27FC236}">
                <a16:creationId xmlns:a16="http://schemas.microsoft.com/office/drawing/2014/main" id="{A3C1DCF2-45BB-4E76-A606-1B71BC67DA2A}"/>
              </a:ext>
            </a:extLst>
          </p:cNvPr>
          <p:cNvSpPr>
            <a:spLocks xmlns:a="http://schemas.openxmlformats.org/drawingml/2006/main" noGrp="1"/>
          </p:cNvSpPr>
          <p:nvPr/>
        </p:nvSpPr>
        <p:spPr>
          <a:xfrm xmlns:a="http://schemas.openxmlformats.org/drawingml/2006/main">
            <a:off x="666750" y="2571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2   Predict shifts and SAXS for every conformer; average observables over each candidate subset.</a:t>
            </a:r>
          </a:p>
        </p:txBody>
      </p:sp>
      <p:sp>
        <p:nvSpPr>
          <p:cNvPr id="7" name="">
            <a:extLst xmlns:a="http://schemas.openxmlformats.org/drawingml/2006/main">
              <a:ext uri="{FF2B5EF4-FFF2-40B4-BE49-F238E27FC236}">
                <a16:creationId xmlns:a16="http://schemas.microsoft.com/office/drawing/2014/main" id="{BA5D4169-985C-4750-AF70-F8CC9D0A51D6}"/>
              </a:ext>
            </a:extLst>
          </p:cNvPr>
          <p:cNvSpPr>
            <a:spLocks xmlns:a="http://schemas.openxmlformats.org/drawingml/2006/main" noGrp="1"/>
          </p:cNvSpPr>
          <p:nvPr/>
        </p:nvSpPr>
        <p:spPr>
          <a:xfrm xmlns:a="http://schemas.openxmlformats.org/drawingml/2006/main">
            <a:off x="666750" y="3571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3   Select 500 distinct conformers, then inspect shifts, SAXS, helicity, size and contacts.</a:t>
            </a:r>
          </a:p>
        </p:txBody>
      </p:sp>
    </p:spTree>
    <p:extLst>
      <p:ext uri="{BB962C8B-B14F-4D97-AF65-F5344CB8AC3E}">
        <p14:creationId xmlns:p14="http://schemas.microsoft.com/office/powerpoint/2010/main" val="11692513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A51487-ADEA-4B01-8465-C662FA0A88B1}"/>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Ensemble averages and identifiability</a:t>
            </a:r>
          </a:p>
        </p:txBody>
      </p:sp>
      <p:sp>
        <p:nvSpPr>
          <p:cNvPr id="2" name="">
            <a:extLst xmlns:a="http://schemas.openxmlformats.org/drawingml/2006/main">
              <a:ext uri="{FF2B5EF4-FFF2-40B4-BE49-F238E27FC236}">
                <a16:creationId xmlns:a16="http://schemas.microsoft.com/office/drawing/2014/main" id="{842F33AD-BF64-4DFC-BEDD-93D3935B5126}"/>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AF5E6BD2-0015-4113-BA24-D27A87AAE8A1}"/>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5</a:t>
            </a:r>
          </a:p>
        </p:txBody>
      </p:sp>
      <p:sp>
        <p:nvSpPr>
          <p:cNvPr id="4" name="">
            <a:extLst xmlns:a="http://schemas.openxmlformats.org/drawingml/2006/main">
              <a:ext uri="{FF2B5EF4-FFF2-40B4-BE49-F238E27FC236}">
                <a16:creationId xmlns:a16="http://schemas.microsoft.com/office/drawing/2014/main" id="{6250161A-4BBF-4539-8063-A5541E177E4F}"/>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Schwalbe et al., Structure (2014)</a:t>
            </a:r>
          </a:p>
        </p:txBody>
      </p:sp>
      <p:sp>
        <p:nvSpPr>
          <p:cNvPr id="5" name="">
            <a:extLst xmlns:a="http://schemas.openxmlformats.org/drawingml/2006/main">
              <a:ext uri="{FF2B5EF4-FFF2-40B4-BE49-F238E27FC236}">
                <a16:creationId xmlns:a16="http://schemas.microsoft.com/office/drawing/2014/main" id="{297D34A2-A6CE-494B-B585-2874159A21DD}"/>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⟨Aⱼ⟩ = ∫ Aⱼ(x) p(x) dx  ≈  ∑ₖ wₖ Aⱼ(xₖ)</a:t>
            </a:r>
          </a:p>
        </p:txBody>
      </p:sp>
      <p:sp>
        <p:nvSpPr>
          <p:cNvPr id="6" name="">
            <a:extLst xmlns:a="http://schemas.openxmlformats.org/drawingml/2006/main">
              <a:ext uri="{FF2B5EF4-FFF2-40B4-BE49-F238E27FC236}">
                <a16:creationId xmlns:a16="http://schemas.microsoft.com/office/drawing/2014/main" id="{B2B99ECB-A69D-43DB-9E96-06F23FD61B9D}"/>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xₖ: conformer; Aⱼ: predicted observable; wₖ ≥ 0 and ∑ₖ wₖ = 1.</a:t>
            </a:r>
          </a:p>
        </p:txBody>
      </p:sp>
      <p:sp>
        <p:nvSpPr>
          <p:cNvPr id="7" name="">
            <a:extLst xmlns:a="http://schemas.openxmlformats.org/drawingml/2006/main">
              <a:ext uri="{FF2B5EF4-FFF2-40B4-BE49-F238E27FC236}">
                <a16:creationId xmlns:a16="http://schemas.microsoft.com/office/drawing/2014/main" id="{FD797C59-2964-43F2-9082-21D4119A463B}"/>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An observable constrains an average, usually not a unique structural distribution.</a:t>
            </a:r>
          </a:p>
        </p:txBody>
      </p:sp>
      <p:sp>
        <p:nvSpPr>
          <p:cNvPr id="8" name="">
            <a:extLst xmlns:a="http://schemas.openxmlformats.org/drawingml/2006/main">
              <a:ext uri="{FF2B5EF4-FFF2-40B4-BE49-F238E27FC236}">
                <a16:creationId xmlns:a16="http://schemas.microsoft.com/office/drawing/2014/main" id="{425EDBBE-7838-44BB-99C4-CCE220134B09}"/>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A finite pool limits reachable averages to its convex hull. Equal-weight subsets impose additional restrictions.</a:t>
            </a:r>
          </a:p>
        </p:txBody>
      </p:sp>
    </p:spTree>
    <p:extLst>
      <p:ext uri="{BB962C8B-B14F-4D97-AF65-F5344CB8AC3E}">
        <p14:creationId xmlns:p14="http://schemas.microsoft.com/office/powerpoint/2010/main" val="9292284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972FBB-D56C-4830-B8DF-2CD597B3B8FF}"/>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IDPConfGen proposal ensembles</a:t>
            </a:r>
          </a:p>
        </p:txBody>
      </p:sp>
      <p:sp>
        <p:nvSpPr>
          <p:cNvPr id="2" name="">
            <a:extLst xmlns:a="http://schemas.openxmlformats.org/drawingml/2006/main">
              <a:ext uri="{FF2B5EF4-FFF2-40B4-BE49-F238E27FC236}">
                <a16:creationId xmlns:a16="http://schemas.microsoft.com/office/drawing/2014/main" id="{F4E0B5E0-0681-4664-8B40-0F3D96724BED}"/>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CFAC827F-A10D-4E38-AB98-999333775662}"/>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6</a:t>
            </a:r>
          </a:p>
        </p:txBody>
      </p:sp>
      <p:sp>
        <p:nvSpPr>
          <p:cNvPr id="4" name="">
            <a:extLst xmlns:a="http://schemas.openxmlformats.org/drawingml/2006/main">
              <a:ext uri="{FF2B5EF4-FFF2-40B4-BE49-F238E27FC236}">
                <a16:creationId xmlns:a16="http://schemas.microsoft.com/office/drawing/2014/main" id="{58E01011-6291-436E-BF0F-D9F10FC4CB38}"/>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Teixeira et al., J. Phys. Chem. A (2022)  ·  Current analysis: code, selected members and numerical results</a:t>
            </a:r>
          </a:p>
        </p:txBody>
      </p:sp>
      <p:sp>
        <p:nvSpPr>
          <p:cNvPr id="5" name="">
            <a:extLst xmlns:a="http://schemas.openxmlformats.org/drawingml/2006/main">
              <a:ext uri="{FF2B5EF4-FFF2-40B4-BE49-F238E27FC236}">
                <a16:creationId xmlns:a16="http://schemas.microsoft.com/office/drawing/2014/main" id="{3AF5E63B-161E-4B6E-B4EE-84801443CEA2}"/>
              </a:ext>
            </a:extLst>
          </p:cNvPr>
          <p:cNvSpPr>
            <a:spLocks xmlns:a="http://schemas.openxmlformats.org/drawingml/2006/main" noGrp="1"/>
          </p:cNvSpPr>
          <p:nvPr/>
        </p:nvSpPr>
        <p:spPr>
          <a:xfrm xmlns:a="http://schemas.openxmlformats.org/drawingml/2006/main">
            <a:off x="666750" y="1571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Statistical backbone fragments generate diverse conformations for each exact sequence.</a:t>
            </a:r>
          </a:p>
        </p:txBody>
      </p:sp>
      <p:sp>
        <p:nvSpPr>
          <p:cNvPr id="6" name="">
            <a:extLst xmlns:a="http://schemas.openxmlformats.org/drawingml/2006/main">
              <a:ext uri="{FF2B5EF4-FFF2-40B4-BE49-F238E27FC236}">
                <a16:creationId xmlns:a16="http://schemas.microsoft.com/office/drawing/2014/main" id="{8600F095-5E0B-47AC-82DE-E19FA7B82383}"/>
              </a:ext>
            </a:extLst>
          </p:cNvPr>
          <p:cNvSpPr>
            <a:spLocks xmlns:a="http://schemas.openxmlformats.org/drawingml/2006/main" noGrp="1"/>
          </p:cNvSpPr>
          <p:nvPr/>
        </p:nvSpPr>
        <p:spPr>
          <a:xfrm xmlns:a="http://schemas.openxmlformats.org/drawingml/2006/main">
            <a:off x="666750" y="2571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Residue-specific δ2D populations guide the secondary-structure proposal probabilities.</a:t>
            </a:r>
          </a:p>
        </p:txBody>
      </p:sp>
      <p:sp>
        <p:nvSpPr>
          <p:cNvPr id="7" name="">
            <a:extLst xmlns:a="http://schemas.openxmlformats.org/drawingml/2006/main">
              <a:ext uri="{FF2B5EF4-FFF2-40B4-BE49-F238E27FC236}">
                <a16:creationId xmlns:a16="http://schemas.microsoft.com/office/drawing/2014/main" id="{4B523E9B-283F-4203-8295-ABD173B8366C}"/>
              </a:ext>
            </a:extLst>
          </p:cNvPr>
          <p:cNvSpPr>
            <a:spLocks xmlns:a="http://schemas.openxmlformats.org/drawingml/2006/main" noGrp="1"/>
          </p:cNvSpPr>
          <p:nvPr/>
        </p:nvSpPr>
        <p:spPr>
          <a:xfrm xmlns:a="http://schemas.openxmlformats.org/drawingml/2006/main">
            <a:off x="666750" y="3571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The output must be checked with DSSP and predicted shifts: proposal probabilities need not equal realized helix populations.</a:t>
            </a:r>
          </a:p>
        </p:txBody>
      </p:sp>
    </p:spTree>
    <p:extLst>
      <p:ext uri="{BB962C8B-B14F-4D97-AF65-F5344CB8AC3E}">
        <p14:creationId xmlns:p14="http://schemas.microsoft.com/office/powerpoint/2010/main" val="18311724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1CC23E2-18C7-4F71-9236-F919A1D3D307}"/>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δ2D populations and realized helicity</a:t>
            </a:r>
          </a:p>
        </p:txBody>
      </p:sp>
      <p:sp>
        <p:nvSpPr>
          <p:cNvPr id="2" name="">
            <a:extLst xmlns:a="http://schemas.openxmlformats.org/drawingml/2006/main">
              <a:ext uri="{FF2B5EF4-FFF2-40B4-BE49-F238E27FC236}">
                <a16:creationId xmlns:a16="http://schemas.microsoft.com/office/drawing/2014/main" id="{857DA9D7-766B-48D9-8919-499ED51AAC69}"/>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6930FC4F-42F7-4EB9-AE6E-BAE4F8D4B9FA}"/>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1684CED8-71F7-4459-BD2F-B3E87071BFC3}"/>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Camilloni et al., Biochemistry (2012)  ·  Schwalbe et al., Structure (2014)</a:t>
            </a:r>
          </a:p>
        </p:txBody>
      </p:sp>
      <p:sp>
        <p:nvSpPr>
          <p:cNvPr id="5" name="">
            <a:extLst xmlns:a="http://schemas.openxmlformats.org/drawingml/2006/main">
              <a:ext uri="{FF2B5EF4-FFF2-40B4-BE49-F238E27FC236}">
                <a16:creationId xmlns:a16="http://schemas.microsoft.com/office/drawing/2014/main" id="{CE73A367-FDE4-4998-AF96-E6BC3BC65F2C}"/>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hᵣ = (1/N) ∑ₖ 𝟙[DSSPₖ(r) = H]</a:t>
            </a:r>
          </a:p>
        </p:txBody>
      </p:sp>
      <p:sp>
        <p:nvSpPr>
          <p:cNvPr id="6" name="">
            <a:extLst xmlns:a="http://schemas.openxmlformats.org/drawingml/2006/main">
              <a:ext uri="{FF2B5EF4-FFF2-40B4-BE49-F238E27FC236}">
                <a16:creationId xmlns:a16="http://schemas.microsoft.com/office/drawing/2014/main" id="{ADB2DB82-CFF9-40E7-B582-537337697936}"/>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hᵣ: observed α-helix fraction at residue r; N: number of structures.</a:t>
            </a:r>
          </a:p>
        </p:txBody>
      </p:sp>
      <p:sp>
        <p:nvSpPr>
          <p:cNvPr id="7" name="">
            <a:extLst xmlns:a="http://schemas.openxmlformats.org/drawingml/2006/main">
              <a:ext uri="{FF2B5EF4-FFF2-40B4-BE49-F238E27FC236}">
                <a16:creationId xmlns:a16="http://schemas.microsoft.com/office/drawing/2014/main" id="{34F4716B-BBAA-4B55-BADD-8F4061726528}"/>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δ2D infers secondary-structure populations from chemical shifts; DSSP labels hydrogen-bond geometry in structures.</a:t>
            </a:r>
          </a:p>
        </p:txBody>
      </p:sp>
      <p:sp>
        <p:nvSpPr>
          <p:cNvPr id="8" name="">
            <a:extLst xmlns:a="http://schemas.openxmlformats.org/drawingml/2006/main">
              <a:ext uri="{FF2B5EF4-FFF2-40B4-BE49-F238E27FC236}">
                <a16:creationId xmlns:a16="http://schemas.microsoft.com/office/drawing/2014/main" id="{7477F287-1C7F-4B4A-837D-E7F26C27FE11}"/>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Agreement is a useful diagnostic, but these two definitions are not identical observables.</a:t>
            </a:r>
          </a:p>
        </p:txBody>
      </p:sp>
    </p:spTree>
    <p:extLst>
      <p:ext uri="{BB962C8B-B14F-4D97-AF65-F5344CB8AC3E}">
        <p14:creationId xmlns:p14="http://schemas.microsoft.com/office/powerpoint/2010/main" val="13108846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B4FD59-D0DA-4671-86BE-51635A12F073}"/>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Helix-length enrichment: current implementation</a:t>
            </a:r>
          </a:p>
        </p:txBody>
      </p:sp>
      <p:sp>
        <p:nvSpPr>
          <p:cNvPr id="2" name="">
            <a:extLst xmlns:a="http://schemas.openxmlformats.org/drawingml/2006/main">
              <a:ext uri="{FF2B5EF4-FFF2-40B4-BE49-F238E27FC236}">
                <a16:creationId xmlns:a16="http://schemas.microsoft.com/office/drawing/2014/main" id="{0A6B7D82-B041-4075-B91C-23BB35E5F28A}"/>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DAC066BB-09E9-4B96-9785-86A3A231526D}"/>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4D73A21D-F9C3-44E4-9FDF-B3CF39A6A290}"/>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graphicFrame>
        <p:nvGraphicFramePr>
          <p:cNvPr id="11" name=""/>
          <p:cNvGraphicFramePr/>
          <p:nvPr/>
        </p:nvGraphicFramePr>
        <p:xfrm>
          <a:off xmlns:a="http://schemas.openxmlformats.org/drawingml/2006/main" x="619125" y="1571625"/>
          <a:ext xmlns:a="http://schemas.openxmlformats.org/drawingml/2006/main" cx="10953750" cy="3095625"/>
        </p:xfrm>
        <a:graphic xmlns:a="http://schemas.openxmlformats.org/drawingml/2006/main">
          <a:graphicData uri="http://schemas.openxmlformats.org/drawingml/2006/table">
            <a:tbl>
              <a:tblPr/>
              <a:tblGrid>
                <a:gridCol w="3810000"/>
                <a:gridCol w="7143750"/>
              </a:tblGrid>
              <a:tr h="619125">
                <a:tc>
                  <a:txBody>
                    <a:bodyPr/>
                    <a:lstStyle/>
                    <a:p>
                      <a:r>
                        <a:rPr sz="1800" b="1">
                          <a:solidFill>
                            <a:srgbClr val="FFFFFF"/>
                          </a:solidFill>
                          <a:latin typeface="Helvetica Neue"/>
                          <a:ea typeface="Helvetica Neue"/>
                          <a:cs typeface="Helvetica Neue"/>
                        </a:rPr>
                        <a:t>Parameter</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Current setting</a:t>
                      </a:r>
                    </a:p>
                  </a:txBody>
                  <a:tcPr marL="91440" marR="91440" marT="45720" marB="45720">
                    <a:solidFill>
                      <a:srgbClr val="18394D"/>
                    </a:solidFill>
                  </a:tcPr>
                </a:tc>
              </a:tr>
              <a:tr h="619125">
                <a:tc>
                  <a:txBody>
                    <a:bodyPr/>
                    <a:lstStyle/>
                    <a:p>
                      <a:r>
                        <a:rPr sz="1800" b="0">
                          <a:solidFill>
                            <a:srgbClr val="18394D"/>
                          </a:solidFill>
                          <a:latin typeface="Helvetica Neue"/>
                          <a:ea typeface="Helvetica Neue"/>
                          <a:cs typeface="Helvetica Neue"/>
                        </a:rPr>
                        <a:t>Eligible centers</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δ2D helix population ≥ 0.10</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Imposed core lengths</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4, 6, 8, 10, 12 residues</a:t>
                      </a:r>
                    </a:p>
                  </a:txBody>
                  <a:tcPr marL="91440" marR="91440" marT="45720" marB="45720">
                    <a:solidFill>
                      <a:srgbClr val="FFFFFF"/>
                    </a:solidFill>
                  </a:tcPr>
                </a:tc>
              </a:tr>
              <a:tr h="619125">
                <a:tc>
                  <a:txBody>
                    <a:bodyPr/>
                    <a:lstStyle/>
                    <a:p>
                      <a:r>
                        <a:rPr sz="1800" b="0">
                          <a:solidFill>
                            <a:srgbClr val="18394D"/>
                          </a:solidFill>
                          <a:latin typeface="Helvetica Neue"/>
                          <a:ea typeface="Helvetica Neue"/>
                          <a:cs typeface="Helvetica Neue"/>
                        </a:rPr>
                        <a:t>Core torsions</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φ = −63° ± 5°; ψ = −42° ± 5°; ω = 180°</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Supplement size</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WT +110; AA +90 conformers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782E268-2A60-4613-9020-728FC14E35D6}"/>
              </a:ext>
            </a:extLst>
          </p:cNvPr>
          <p:cNvSpPr>
            <a:spLocks xmlns:a="http://schemas.openxmlformats.org/drawingml/2006/main" noGrp="1"/>
          </p:cNvSpPr>
          <p:nvPr/>
        </p:nvSpPr>
        <p:spPr>
          <a:xfrm xmlns:a="http://schemas.openxmlformats.org/drawingml/2006/main">
            <a:off x="666750" y="50006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94D"/>
                </a:solidFill>
                <a:latin typeface="Helvetica Neue"/>
                <a:ea typeface="Helvetica Neue"/>
                <a:cs typeface="Helvetica Neue"/>
              </a:defRPr>
            </a:pPr>
            <a:r>
              <a:rPr sz="1950" b="0">
                <a:solidFill>
                  <a:srgbClr val="18394D"/>
                </a:solidFill>
                <a:latin typeface="Helvetica Neue"/>
                <a:ea typeface="Helvetica Neue"/>
                <a:cs typeface="Helvetica Neue"/>
              </a:rPr>
              <a:t>These are geometric supplements; equal counts per window do not preserve the target profile.</a:t>
            </a:r>
          </a:p>
        </p:txBody>
      </p:sp>
    </p:spTree>
    <p:extLst>
      <p:ext uri="{BB962C8B-B14F-4D97-AF65-F5344CB8AC3E}">
        <p14:creationId xmlns:p14="http://schemas.microsoft.com/office/powerpoint/2010/main" val="2552016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0BB0915-ABB9-4100-8111-D9E610C02661}"/>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Helix centers are blurred into residue occupancy</a:t>
            </a:r>
          </a:p>
        </p:txBody>
      </p:sp>
      <p:sp>
        <p:nvSpPr>
          <p:cNvPr id="2" name="">
            <a:extLst xmlns:a="http://schemas.openxmlformats.org/drawingml/2006/main">
              <a:ext uri="{FF2B5EF4-FFF2-40B4-BE49-F238E27FC236}">
                <a16:creationId xmlns:a16="http://schemas.microsoft.com/office/drawing/2014/main" id="{D39F0837-6B4A-4973-9457-657CC8DE5DCE}"/>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A8D92B5D-AFC9-4583-9B07-4C959C4D1143}"/>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3C781CE8-3AD2-4E62-AF0B-F7EBBF830EE4}"/>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sp>
        <p:nvSpPr>
          <p:cNvPr id="5" name="">
            <a:extLst xmlns:a="http://schemas.openxmlformats.org/drawingml/2006/main">
              <a:ext uri="{FF2B5EF4-FFF2-40B4-BE49-F238E27FC236}">
                <a16:creationId xmlns:a16="http://schemas.microsoft.com/office/drawing/2014/main" id="{C9133332-7896-4FC9-AD22-345D9754BE05}"/>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hᵣ ≈ (1/N) ∑꜀,ₗ n꜀,ₗ 𝟙[r ∈ window(c,L)]</a:t>
            </a:r>
          </a:p>
        </p:txBody>
      </p:sp>
      <p:sp>
        <p:nvSpPr>
          <p:cNvPr id="6" name="">
            <a:extLst xmlns:a="http://schemas.openxmlformats.org/drawingml/2006/main">
              <a:ext uri="{FF2B5EF4-FFF2-40B4-BE49-F238E27FC236}">
                <a16:creationId xmlns:a16="http://schemas.microsoft.com/office/drawing/2014/main" id="{BF335224-CA79-47D4-9253-5B4FA87FB9BA}"/>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n꜀,ₗ: count of helices centered at c with length L; N: pool size.</a:t>
            </a:r>
          </a:p>
        </p:txBody>
      </p:sp>
      <p:sp>
        <p:nvSpPr>
          <p:cNvPr id="7" name="">
            <a:extLst xmlns:a="http://schemas.openxmlformats.org/drawingml/2006/main">
              <a:ext uri="{FF2B5EF4-FFF2-40B4-BE49-F238E27FC236}">
                <a16:creationId xmlns:a16="http://schemas.microsoft.com/office/drawing/2014/main" id="{268F68B7-4F55-4F14-B88C-1397B4BED524}"/>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Long helices contribute to neighboring residues. Sampling centers in proportion to δ2D alone broadens the profile.</a:t>
            </a:r>
          </a:p>
        </p:txBody>
      </p:sp>
      <p:sp>
        <p:nvSpPr>
          <p:cNvPr id="8" name="">
            <a:extLst xmlns:a="http://schemas.openxmlformats.org/drawingml/2006/main">
              <a:ext uri="{FF2B5EF4-FFF2-40B4-BE49-F238E27FC236}">
                <a16:creationId xmlns:a16="http://schemas.microsoft.com/office/drawing/2014/main" id="{4965BACA-EEE7-4FDD-B013-6C9C264E4029}"/>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Choose center/length counts using the full coverage matrix, then verify actual DSSP populations.</a:t>
            </a:r>
          </a:p>
        </p:txBody>
      </p:sp>
    </p:spTree>
    <p:extLst>
      <p:ext uri="{BB962C8B-B14F-4D97-AF65-F5344CB8AC3E}">
        <p14:creationId xmlns:p14="http://schemas.microsoft.com/office/powerpoint/2010/main" val="53679865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AEAEBF-0F88-47A3-BE74-87DBB3576E27}"/>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Post-hoc pool calibration against δ2D</a:t>
            </a:r>
          </a:p>
        </p:txBody>
      </p:sp>
      <p:sp>
        <p:nvSpPr>
          <p:cNvPr id="2" name="">
            <a:extLst xmlns:a="http://schemas.openxmlformats.org/drawingml/2006/main">
              <a:ext uri="{FF2B5EF4-FFF2-40B4-BE49-F238E27FC236}">
                <a16:creationId xmlns:a16="http://schemas.microsoft.com/office/drawing/2014/main" id="{4C2727B2-82C2-4F82-9543-529186D7DCD0}"/>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6CC90F8E-3171-41F9-8DC8-70BCF772A6A0}"/>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9863721B-28AF-4DE1-AF19-1514E16FE230}"/>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sp>
        <p:nvSpPr>
          <p:cNvPr id="5" name="">
            <a:extLst xmlns:a="http://schemas.openxmlformats.org/drawingml/2006/main">
              <a:ext uri="{FF2B5EF4-FFF2-40B4-BE49-F238E27FC236}">
                <a16:creationId xmlns:a16="http://schemas.microsoft.com/office/drawing/2014/main" id="{53434338-0B7A-40FE-9518-DC6D213D9537}"/>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min Σᵣ | N⁻¹ Σₖ zₖ Hₖᵣ − hᵣᴰ²ᴰ |</a:t>
            </a:r>
          </a:p>
        </p:txBody>
      </p:sp>
      <p:sp>
        <p:nvSpPr>
          <p:cNvPr id="6" name="">
            <a:extLst xmlns:a="http://schemas.openxmlformats.org/drawingml/2006/main">
              <a:ext uri="{FF2B5EF4-FFF2-40B4-BE49-F238E27FC236}">
                <a16:creationId xmlns:a16="http://schemas.microsoft.com/office/drawing/2014/main" id="{E01A7023-44F1-4CC8-9871-31D5ABE65284}"/>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zₖ ∈ {0,1}; ∑ₖ zₖ = N. Hₖᵣ is the measured DSSP-H indicator.</a:t>
            </a:r>
          </a:p>
        </p:txBody>
      </p:sp>
      <p:sp>
        <p:nvSpPr>
          <p:cNvPr id="7" name="">
            <a:extLst xmlns:a="http://schemas.openxmlformats.org/drawingml/2006/main">
              <a:ext uri="{FF2B5EF4-FFF2-40B4-BE49-F238E27FC236}">
                <a16:creationId xmlns:a16="http://schemas.microsoft.com/office/drawing/2014/main" id="{FA896F66-2BD0-408A-98EA-EE792D527CC5}"/>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Select structures to approximate a target residue profile while retaining equal weights.</a:t>
            </a:r>
          </a:p>
        </p:txBody>
      </p:sp>
      <p:sp>
        <p:nvSpPr>
          <p:cNvPr id="8" name="">
            <a:extLst xmlns:a="http://schemas.openxmlformats.org/drawingml/2006/main">
              <a:ext uri="{FF2B5EF4-FFF2-40B4-BE49-F238E27FC236}">
                <a16:creationId xmlns:a16="http://schemas.microsoft.com/office/drawing/2014/main" id="{B4124B45-EEDA-4CF8-9DCA-81CAE2550A66}"/>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A separate calibration pilot exists; it is not the input to the reported base/expanded CS–SAXS selections.</a:t>
            </a:r>
          </a:p>
        </p:txBody>
      </p:sp>
    </p:spTree>
    <p:extLst>
      <p:ext uri="{BB962C8B-B14F-4D97-AF65-F5344CB8AC3E}">
        <p14:creationId xmlns:p14="http://schemas.microsoft.com/office/powerpoint/2010/main" val="536525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3366110-C256-4F27-A79C-6731D90B4341}"/>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Secondary chemical shifts</a:t>
            </a:r>
          </a:p>
        </p:txBody>
      </p:sp>
      <p:sp>
        <p:nvSpPr>
          <p:cNvPr id="2" name="">
            <a:extLst xmlns:a="http://schemas.openxmlformats.org/drawingml/2006/main">
              <a:ext uri="{FF2B5EF4-FFF2-40B4-BE49-F238E27FC236}">
                <a16:creationId xmlns:a16="http://schemas.microsoft.com/office/drawing/2014/main" id="{D09F63D7-BE3E-4EB8-A689-A2D6B815F277}"/>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8C3BC7C1-4C83-4367-84F9-3E7A13AA64ED}"/>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6E266A1F-8919-4246-8796-B0D9A8E2973B}"/>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Shen &amp; Bax, J. Biomol. NMR (2010)  ·  Cavender et al., LiveCoMS (2025)</a:t>
            </a:r>
          </a:p>
        </p:txBody>
      </p:sp>
      <p:sp>
        <p:nvSpPr>
          <p:cNvPr id="5" name="">
            <a:extLst xmlns:a="http://schemas.openxmlformats.org/drawingml/2006/main">
              <a:ext uri="{FF2B5EF4-FFF2-40B4-BE49-F238E27FC236}">
                <a16:creationId xmlns:a16="http://schemas.microsoft.com/office/drawing/2014/main" id="{6B3748EC-7429-4300-A284-3F317CFF8505}"/>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Δδᵣ,ₐ = δᵣ,ₐ − δᵣ,ₐᴿᶜ</a:t>
            </a:r>
          </a:p>
        </p:txBody>
      </p:sp>
      <p:sp>
        <p:nvSpPr>
          <p:cNvPr id="6" name="">
            <a:extLst xmlns:a="http://schemas.openxmlformats.org/drawingml/2006/main">
              <a:ext uri="{FF2B5EF4-FFF2-40B4-BE49-F238E27FC236}">
                <a16:creationId xmlns:a16="http://schemas.microsoft.com/office/drawing/2014/main" id="{E50D06CC-5505-4171-AE3F-9DF6E4DAFAD2}"/>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r: residue; a: nucleus; δᴿᶜ: sequence-specific SPARTA+ random-coil reference.</a:t>
            </a:r>
          </a:p>
        </p:txBody>
      </p:sp>
      <p:sp>
        <p:nvSpPr>
          <p:cNvPr id="7" name="">
            <a:extLst xmlns:a="http://schemas.openxmlformats.org/drawingml/2006/main">
              <a:ext uri="{FF2B5EF4-FFF2-40B4-BE49-F238E27FC236}">
                <a16:creationId xmlns:a16="http://schemas.microsoft.com/office/drawing/2014/main" id="{FFD00EE0-62D0-4EA6-A57D-CB073E3675E2}"/>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Use the same baseline for experiment and calculation within each construct.</a:t>
            </a:r>
          </a:p>
        </p:txBody>
      </p:sp>
      <p:sp>
        <p:nvSpPr>
          <p:cNvPr id="8" name="">
            <a:extLst xmlns:a="http://schemas.openxmlformats.org/drawingml/2006/main">
              <a:ext uri="{FF2B5EF4-FFF2-40B4-BE49-F238E27FC236}">
                <a16:creationId xmlns:a16="http://schemas.microsoft.com/office/drawing/2014/main" id="{3BC9BF3D-5EFE-4E18-B984-818B9BD95F64}"/>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Δδ(exp) − Δδ(calc) = δ(exp) − δ(calc): subtraction clarifies plots without changing residuals.</a:t>
            </a:r>
          </a:p>
        </p:txBody>
      </p:sp>
    </p:spTree>
    <p:extLst>
      <p:ext uri="{BB962C8B-B14F-4D97-AF65-F5344CB8AC3E}">
        <p14:creationId xmlns:p14="http://schemas.microsoft.com/office/powerpoint/2010/main" val="126943505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17E4C5-47ED-4F8B-B17A-E8B712BA7074}"/>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Prediction error for an ensemble average</a:t>
            </a:r>
          </a:p>
        </p:txBody>
      </p:sp>
      <p:sp>
        <p:nvSpPr>
          <p:cNvPr id="2" name="">
            <a:extLst xmlns:a="http://schemas.openxmlformats.org/drawingml/2006/main">
              <a:ext uri="{FF2B5EF4-FFF2-40B4-BE49-F238E27FC236}">
                <a16:creationId xmlns:a16="http://schemas.microsoft.com/office/drawing/2014/main" id="{6BEF0CA7-6519-48F8-B1DC-0CC6A791F9DE}"/>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3F5E4901-9E11-4046-ACBB-450E4188B0E7}"/>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1BF4841D-26A0-4539-9085-7EEA1E860E12}"/>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Cavender et al., LiveCoMS (2025)  ·  Shen &amp; Bax, J. Biomol. NMR (2010)</a:t>
            </a:r>
          </a:p>
        </p:txBody>
      </p:sp>
      <p:sp>
        <p:nvSpPr>
          <p:cNvPr id="5" name="">
            <a:extLst xmlns:a="http://schemas.openxmlformats.org/drawingml/2006/main">
              <a:ext uri="{FF2B5EF4-FFF2-40B4-BE49-F238E27FC236}">
                <a16:creationId xmlns:a16="http://schemas.microsoft.com/office/drawing/2014/main" id="{06AEA9FE-35D6-4237-A83B-1888CC38B5BC}"/>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Var(ε̄) = N⁻² ∑ₖ ∑ₗ Cov(εₖ, εₗ)</a:t>
            </a:r>
          </a:p>
        </p:txBody>
      </p:sp>
      <p:sp>
        <p:nvSpPr>
          <p:cNvPr id="6" name="">
            <a:extLst xmlns:a="http://schemas.openxmlformats.org/drawingml/2006/main">
              <a:ext uri="{FF2B5EF4-FFF2-40B4-BE49-F238E27FC236}">
                <a16:creationId xmlns:a16="http://schemas.microsoft.com/office/drawing/2014/main" id="{992FBB7D-9D70-498D-BE15-83DBC2DB53AE}"/>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εₖ: prediction error for conformer k. Independent errors average down; shared systematic errors remain.</a:t>
            </a:r>
          </a:p>
        </p:txBody>
      </p:sp>
      <p:sp>
        <p:nvSpPr>
          <p:cNvPr id="7" name="">
            <a:extLst xmlns:a="http://schemas.openxmlformats.org/drawingml/2006/main">
              <a:ext uri="{FF2B5EF4-FFF2-40B4-BE49-F238E27FC236}">
                <a16:creationId xmlns:a16="http://schemas.microsoft.com/office/drawing/2014/main" id="{72246743-7523-4834-A088-A20F1A92A94F}"/>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Predictor RMSE on folded structures is not automatically the uncertainty of an IDP ensemble mean.</a:t>
            </a:r>
          </a:p>
        </p:txBody>
      </p:sp>
      <p:sp>
        <p:nvSpPr>
          <p:cNvPr id="8" name="">
            <a:extLst xmlns:a="http://schemas.openxmlformats.org/drawingml/2006/main">
              <a:ext uri="{FF2B5EF4-FFF2-40B4-BE49-F238E27FC236}">
                <a16:creationId xmlns:a16="http://schemas.microsoft.com/office/drawing/2014/main" id="{C541DB80-5956-4FEA-8C28-F588B37B3FBB}"/>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Inspect coherent residue-wise errors and multiple nuclei; use secondary shifts to remove distracting chemical-identity baselines.</a:t>
            </a:r>
          </a:p>
        </p:txBody>
      </p:sp>
    </p:spTree>
    <p:extLst>
      <p:ext uri="{BB962C8B-B14F-4D97-AF65-F5344CB8AC3E}">
        <p14:creationId xmlns:p14="http://schemas.microsoft.com/office/powerpoint/2010/main" val="361133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0AE7850-E38C-46E6-BA30-F4FD7A7957DB}"/>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SAXS measures pair-distance information</a:t>
            </a:r>
          </a:p>
        </p:txBody>
      </p:sp>
      <p:sp>
        <p:nvSpPr>
          <p:cNvPr id="2" name="">
            <a:extLst xmlns:a="http://schemas.openxmlformats.org/drawingml/2006/main">
              <a:ext uri="{FF2B5EF4-FFF2-40B4-BE49-F238E27FC236}">
                <a16:creationId xmlns:a16="http://schemas.microsoft.com/office/drawing/2014/main" id="{38A29004-9DEC-424E-81FF-70163F9876E1}"/>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4771564F-8D6C-41C2-AA52-7C735572FDE2}"/>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215E7690-4B54-4582-9F20-5377A841C1B3}"/>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Svergun et al., J. Appl. Crystallogr. (1995)</a:t>
            </a:r>
          </a:p>
        </p:txBody>
      </p:sp>
      <p:sp>
        <p:nvSpPr>
          <p:cNvPr id="5" name="">
            <a:extLst xmlns:a="http://schemas.openxmlformats.org/drawingml/2006/main">
              <a:ext uri="{FF2B5EF4-FFF2-40B4-BE49-F238E27FC236}">
                <a16:creationId xmlns:a16="http://schemas.microsoft.com/office/drawing/2014/main" id="{E079E368-99BC-4DD2-B100-99DCFEFF2FD8}"/>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I(q) = ∑ᵢ ∑ⱼ fᵢ(q) fⱼ(q) sin(qrᵢⱼ)/(qrᵢⱼ)</a:t>
            </a:r>
          </a:p>
        </p:txBody>
      </p:sp>
      <p:sp>
        <p:nvSpPr>
          <p:cNvPr id="6" name="">
            <a:extLst xmlns:a="http://schemas.openxmlformats.org/drawingml/2006/main">
              <a:ext uri="{FF2B5EF4-FFF2-40B4-BE49-F238E27FC236}">
                <a16:creationId xmlns:a16="http://schemas.microsoft.com/office/drawing/2014/main" id="{DCA663B5-82F2-45B7-A99D-53052561D84D}"/>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q: scattering-vector magnitude; rᵢⱼ: atom separation; fᵢ: atomic scattering factor.</a:t>
            </a:r>
          </a:p>
        </p:txBody>
      </p:sp>
      <p:sp>
        <p:nvSpPr>
          <p:cNvPr id="7" name="">
            <a:extLst xmlns:a="http://schemas.openxmlformats.org/drawingml/2006/main">
              <a:ext uri="{FF2B5EF4-FFF2-40B4-BE49-F238E27FC236}">
                <a16:creationId xmlns:a16="http://schemas.microsoft.com/office/drawing/2014/main" id="{4F0B0E0F-FFA2-4B6B-8AB6-4D90CA0357ED}"/>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The Debye expression explains structural sensitivity; CRYSOL also treats solvent exclusion and hydration contrast.</a:t>
            </a:r>
          </a:p>
        </p:txBody>
      </p:sp>
      <p:sp>
        <p:nvSpPr>
          <p:cNvPr id="8" name="">
            <a:extLst xmlns:a="http://schemas.openxmlformats.org/drawingml/2006/main">
              <a:ext uri="{FF2B5EF4-FFF2-40B4-BE49-F238E27FC236}">
                <a16:creationId xmlns:a16="http://schemas.microsoft.com/office/drawing/2014/main" id="{8BA08B4B-E8DB-432F-96E8-296685D2B257}"/>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For an ensemble: Ī(q) = N⁻¹ ∑ₖ Iₖ(q). Average intensities before fitting the scale.</a:t>
            </a:r>
          </a:p>
        </p:txBody>
      </p:sp>
    </p:spTree>
    <p:extLst>
      <p:ext uri="{BB962C8B-B14F-4D97-AF65-F5344CB8AC3E}">
        <p14:creationId xmlns:p14="http://schemas.microsoft.com/office/powerpoint/2010/main" val="86295346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CFF640B-C499-4549-8B9D-81872522812C}"/>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CRYSOL back-calculation</a:t>
            </a:r>
          </a:p>
        </p:txBody>
      </p:sp>
      <p:sp>
        <p:nvSpPr>
          <p:cNvPr id="2" name="">
            <a:extLst xmlns:a="http://schemas.openxmlformats.org/drawingml/2006/main">
              <a:ext uri="{FF2B5EF4-FFF2-40B4-BE49-F238E27FC236}">
                <a16:creationId xmlns:a16="http://schemas.microsoft.com/office/drawing/2014/main" id="{311446DB-836A-4BBC-A465-8303F899D272}"/>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A4D57ADF-42E1-472C-AFA8-47F94EA55301}"/>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FA59DD5F-AFFB-4C9F-A6C1-0D0BFC894459}"/>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Svergun et al., J. Appl. Crystallogr. (1995)  ·  Current analysis: code, selected members and numerical results</a:t>
            </a:r>
          </a:p>
        </p:txBody>
      </p:sp>
      <p:graphicFrame>
        <p:nvGraphicFramePr>
          <p:cNvPr id="11" name=""/>
          <p:cNvGraphicFramePr/>
          <p:nvPr/>
        </p:nvGraphicFramePr>
        <p:xfrm>
          <a:off xmlns:a="http://schemas.openxmlformats.org/drawingml/2006/main" x="619125" y="1571625"/>
          <a:ext xmlns:a="http://schemas.openxmlformats.org/drawingml/2006/main" cx="10953750" cy="3095625"/>
        </p:xfrm>
        <a:graphic xmlns:a="http://schemas.openxmlformats.org/drawingml/2006/main">
          <a:graphicData uri="http://schemas.openxmlformats.org/drawingml/2006/table">
            <a:tbl>
              <a:tblPr/>
              <a:tblGrid>
                <a:gridCol w="5334000"/>
                <a:gridCol w="5619750"/>
              </a:tblGrid>
              <a:tr h="619125">
                <a:tc>
                  <a:txBody>
                    <a:bodyPr/>
                    <a:lstStyle/>
                    <a:p>
                      <a:r>
                        <a:rPr sz="1800" b="1">
                          <a:solidFill>
                            <a:srgbClr val="FFFFFF"/>
                          </a:solidFill>
                          <a:latin typeface="Helvetica Neue"/>
                          <a:ea typeface="Helvetica Neue"/>
                          <a:cs typeface="Helvetica Neue"/>
                        </a:rPr>
                        <a:t>Setting</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Value</a:t>
                      </a:r>
                    </a:p>
                  </a:txBody>
                  <a:tcPr marL="91440" marR="91440" marT="45720" marB="45720">
                    <a:solidFill>
                      <a:srgbClr val="18394D"/>
                    </a:solidFill>
                  </a:tcPr>
                </a:tc>
              </a:tr>
              <a:tr h="619125">
                <a:tc>
                  <a:txBody>
                    <a:bodyPr/>
                    <a:lstStyle/>
                    <a:p>
                      <a:r>
                        <a:rPr sz="1800" b="0">
                          <a:solidFill>
                            <a:srgbClr val="18394D"/>
                          </a:solidFill>
                          <a:latin typeface="Helvetica Neue"/>
                          <a:ea typeface="Helvetica Neue"/>
                          <a:cs typeface="Helvetica Neue"/>
                        </a:rPr>
                        <a:t>Angular / Fibonacci orders</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lm = 20; fb = 17</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q grid</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501 points; qmax = 0.5 Å⁻¹</a:t>
                      </a:r>
                    </a:p>
                  </a:txBody>
                  <a:tcPr marL="91440" marR="91440" marT="45720" marB="45720">
                    <a:solidFill>
                      <a:srgbClr val="FFFFFF"/>
                    </a:solidFill>
                  </a:tcPr>
                </a:tc>
              </a:tr>
              <a:tr h="619125">
                <a:tc>
                  <a:txBody>
                    <a:bodyPr/>
                    <a:lstStyle/>
                    <a:p>
                      <a:r>
                        <a:rPr sz="1800" b="0">
                          <a:solidFill>
                            <a:srgbClr val="18394D"/>
                          </a:solidFill>
                          <a:latin typeface="Helvetica Neue"/>
                          <a:ea typeface="Helvetica Neue"/>
                          <a:cs typeface="Helvetica Neue"/>
                        </a:rPr>
                        <a:t>Solvent / hydration density contrast</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0.334 / 0.03 e Å⁻³</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Fit nuisance parameters</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One nonnegative scale; background fixed to zero</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3CF11B9-EDD9-4C63-A310-D122F245C513}"/>
              </a:ext>
            </a:extLst>
          </p:cNvPr>
          <p:cNvSpPr>
            <a:spLocks xmlns:a="http://schemas.openxmlformats.org/drawingml/2006/main" noGrp="1"/>
          </p:cNvSpPr>
          <p:nvPr/>
        </p:nvSpPr>
        <p:spPr>
          <a:xfrm xmlns:a="http://schemas.openxmlformats.org/drawingml/2006/main">
            <a:off x="666750" y="5000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94D"/>
                </a:solidFill>
                <a:latin typeface="Helvetica Neue"/>
                <a:ea typeface="Helvetica Neue"/>
                <a:cs typeface="Helvetica Neue"/>
              </a:defRPr>
            </a:pPr>
            <a:r>
              <a:rPr sz="2025" b="0">
                <a:solidFill>
                  <a:srgbClr val="18394D"/>
                </a:solidFill>
                <a:latin typeface="Helvetica Neue"/>
                <a:ea typeface="Helvetica Neue"/>
                <a:cs typeface="Helvetica Neue"/>
              </a:rPr>
              <a:t>Per-conformer hydration optimization is disabled.</a:t>
            </a:r>
          </a:p>
        </p:txBody>
      </p:sp>
    </p:spTree>
    <p:extLst>
      <p:ext uri="{BB962C8B-B14F-4D97-AF65-F5344CB8AC3E}">
        <p14:creationId xmlns:p14="http://schemas.microsoft.com/office/powerpoint/2010/main" val="1968124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3DBB4F-46A8-4753-90C2-7CB862A33BAC}"/>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Joint CS–SAXS selection objective</a:t>
            </a:r>
          </a:p>
        </p:txBody>
      </p:sp>
      <p:sp>
        <p:nvSpPr>
          <p:cNvPr id="2" name="">
            <a:extLst xmlns:a="http://schemas.openxmlformats.org/drawingml/2006/main">
              <a:ext uri="{FF2B5EF4-FFF2-40B4-BE49-F238E27FC236}">
                <a16:creationId xmlns:a16="http://schemas.microsoft.com/office/drawing/2014/main" id="{C329C925-2C48-4C20-9BDC-C272D1C22460}"/>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20FD92D6-5F38-4836-8422-BE81DA6EAEC8}"/>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513FE46F-62B4-4ADE-A3C0-7CF7A813B14F}"/>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  ·  Schwalbe et al., Structure (2014)</a:t>
            </a:r>
          </a:p>
        </p:txBody>
      </p:sp>
      <p:sp>
        <p:nvSpPr>
          <p:cNvPr id="5" name="">
            <a:extLst xmlns:a="http://schemas.openxmlformats.org/drawingml/2006/main">
              <a:ext uri="{FF2B5EF4-FFF2-40B4-BE49-F238E27FC236}">
                <a16:creationId xmlns:a16="http://schemas.microsoft.com/office/drawing/2014/main" id="{28793B3B-EB18-4DEF-9CD2-C3263B563151}"/>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J(S) = Σⱼ [(δ̄ⱼ(S) − δⱼᵉˣᵖ)/sₐ₍ⱼ₎]²</a:t>
            </a:r>
          </a:p>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           + Σₘ [(a Īₘ(S) − Iₘᵉˣᵖ)/σₘ]²</a:t>
            </a:r>
          </a:p>
        </p:txBody>
      </p:sp>
      <p:sp>
        <p:nvSpPr>
          <p:cNvPr id="6" name="">
            <a:extLst xmlns:a="http://schemas.openxmlformats.org/drawingml/2006/main">
              <a:ext uri="{FF2B5EF4-FFF2-40B4-BE49-F238E27FC236}">
                <a16:creationId xmlns:a16="http://schemas.microsoft.com/office/drawing/2014/main" id="{6EEE8B9F-0660-4C4A-89C4-862F6C99C329}"/>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S: 500-member subset; j: available shift; m: SAXS point.</a:t>
            </a:r>
          </a:p>
        </p:txBody>
      </p:sp>
      <p:sp>
        <p:nvSpPr>
          <p:cNvPr id="7" name="">
            <a:extLst xmlns:a="http://schemas.openxmlformats.org/drawingml/2006/main">
              <a:ext uri="{FF2B5EF4-FFF2-40B4-BE49-F238E27FC236}">
                <a16:creationId xmlns:a16="http://schemas.microsoft.com/office/drawing/2014/main" id="{8CAC9210-9F33-452E-A693-DC363A468FE3}"/>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sₐ: chosen shift scale for nucleus type a; σₘ: experimental SAXS error.</a:t>
            </a:r>
          </a:p>
        </p:txBody>
      </p:sp>
      <p:sp>
        <p:nvSpPr>
          <p:cNvPr id="8" name="">
            <a:extLst xmlns:a="http://schemas.openxmlformats.org/drawingml/2006/main">
              <a:ext uri="{FF2B5EF4-FFF2-40B4-BE49-F238E27FC236}">
                <a16:creationId xmlns:a16="http://schemas.microsoft.com/office/drawing/2014/main" id="{C9722652-6195-416D-99A0-030E04526AAC}"/>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The current objective sums residuals directly; it does not normalize each data type by its number of points.</a:t>
            </a:r>
          </a:p>
        </p:txBody>
      </p:sp>
    </p:spTree>
    <p:extLst>
      <p:ext uri="{BB962C8B-B14F-4D97-AF65-F5344CB8AC3E}">
        <p14:creationId xmlns:p14="http://schemas.microsoft.com/office/powerpoint/2010/main" val="16327016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D53D4F-AAC7-4F0A-922F-75B9266D5B37}"/>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Analytical SAXS scale factor</a:t>
            </a:r>
          </a:p>
        </p:txBody>
      </p:sp>
      <p:sp>
        <p:nvSpPr>
          <p:cNvPr id="2" name="">
            <a:extLst xmlns:a="http://schemas.openxmlformats.org/drawingml/2006/main">
              <a:ext uri="{FF2B5EF4-FFF2-40B4-BE49-F238E27FC236}">
                <a16:creationId xmlns:a16="http://schemas.microsoft.com/office/drawing/2014/main" id="{154A3F24-A8FA-4F79-B4BB-E02FBB9715FF}"/>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AE2B4718-62DA-4C97-B504-C7F3F0BD13DE}"/>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519091C5-5274-4B1F-9368-487A2F0DF3B9}"/>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sp>
        <p:nvSpPr>
          <p:cNvPr id="5" name="">
            <a:extLst xmlns:a="http://schemas.openxmlformats.org/drawingml/2006/main">
              <a:ext uri="{FF2B5EF4-FFF2-40B4-BE49-F238E27FC236}">
                <a16:creationId xmlns:a16="http://schemas.microsoft.com/office/drawing/2014/main" id="{F307BF6B-8E58-4C15-913E-7FECF76E516B}"/>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a* = max[0, (Σₘ Īₘ Iₘᵉˣᵖ/σₘ²) / (Σₘ Īₘ²/σₘ²)]</a:t>
            </a:r>
          </a:p>
        </p:txBody>
      </p:sp>
      <p:sp>
        <p:nvSpPr>
          <p:cNvPr id="6" name="">
            <a:extLst xmlns:a="http://schemas.openxmlformats.org/drawingml/2006/main">
              <a:ext uri="{FF2B5EF4-FFF2-40B4-BE49-F238E27FC236}">
                <a16:creationId xmlns:a16="http://schemas.microsoft.com/office/drawing/2014/main" id="{018377FD-DD83-493E-A849-108974736663}"/>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The scale minimizes the weighted squared SAXS residual for a fixed subset.</a:t>
            </a:r>
          </a:p>
        </p:txBody>
      </p:sp>
      <p:sp>
        <p:nvSpPr>
          <p:cNvPr id="7" name="">
            <a:extLst xmlns:a="http://schemas.openxmlformats.org/drawingml/2006/main">
              <a:ext uri="{FF2B5EF4-FFF2-40B4-BE49-F238E27FC236}">
                <a16:creationId xmlns:a16="http://schemas.microsoft.com/office/drawing/2014/main" id="{C4081095-1BE1-4DA7-832E-CB9AEBF8A6E0}"/>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Īₘ: ensemble-mean calculated intensity; Iₘᵉˣᵖ: experiment; σₘ: experimental uncertainty.</a:t>
            </a:r>
          </a:p>
        </p:txBody>
      </p:sp>
      <p:sp>
        <p:nvSpPr>
          <p:cNvPr id="8" name="">
            <a:extLst xmlns:a="http://schemas.openxmlformats.org/drawingml/2006/main">
              <a:ext uri="{FF2B5EF4-FFF2-40B4-BE49-F238E27FC236}">
                <a16:creationId xmlns:a16="http://schemas.microsoft.com/office/drawing/2014/main" id="{70F88F32-84AA-4AFD-B0AC-BE80DF630FE1}"/>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Reported χ²/point = (1/M) Σₘ [(a*Īₘ − Iₘᵉˣᵖ)/σₘ]². It is not a degrees-of-freedom-corrected reduced χ².</a:t>
            </a:r>
          </a:p>
        </p:txBody>
      </p:sp>
    </p:spTree>
    <p:extLst>
      <p:ext uri="{BB962C8B-B14F-4D97-AF65-F5344CB8AC3E}">
        <p14:creationId xmlns:p14="http://schemas.microsoft.com/office/powerpoint/2010/main" val="115738831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2A04C2-F5A2-4CB9-8C29-9DB1B0DD7578}"/>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Relative weights in the current fit</a:t>
            </a:r>
          </a:p>
        </p:txBody>
      </p:sp>
      <p:sp>
        <p:nvSpPr>
          <p:cNvPr id="2" name="">
            <a:extLst xmlns:a="http://schemas.openxmlformats.org/drawingml/2006/main">
              <a:ext uri="{FF2B5EF4-FFF2-40B4-BE49-F238E27FC236}">
                <a16:creationId xmlns:a16="http://schemas.microsoft.com/office/drawing/2014/main" id="{6DCE8D20-79D4-4160-9E08-DC7337E64E68}"/>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A38AE0B5-AEF3-4508-87FB-DC904CB81C0A}"/>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4A084B80-4819-4F9D-BFE4-D6BE1372A8D1}"/>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  ·  Cavender et al., LiveCoMS (2025)</a:t>
            </a:r>
          </a:p>
        </p:txBody>
      </p:sp>
      <p:graphicFrame>
        <p:nvGraphicFramePr>
          <p:cNvPr id="11" name=""/>
          <p:cNvGraphicFramePr/>
          <p:nvPr/>
        </p:nvGraphicFramePr>
        <p:xfrm>
          <a:off xmlns:a="http://schemas.openxmlformats.org/drawingml/2006/main" x="619125" y="1571625"/>
          <a:ext xmlns:a="http://schemas.openxmlformats.org/drawingml/2006/main" cx="10953750" cy="3095625"/>
        </p:xfrm>
        <a:graphic xmlns:a="http://schemas.openxmlformats.org/drawingml/2006/main">
          <a:graphicData uri="http://schemas.openxmlformats.org/drawingml/2006/table">
            <a:tbl>
              <a:tblPr/>
              <a:tblGrid>
                <a:gridCol w="3333750"/>
                <a:gridCol w="2476500"/>
                <a:gridCol w="5143500"/>
              </a:tblGrid>
              <a:tr h="619125">
                <a:tc>
                  <a:txBody>
                    <a:bodyPr/>
                    <a:lstStyle/>
                    <a:p>
                      <a:r>
                        <a:rPr sz="1800" b="1">
                          <a:solidFill>
                            <a:srgbClr val="FFFFFF"/>
                          </a:solidFill>
                          <a:latin typeface="Helvetica Neue"/>
                          <a:ea typeface="Helvetica Neue"/>
                          <a:cs typeface="Helvetica Neue"/>
                        </a:rPr>
                        <a:t>Data type</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Scale</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Role</a:t>
                      </a:r>
                    </a:p>
                  </a:txBody>
                  <a:tcPr marL="91440" marR="91440" marT="45720" marB="45720">
                    <a:solidFill>
                      <a:srgbClr val="18394D"/>
                    </a:solidFill>
                  </a:tcPr>
                </a:tc>
              </a:tr>
              <a:tr h="619125">
                <a:tc>
                  <a:txBody>
                    <a:bodyPr/>
                    <a:lstStyle/>
                    <a:p>
                      <a:r>
                        <a:rPr sz="1800" b="0">
                          <a:solidFill>
                            <a:srgbClr val="18394D"/>
                          </a:solidFill>
                          <a:latin typeface="Helvetica Neue"/>
                          <a:ea typeface="Helvetica Neue"/>
                          <a:cs typeface="Helvetica Neue"/>
                        </a:rPr>
                        <a:t>Cα, C′, Cβ</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0.10 ppm</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Strong carbon-shift constraint</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N</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0.50 ppm</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Nitrogen-shift constraint</a:t>
                      </a:r>
                    </a:p>
                  </a:txBody>
                  <a:tcPr marL="91440" marR="91440" marT="45720" marB="45720">
                    <a:solidFill>
                      <a:srgbClr val="FFFFFF"/>
                    </a:solidFill>
                  </a:tcPr>
                </a:tc>
              </a:tr>
              <a:tr h="619125">
                <a:tc>
                  <a:txBody>
                    <a:bodyPr/>
                    <a:lstStyle/>
                    <a:p>
                      <a:r>
                        <a:rPr sz="1800" b="0">
                          <a:solidFill>
                            <a:srgbClr val="18394D"/>
                          </a:solidFill>
                          <a:latin typeface="Helvetica Neue"/>
                          <a:ea typeface="Helvetica Neue"/>
                          <a:cs typeface="Helvetica Neue"/>
                        </a:rPr>
                        <a:t>HN, Hα</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0.20 ppm</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Proton constraint when available</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SAXS</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Measured σ(q)</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Point-wise scattering residual</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44968C8-6836-40DD-9DFC-C8253ADF9B97}"/>
              </a:ext>
            </a:extLst>
          </p:cNvPr>
          <p:cNvSpPr>
            <a:spLocks xmlns:a="http://schemas.openxmlformats.org/drawingml/2006/main" noGrp="1"/>
          </p:cNvSpPr>
          <p:nvPr/>
        </p:nvSpPr>
        <p:spPr>
          <a:xfrm xmlns:a="http://schemas.openxmlformats.org/drawingml/2006/main">
            <a:off x="666750" y="500062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Contribution ∝ number of observations × (RMSD / scale)².</a:t>
            </a:r>
          </a:p>
        </p:txBody>
      </p:sp>
    </p:spTree>
    <p:extLst>
      <p:ext uri="{BB962C8B-B14F-4D97-AF65-F5344CB8AC3E}">
        <p14:creationId xmlns:p14="http://schemas.microsoft.com/office/powerpoint/2010/main" val="9874069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6231C7A-45F8-4921-930E-69DE568454D7}"/>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Equal-weight genetic selection</a:t>
            </a:r>
          </a:p>
        </p:txBody>
      </p:sp>
      <p:sp>
        <p:nvSpPr>
          <p:cNvPr id="2" name="">
            <a:extLst xmlns:a="http://schemas.openxmlformats.org/drawingml/2006/main">
              <a:ext uri="{FF2B5EF4-FFF2-40B4-BE49-F238E27FC236}">
                <a16:creationId xmlns:a16="http://schemas.microsoft.com/office/drawing/2014/main" id="{1195E479-5C36-42DC-BD50-91EB7681D2F5}"/>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0128AA1A-11E2-482A-AD59-3A96C54A16AB}"/>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4FB78179-0827-4644-B3DA-8147D3F0D221}"/>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Ozenne et al., JACS (2012)  ·  Schwalbe et al., Structure (2014)  ·  Current analysis: code, selected members and numerical results</a:t>
            </a:r>
          </a:p>
        </p:txBody>
      </p:sp>
      <p:sp>
        <p:nvSpPr>
          <p:cNvPr id="5" name="">
            <a:extLst xmlns:a="http://schemas.openxmlformats.org/drawingml/2006/main">
              <a:ext uri="{FF2B5EF4-FFF2-40B4-BE49-F238E27FC236}">
                <a16:creationId xmlns:a16="http://schemas.microsoft.com/office/drawing/2014/main" id="{BD8CD5BD-D8BF-448C-AD11-FE8E69162DA9}"/>
              </a:ext>
            </a:extLst>
          </p:cNvPr>
          <p:cNvSpPr>
            <a:spLocks xmlns:a="http://schemas.openxmlformats.org/drawingml/2006/main" noGrp="1"/>
          </p:cNvSpPr>
          <p:nvPr/>
        </p:nvSpPr>
        <p:spPr>
          <a:xfrm xmlns:a="http://schemas.openxmlformats.org/drawingml/2006/main">
            <a:off x="762000" y="14763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wₖ = 1/500 for k ∈ S;   wₖ = 0 otherwise</a:t>
            </a:r>
          </a:p>
        </p:txBody>
      </p:sp>
      <p:sp>
        <p:nvSpPr>
          <p:cNvPr id="6" name="">
            <a:extLst xmlns:a="http://schemas.openxmlformats.org/drawingml/2006/main">
              <a:ext uri="{FF2B5EF4-FFF2-40B4-BE49-F238E27FC236}">
                <a16:creationId xmlns:a16="http://schemas.microsoft.com/office/drawing/2014/main" id="{FCCC9E64-3F8B-4BC0-8645-AACDD924634E}"/>
              </a:ext>
            </a:extLst>
          </p:cNvPr>
          <p:cNvSpPr>
            <a:spLocks xmlns:a="http://schemas.openxmlformats.org/drawingml/2006/main" noGrp="1"/>
          </p:cNvSpPr>
          <p:nvPr/>
        </p:nvSpPr>
        <p:spPr>
          <a:xfrm xmlns:a="http://schemas.openxmlformats.org/drawingml/2006/main">
            <a:off x="666750" y="27622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Each candidate contains 500 distinct conformers. Selection changes membership, not individual weights.</a:t>
            </a:r>
          </a:p>
        </p:txBody>
      </p:sp>
      <p:sp>
        <p:nvSpPr>
          <p:cNvPr id="7" name="">
            <a:extLst xmlns:a="http://schemas.openxmlformats.org/drawingml/2006/main">
              <a:ext uri="{FF2B5EF4-FFF2-40B4-BE49-F238E27FC236}">
                <a16:creationId xmlns:a16="http://schemas.microsoft.com/office/drawing/2014/main" id="{287ABF84-8DC7-4F3D-B04D-F0E7B1D60007}"/>
              </a:ext>
            </a:extLst>
          </p:cNvPr>
          <p:cNvSpPr>
            <a:spLocks xmlns:a="http://schemas.openxmlformats.org/drawingml/2006/main" noGrp="1"/>
          </p:cNvSpPr>
          <p:nvPr/>
        </p:nvSpPr>
        <p:spPr>
          <a:xfrm xmlns:a="http://schemas.openxmlformats.org/drawingml/2006/main">
            <a:off x="666750" y="3762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Population 100; 1,000 generations; mutations replace 1, 2, 5 or 25 members; crossover samples parental unions.</a:t>
            </a:r>
          </a:p>
        </p:txBody>
      </p:sp>
      <p:sp>
        <p:nvSpPr>
          <p:cNvPr id="8" name="">
            <a:extLst xmlns:a="http://schemas.openxmlformats.org/drawingml/2006/main">
              <a:ext uri="{FF2B5EF4-FFF2-40B4-BE49-F238E27FC236}">
                <a16:creationId xmlns:a16="http://schemas.microsoft.com/office/drawing/2014/main" id="{902A9CF6-31DB-456C-A81A-AA20D5C6FC8B}"/>
              </a:ext>
            </a:extLst>
          </p:cNvPr>
          <p:cNvSpPr>
            <a:spLocks xmlns:a="http://schemas.openxmlformats.org/drawingml/2006/main" noGrp="1"/>
          </p:cNvSpPr>
          <p:nvPr/>
        </p:nvSpPr>
        <p:spPr>
          <a:xfrm xmlns:a="http://schemas.openxmlformats.org/drawingml/2006/main">
            <a:off x="666750" y="4762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Three optimizer seeds are run on the same candidate pool for each construct and pool type.</a:t>
            </a:r>
          </a:p>
        </p:txBody>
      </p:sp>
    </p:spTree>
    <p:extLst>
      <p:ext uri="{BB962C8B-B14F-4D97-AF65-F5344CB8AC3E}">
        <p14:creationId xmlns:p14="http://schemas.microsoft.com/office/powerpoint/2010/main" val="213000012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ED9DFC0-5B3F-4799-8D2E-FE3DD3E25603}"/>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Relationship to ASTEROIDS and EOM</a:t>
            </a:r>
          </a:p>
        </p:txBody>
      </p:sp>
      <p:sp>
        <p:nvSpPr>
          <p:cNvPr id="2" name="">
            <a:extLst xmlns:a="http://schemas.openxmlformats.org/drawingml/2006/main">
              <a:ext uri="{FF2B5EF4-FFF2-40B4-BE49-F238E27FC236}">
                <a16:creationId xmlns:a16="http://schemas.microsoft.com/office/drawing/2014/main" id="{6722FF45-8646-4EAD-815E-AF8978F9ED71}"/>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C6AF5E0B-B252-49EA-A2FB-4BE9913F506D}"/>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200AC8D8-19F7-47F0-96E4-966F0F608976}"/>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Ozenne et al., JACS (2012)  ·  Schwalbe et al., Structure (2014)  ·  Bernadó et al., JACS (2007)</a:t>
            </a:r>
          </a:p>
        </p:txBody>
      </p:sp>
      <p:sp>
        <p:nvSpPr>
          <p:cNvPr id="5" name="">
            <a:extLst xmlns:a="http://schemas.openxmlformats.org/drawingml/2006/main">
              <a:ext uri="{FF2B5EF4-FFF2-40B4-BE49-F238E27FC236}">
                <a16:creationId xmlns:a16="http://schemas.microsoft.com/office/drawing/2014/main" id="{1907CC40-36EE-4E7E-96AF-B6D94F03F653}"/>
              </a:ext>
            </a:extLst>
          </p:cNvPr>
          <p:cNvSpPr>
            <a:spLocks xmlns:a="http://schemas.openxmlformats.org/drawingml/2006/main" noGrp="1"/>
          </p:cNvSpPr>
          <p:nvPr/>
        </p:nvSpPr>
        <p:spPr>
          <a:xfrm xmlns:a="http://schemas.openxmlformats.org/drawingml/2006/main">
            <a:off x="666750" y="1571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ASTEROIDS: select ensembles against experimental averages, using statistical conformer pools and multiple structural observables.</a:t>
            </a:r>
          </a:p>
        </p:txBody>
      </p:sp>
      <p:sp>
        <p:nvSpPr>
          <p:cNvPr id="6" name="">
            <a:extLst xmlns:a="http://schemas.openxmlformats.org/drawingml/2006/main">
              <a:ext uri="{FF2B5EF4-FFF2-40B4-BE49-F238E27FC236}">
                <a16:creationId xmlns:a16="http://schemas.microsoft.com/office/drawing/2014/main" id="{EFB135FB-BED7-4BA2-B549-558E86BAA24E}"/>
              </a:ext>
            </a:extLst>
          </p:cNvPr>
          <p:cNvSpPr>
            <a:spLocks xmlns:a="http://schemas.openxmlformats.org/drawingml/2006/main" noGrp="1"/>
          </p:cNvSpPr>
          <p:nvPr/>
        </p:nvSpPr>
        <p:spPr>
          <a:xfrm xmlns:a="http://schemas.openxmlformats.org/drawingml/2006/main">
            <a:off x="666750" y="2571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EOM: select ensembles primarily from SAXS agreement; inspect the selected size and shape distributions.</a:t>
            </a:r>
          </a:p>
        </p:txBody>
      </p:sp>
      <p:sp>
        <p:nvSpPr>
          <p:cNvPr id="7" name="">
            <a:extLst xmlns:a="http://schemas.openxmlformats.org/drawingml/2006/main">
              <a:ext uri="{FF2B5EF4-FFF2-40B4-BE49-F238E27FC236}">
                <a16:creationId xmlns:a16="http://schemas.microsoft.com/office/drawing/2014/main" id="{D2BC5B75-1701-413F-B160-329F467E8088}"/>
              </a:ext>
            </a:extLst>
          </p:cNvPr>
          <p:cNvSpPr>
            <a:spLocks xmlns:a="http://schemas.openxmlformats.org/drawingml/2006/main" noGrp="1"/>
          </p:cNvSpPr>
          <p:nvPr/>
        </p:nvSpPr>
        <p:spPr>
          <a:xfrm xmlns:a="http://schemas.openxmlformats.org/drawingml/2006/main">
            <a:off x="666750" y="3571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Here: an ASTEROIDS-style equal-weight subset search with explicit CS and SAXS residuals. It is not the original ASTEROIDS software.</a:t>
            </a:r>
          </a:p>
        </p:txBody>
      </p:sp>
    </p:spTree>
    <p:extLst>
      <p:ext uri="{BB962C8B-B14F-4D97-AF65-F5344CB8AC3E}">
        <p14:creationId xmlns:p14="http://schemas.microsoft.com/office/powerpoint/2010/main" val="184016597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FDCC9B-0ACC-45E2-827D-35B8A9CEE368}"/>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Continuous reweighting: comparison framework</a:t>
            </a:r>
          </a:p>
        </p:txBody>
      </p:sp>
      <p:sp>
        <p:nvSpPr>
          <p:cNvPr id="2" name="">
            <a:extLst xmlns:a="http://schemas.openxmlformats.org/drawingml/2006/main">
              <a:ext uri="{FF2B5EF4-FFF2-40B4-BE49-F238E27FC236}">
                <a16:creationId xmlns:a16="http://schemas.microsoft.com/office/drawing/2014/main" id="{CA58A4CE-F299-4BFC-B101-48517E14F35B}"/>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8F01BEBE-D947-44CA-9B7B-29B04DC64D30}"/>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69B911D1-904D-464F-9A1D-5A8AA683991E}"/>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min  ½χ²(w) + θ Σₖ wₖ ln(wₖ / wₖ⁰)</a:t>
            </a:r>
          </a:p>
        </p:txBody>
      </p:sp>
      <p:sp>
        <p:nvSpPr>
          <p:cNvPr id="5" name="">
            <a:extLst xmlns:a="http://schemas.openxmlformats.org/drawingml/2006/main">
              <a:ext uri="{FF2B5EF4-FFF2-40B4-BE49-F238E27FC236}">
                <a16:creationId xmlns:a16="http://schemas.microsoft.com/office/drawing/2014/main" id="{750C03CF-D67E-40B6-A594-EA7CFD541F71}"/>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wₖ ≥ 0; ∑ₖ wₖ = 1. θ sets the penalty for departing from prior weights wₖ⁰.</a:t>
            </a:r>
          </a:p>
        </p:txBody>
      </p:sp>
      <p:sp>
        <p:nvSpPr>
          <p:cNvPr id="6" name="">
            <a:extLst xmlns:a="http://schemas.openxmlformats.org/drawingml/2006/main">
              <a:ext uri="{FF2B5EF4-FFF2-40B4-BE49-F238E27FC236}">
                <a16:creationId xmlns:a16="http://schemas.microsoft.com/office/drawing/2014/main" id="{375F4F68-5274-4617-B092-0149386D75E5}"/>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Nₑff = 1 / Σₖ wₖ² measures weight concentration; an equal-weight 500-member subset has Nₑff = 500.</a:t>
            </a:r>
          </a:p>
        </p:txBody>
      </p:sp>
      <p:sp>
        <p:nvSpPr>
          <p:cNvPr id="7" name="">
            <a:extLst xmlns:a="http://schemas.openxmlformats.org/drawingml/2006/main">
              <a:ext uri="{FF2B5EF4-FFF2-40B4-BE49-F238E27FC236}">
                <a16:creationId xmlns:a16="http://schemas.microsoft.com/office/drawing/2014/main" id="{0C9DBFCB-7FBC-45E9-92FF-22DF430B9A60}"/>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This is a generic regularized reweighting formulation. The current equal-weight search has no such entropy term.</a:t>
            </a:r>
          </a:p>
        </p:txBody>
      </p:sp>
    </p:spTree>
    <p:extLst>
      <p:ext uri="{BB962C8B-B14F-4D97-AF65-F5344CB8AC3E}">
        <p14:creationId xmlns:p14="http://schemas.microsoft.com/office/powerpoint/2010/main" val="1824835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BE2CAD-5CD1-42E2-84E1-64C2B4BC0FCF}"/>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Radius of gyration and SAXS size</a:t>
            </a:r>
          </a:p>
        </p:txBody>
      </p:sp>
      <p:sp>
        <p:nvSpPr>
          <p:cNvPr id="2" name="">
            <a:extLst xmlns:a="http://schemas.openxmlformats.org/drawingml/2006/main">
              <a:ext uri="{FF2B5EF4-FFF2-40B4-BE49-F238E27FC236}">
                <a16:creationId xmlns:a16="http://schemas.microsoft.com/office/drawing/2014/main" id="{F2A675DC-A0E5-4F4B-93D7-CD5074ED233A}"/>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8D21F8E6-F19B-4078-A5C4-8354BAF45B74}"/>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5C2D5FC0-AFA1-41B6-8B65-9042B87C339A}"/>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Svergun et al., J. Appl. Crystallogr. (1995)  ·  Original AR analysis code and MD comparison</a:t>
            </a:r>
          </a:p>
        </p:txBody>
      </p:sp>
      <p:sp>
        <p:nvSpPr>
          <p:cNvPr id="5" name="">
            <a:extLst xmlns:a="http://schemas.openxmlformats.org/drawingml/2006/main">
              <a:ext uri="{FF2B5EF4-FFF2-40B4-BE49-F238E27FC236}">
                <a16:creationId xmlns:a16="http://schemas.microsoft.com/office/drawing/2014/main" id="{7CB15C47-33FB-455B-BF38-70A3EEC66791}"/>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Rɡ = [ Nα⁻¹ Σᵢ |rᵢ − r̄|² ]¹ᐟ²</a:t>
            </a:r>
          </a:p>
        </p:txBody>
      </p:sp>
      <p:sp>
        <p:nvSpPr>
          <p:cNvPr id="6" name="">
            <a:extLst xmlns:a="http://schemas.openxmlformats.org/drawingml/2006/main">
              <a:ext uri="{FF2B5EF4-FFF2-40B4-BE49-F238E27FC236}">
                <a16:creationId xmlns:a16="http://schemas.microsoft.com/office/drawing/2014/main" id="{543965BF-D083-4A25-9FD3-A559766E8960}"/>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rᵢ: Cα coordinate; r̄: Cα centroid; Nα: number of selected residues.</a:t>
            </a:r>
          </a:p>
        </p:txBody>
      </p:sp>
      <p:sp>
        <p:nvSpPr>
          <p:cNvPr id="7" name="">
            <a:extLst xmlns:a="http://schemas.openxmlformats.org/drawingml/2006/main">
              <a:ext uri="{FF2B5EF4-FFF2-40B4-BE49-F238E27FC236}">
                <a16:creationId xmlns:a16="http://schemas.microsoft.com/office/drawing/2014/main" id="{00ED8FA1-E08B-413D-8556-83FA00408FDF}"/>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The reported structural Rg uses equally weighted Cα atoms and is expressed in Å.</a:t>
            </a:r>
          </a:p>
        </p:txBody>
      </p:sp>
      <p:sp>
        <p:nvSpPr>
          <p:cNvPr id="8" name="">
            <a:extLst xmlns:a="http://schemas.openxmlformats.org/drawingml/2006/main">
              <a:ext uri="{FF2B5EF4-FFF2-40B4-BE49-F238E27FC236}">
                <a16:creationId xmlns:a16="http://schemas.microsoft.com/office/drawing/2014/main" id="{A0BB23A9-6E88-4337-95C1-710191184453}"/>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Guinier theory: I(q) ≈ I(0) exp(−q²Rg²/3) at small q. Scattering-weighted Rg need not equal the Cα geometric value.</a:t>
            </a:r>
          </a:p>
        </p:txBody>
      </p:sp>
    </p:spTree>
    <p:extLst>
      <p:ext uri="{BB962C8B-B14F-4D97-AF65-F5344CB8AC3E}">
        <p14:creationId xmlns:p14="http://schemas.microsoft.com/office/powerpoint/2010/main" val="30408317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792769-7ABD-4C6D-B7ED-0120F186975D}"/>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Sα: the exact AR analysis definition</a:t>
            </a:r>
          </a:p>
        </p:txBody>
      </p:sp>
      <p:sp>
        <p:nvSpPr>
          <p:cNvPr id="2" name="">
            <a:extLst xmlns:a="http://schemas.openxmlformats.org/drawingml/2006/main">
              <a:ext uri="{FF2B5EF4-FFF2-40B4-BE49-F238E27FC236}">
                <a16:creationId xmlns:a16="http://schemas.microsoft.com/office/drawing/2014/main" id="{93F8F497-AE7F-4435-9F3F-0DB417AC938F}"/>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4E447927-2D28-4A9C-AA95-11A13FEE5BBB}"/>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9D449511-C74E-44DD-A5D7-074C996A89B0}"/>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Original AR analysis code and MD comparison  ·  Zhu et al., Nature Communications (2022)</a:t>
            </a:r>
          </a:p>
        </p:txBody>
      </p:sp>
      <p:sp>
        <p:nvSpPr>
          <p:cNvPr id="5" name="">
            <a:extLst xmlns:a="http://schemas.openxmlformats.org/drawingml/2006/main">
              <a:ext uri="{FF2B5EF4-FFF2-40B4-BE49-F238E27FC236}">
                <a16:creationId xmlns:a16="http://schemas.microsoft.com/office/drawing/2014/main" id="{C5BA99B7-649D-48CF-9084-20C30AD06F04}"/>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Sα = Σᵤ [1 − (Rᵤ/r₀)⁸] / [1 − (Rᵤ/r₀)¹²]</a:t>
            </a:r>
          </a:p>
        </p:txBody>
      </p:sp>
      <p:sp>
        <p:nvSpPr>
          <p:cNvPr id="6" name="">
            <a:extLst xmlns:a="http://schemas.openxmlformats.org/drawingml/2006/main">
              <a:ext uri="{FF2B5EF4-FFF2-40B4-BE49-F238E27FC236}">
                <a16:creationId xmlns:a16="http://schemas.microsoft.com/office/drawing/2014/main" id="{96A6F1B9-98B0-4234-98B9-66C7B736C50D}"/>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u: seven-residue window; Rᵤ: aligned backbone RMSD to a helical reference; r₀ = 0.10 nm.</a:t>
            </a:r>
          </a:p>
        </p:txBody>
      </p:sp>
      <p:sp>
        <p:nvSpPr>
          <p:cNvPr id="7" name="">
            <a:extLst xmlns:a="http://schemas.openxmlformats.org/drawingml/2006/main">
              <a:ext uri="{FF2B5EF4-FFF2-40B4-BE49-F238E27FC236}">
                <a16:creationId xmlns:a16="http://schemas.microsoft.com/office/drawing/2014/main" id="{BE2D75FD-75BB-4D79-8709-C27CF3387DF8}"/>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Use N, Cα, C and O atoms (28/window), with Kabsch alignment. Full chain: 114 windows; R2_R3: 50.</a:t>
            </a:r>
          </a:p>
        </p:txBody>
      </p:sp>
      <p:sp>
        <p:nvSpPr>
          <p:cNvPr id="8" name="">
            <a:extLst xmlns:a="http://schemas.openxmlformats.org/drawingml/2006/main">
              <a:ext uri="{FF2B5EF4-FFF2-40B4-BE49-F238E27FC236}">
                <a16:creationId xmlns:a16="http://schemas.microsoft.com/office/drawing/2014/main" id="{AD918C9F-70F5-4C9A-B9BB-0E80AFAC5064}"/>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Each window contributes 1 at perfect agreement and 2/3 at Rᵤ = r₀. Sα is not a residue helix fraction.</a:t>
            </a:r>
          </a:p>
        </p:txBody>
      </p:sp>
    </p:spTree>
    <p:extLst>
      <p:ext uri="{BB962C8B-B14F-4D97-AF65-F5344CB8AC3E}">
        <p14:creationId xmlns:p14="http://schemas.microsoft.com/office/powerpoint/2010/main" val="176168240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D69540-5902-4E32-AD6D-C4B622432C64}"/>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Contact maps: the exact AR analysis definition</a:t>
            </a:r>
          </a:p>
        </p:txBody>
      </p:sp>
      <p:sp>
        <p:nvSpPr>
          <p:cNvPr id="2" name="">
            <a:extLst xmlns:a="http://schemas.openxmlformats.org/drawingml/2006/main">
              <a:ext uri="{FF2B5EF4-FFF2-40B4-BE49-F238E27FC236}">
                <a16:creationId xmlns:a16="http://schemas.microsoft.com/office/drawing/2014/main" id="{23513243-EBD4-45D4-B056-5D8A68BD2415}"/>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38C645D1-40F6-45F1-A6A9-31AB13459A69}"/>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3EF84A54-EDEB-462E-B605-81D779A0489D}"/>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Original AR analysis code and MD comparison  ·  Zhu et al., Nature Communications (2022)</a:t>
            </a:r>
          </a:p>
        </p:txBody>
      </p:sp>
      <p:sp>
        <p:nvSpPr>
          <p:cNvPr id="5" name="">
            <a:extLst xmlns:a="http://schemas.openxmlformats.org/drawingml/2006/main">
              <a:ext uri="{FF2B5EF4-FFF2-40B4-BE49-F238E27FC236}">
                <a16:creationId xmlns:a16="http://schemas.microsoft.com/office/drawing/2014/main" id="{CBF0D2E1-308C-4C92-BCD9-A94E0D564670}"/>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Cᵢⱼ = (1/N) Σₖ 𝟙[minₐ∈ᵢ,ᵦ∈ⱼ dₐᵦ(xₖ) &lt; 1.2 nm]</a:t>
            </a:r>
          </a:p>
        </p:txBody>
      </p:sp>
      <p:sp>
        <p:nvSpPr>
          <p:cNvPr id="6" name="">
            <a:extLst xmlns:a="http://schemas.openxmlformats.org/drawingml/2006/main">
              <a:ext uri="{FF2B5EF4-FFF2-40B4-BE49-F238E27FC236}">
                <a16:creationId xmlns:a16="http://schemas.microsoft.com/office/drawing/2014/main" id="{4166B478-D59E-417D-9CF8-B80319D4A848}"/>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i,j: residues; a,b: heavy atoms; N: conformer count. Diagonal entries are set to zero.</a:t>
            </a:r>
          </a:p>
        </p:txBody>
      </p:sp>
      <p:sp>
        <p:nvSpPr>
          <p:cNvPr id="7" name="">
            <a:extLst xmlns:a="http://schemas.openxmlformats.org/drawingml/2006/main">
              <a:ext uri="{FF2B5EF4-FFF2-40B4-BE49-F238E27FC236}">
                <a16:creationId xmlns:a16="http://schemas.microsoft.com/office/drawing/2014/main" id="{85FEBFFC-5D87-47EE-8FB0-462E321EB13F}"/>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Keep adjacent residue pairs. Compare full chains and the identical AR 391–446 segment separately.</a:t>
            </a:r>
          </a:p>
        </p:txBody>
      </p:sp>
      <p:sp>
        <p:nvSpPr>
          <p:cNvPr id="8" name="">
            <a:extLst xmlns:a="http://schemas.openxmlformats.org/drawingml/2006/main">
              <a:ext uri="{FF2B5EF4-FFF2-40B4-BE49-F238E27FC236}">
                <a16:creationId xmlns:a16="http://schemas.microsoft.com/office/drawing/2014/main" id="{F42F7AF0-E899-4B0F-91D0-C13DC7D14766}"/>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A 1.2 nm cutoff is a broad proximity measure; it does not isolate aromatic stacking or a specific interaction energy.</a:t>
            </a:r>
          </a:p>
        </p:txBody>
      </p:sp>
    </p:spTree>
    <p:extLst>
      <p:ext uri="{BB962C8B-B14F-4D97-AF65-F5344CB8AC3E}">
        <p14:creationId xmlns:p14="http://schemas.microsoft.com/office/powerpoint/2010/main" val="82426408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008CD6C-356F-4A93-B823-45C9E48E0AAF}"/>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Current selection experiment</a:t>
            </a:r>
          </a:p>
        </p:txBody>
      </p:sp>
      <p:sp>
        <p:nvSpPr>
          <p:cNvPr id="2" name="">
            <a:extLst xmlns:a="http://schemas.openxmlformats.org/drawingml/2006/main">
              <a:ext uri="{FF2B5EF4-FFF2-40B4-BE49-F238E27FC236}">
                <a16:creationId xmlns:a16="http://schemas.microsoft.com/office/drawing/2014/main" id="{499D310C-4223-4198-91B8-675F3890F30C}"/>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B14781BF-176B-489C-B9F3-0C2CFB90FCB9}"/>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864FEB92-3777-4F80-B876-B36BF3574031}"/>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graphicFrame>
        <p:nvGraphicFramePr>
          <p:cNvPr id="12" name=""/>
          <p:cNvGraphicFramePr/>
          <p:nvPr/>
        </p:nvGraphicFramePr>
        <p:xfrm>
          <a:off xmlns:a="http://schemas.openxmlformats.org/drawingml/2006/main" x="619125" y="1714500"/>
          <a:ext xmlns:a="http://schemas.openxmlformats.org/drawingml/2006/main" cx="10953750" cy="1857375"/>
        </p:xfrm>
        <a:graphic xmlns:a="http://schemas.openxmlformats.org/drawingml/2006/main">
          <a:graphicData uri="http://schemas.openxmlformats.org/drawingml/2006/table">
            <a:tbl>
              <a:tblPr/>
              <a:tblGrid>
                <a:gridCol w="3714750"/>
                <a:gridCol w="2381250"/>
                <a:gridCol w="2476500"/>
                <a:gridCol w="2381250"/>
              </a:tblGrid>
              <a:tr h="619125">
                <a:tc>
                  <a:txBody>
                    <a:bodyPr/>
                    <a:lstStyle/>
                    <a:p>
                      <a:r>
                        <a:rPr sz="1800" b="1">
                          <a:solidFill>
                            <a:srgbClr val="FFFFFF"/>
                          </a:solidFill>
                          <a:latin typeface="Helvetica Neue"/>
                          <a:ea typeface="Helvetica Neue"/>
                          <a:cs typeface="Helvetica Neue"/>
                        </a:rPr>
                        <a:t>Construct</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Base pool</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Expanded pool</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Selected</a:t>
                      </a:r>
                    </a:p>
                  </a:txBody>
                  <a:tcPr marL="91440" marR="91440" marT="45720" marB="45720">
                    <a:solidFill>
                      <a:srgbClr val="18394D"/>
                    </a:solidFill>
                  </a:tcPr>
                </a:tc>
              </a:tr>
              <a:tr h="619125">
                <a:tc>
                  <a:txBody>
                    <a:bodyPr/>
                    <a:lstStyle/>
                    <a:p>
                      <a:r>
                        <a:rPr sz="1800" b="0">
                          <a:solidFill>
                            <a:srgbClr val="18394D"/>
                          </a:solidFill>
                          <a:latin typeface="Helvetica Neue"/>
                          <a:ea typeface="Helvetica Neue"/>
                          <a:cs typeface="Helvetica Neue"/>
                        </a:rPr>
                        <a:t>WT</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2,000</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2,110</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500</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W397A/W433A</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2,000</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2,090</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500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6BC87F8-450F-458D-8D49-D8B6DAAA3250}"/>
              </a:ext>
            </a:extLst>
          </p:cNvPr>
          <p:cNvSpPr>
            <a:spLocks xmlns:a="http://schemas.openxmlformats.org/drawingml/2006/main" noGrp="1"/>
          </p:cNvSpPr>
          <p:nvPr/>
        </p:nvSpPr>
        <p:spPr>
          <a:xfrm xmlns:a="http://schemas.openxmlformats.org/drawingml/2006/main">
            <a:off x="666750" y="40005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876B8"/>
                </a:solidFill>
                <a:latin typeface="Helvetica Neue"/>
                <a:ea typeface="Helvetica Neue"/>
                <a:cs typeface="Helvetica Neue"/>
              </a:defRPr>
            </a:pPr>
            <a:r>
              <a:rPr sz="2175" b="1">
                <a:solidFill>
                  <a:srgbClr val="2876B8"/>
                </a:solidFill>
                <a:latin typeface="Helvetica Neue"/>
                <a:ea typeface="Helvetica Neue"/>
                <a:cs typeface="Helvetica Neue"/>
              </a:rPr>
              <a:t>2 sequences × 2 pool definitions × 3 optimizer seeds = 12 selections</a:t>
            </a:r>
          </a:p>
        </p:txBody>
      </p:sp>
      <p:sp>
        <p:nvSpPr>
          <p:cNvPr id="7" name="">
            <a:extLst xmlns:a="http://schemas.openxmlformats.org/drawingml/2006/main">
              <a:ext uri="{FF2B5EF4-FFF2-40B4-BE49-F238E27FC236}">
                <a16:creationId xmlns:a16="http://schemas.microsoft.com/office/drawing/2014/main" id="{D74EA7C0-192A-4BAC-93EF-FE714D9AD1E0}"/>
              </a:ext>
            </a:extLst>
          </p:cNvPr>
          <p:cNvSpPr>
            <a:spLocks xmlns:a="http://schemas.openxmlformats.org/drawingml/2006/main" noGrp="1"/>
          </p:cNvSpPr>
          <p:nvPr/>
        </p:nvSpPr>
        <p:spPr>
          <a:xfrm xmlns:a="http://schemas.openxmlformats.org/drawingml/2006/main">
            <a:off x="666750" y="49530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94D"/>
                </a:solidFill>
                <a:latin typeface="Helvetica Neue"/>
                <a:ea typeface="Helvetica Neue"/>
                <a:cs typeface="Helvetica Neue"/>
              </a:defRPr>
            </a:pPr>
            <a:r>
              <a:rPr sz="2025" b="0">
                <a:solidFill>
                  <a:srgbClr val="18394D"/>
                </a:solidFill>
                <a:latin typeface="Helvetica Neue"/>
                <a:ea typeface="Helvetica Neue"/>
                <a:cs typeface="Helvetica Neue"/>
              </a:rPr>
              <a:t>All seeds reuse the same candidate pool within a condition.</a:t>
            </a:r>
          </a:p>
        </p:txBody>
      </p:sp>
    </p:spTree>
    <p:extLst>
      <p:ext uri="{BB962C8B-B14F-4D97-AF65-F5344CB8AC3E}">
        <p14:creationId xmlns:p14="http://schemas.microsoft.com/office/powerpoint/2010/main" val="184146903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9E91459-2F87-4700-A8E6-63A3298D148A}"/>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Carbon fits improve; WT SAXS remains limited</a:t>
            </a:r>
          </a:p>
        </p:txBody>
      </p:sp>
      <p:sp>
        <p:nvSpPr>
          <p:cNvPr id="2" name="">
            <a:extLst xmlns:a="http://schemas.openxmlformats.org/drawingml/2006/main">
              <a:ext uri="{FF2B5EF4-FFF2-40B4-BE49-F238E27FC236}">
                <a16:creationId xmlns:a16="http://schemas.microsoft.com/office/drawing/2014/main" id="{C3A3C75A-8AFA-4DEE-B590-189B2FD8CC0E}"/>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24C0F27A-1F6B-4ACF-AA6D-EA394A9A9D6F}"/>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92F044FB-4BD6-4B5A-8FDA-A86423442AE9}"/>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graphicFrame>
        <p:nvGraphicFramePr>
          <p:cNvPr id="11" name=""/>
          <p:cNvGraphicFramePr/>
          <p:nvPr/>
        </p:nvGraphicFramePr>
        <p:xfrm>
          <a:off xmlns:a="http://schemas.openxmlformats.org/drawingml/2006/main" x="619125" y="1571625"/>
          <a:ext xmlns:a="http://schemas.openxmlformats.org/drawingml/2006/main" cx="10953750" cy="3095625"/>
        </p:xfrm>
        <a:graphic xmlns:a="http://schemas.openxmlformats.org/drawingml/2006/main">
          <a:graphicData uri="http://schemas.openxmlformats.org/drawingml/2006/table">
            <a:tbl>
              <a:tblPr/>
              <a:tblGrid>
                <a:gridCol w="2762250"/>
                <a:gridCol w="2047875"/>
                <a:gridCol w="2047875"/>
                <a:gridCol w="2047875"/>
                <a:gridCol w="2047875"/>
              </a:tblGrid>
              <a:tr h="619125">
                <a:tc>
                  <a:txBody>
                    <a:bodyPr/>
                    <a:lstStyle/>
                    <a:p>
                      <a:r>
                        <a:rPr sz="1800" b="1">
                          <a:solidFill>
                            <a:srgbClr val="FFFFFF"/>
                          </a:solidFill>
                          <a:latin typeface="Helvetica Neue"/>
                          <a:ea typeface="Helvetica Neue"/>
                          <a:cs typeface="Helvetica Neue"/>
                        </a:rPr>
                        <a:t>Condition</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C′ RMSD</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Cα RMSD</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Cβ RMSD</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SAXS χ²/pt</a:t>
                      </a:r>
                    </a:p>
                  </a:txBody>
                  <a:tcPr marL="91440" marR="91440" marT="45720" marB="45720">
                    <a:solidFill>
                      <a:srgbClr val="18394D"/>
                    </a:solidFill>
                  </a:tcPr>
                </a:tc>
              </a:tr>
              <a:tr h="619125">
                <a:tc>
                  <a:txBody>
                    <a:bodyPr/>
                    <a:lstStyle/>
                    <a:p>
                      <a:r>
                        <a:rPr sz="1800" b="0">
                          <a:solidFill>
                            <a:srgbClr val="18394D"/>
                          </a:solidFill>
                          <a:latin typeface="Helvetica Neue"/>
                          <a:ea typeface="Helvetica Neue"/>
                          <a:cs typeface="Helvetica Neue"/>
                        </a:rPr>
                        <a:t>WT base</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0.420–0.428</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0.300–0.307</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7.74–7.94</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WT expanded</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0.416–0.420</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0.296–0.303</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7.34–7.90</a:t>
                      </a:r>
                    </a:p>
                  </a:txBody>
                  <a:tcPr marL="91440" marR="91440" marT="45720" marB="45720">
                    <a:solidFill>
                      <a:srgbClr val="FFFFFF"/>
                    </a:solidFill>
                  </a:tcPr>
                </a:tc>
              </a:tr>
              <a:tr h="619125">
                <a:tc>
                  <a:txBody>
                    <a:bodyPr/>
                    <a:lstStyle/>
                    <a:p>
                      <a:r>
                        <a:rPr sz="1800" b="0">
                          <a:solidFill>
                            <a:srgbClr val="18394D"/>
                          </a:solidFill>
                          <a:latin typeface="Helvetica Neue"/>
                          <a:ea typeface="Helvetica Neue"/>
                          <a:cs typeface="Helvetica Neue"/>
                        </a:rPr>
                        <a:t>AA base</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0.396–0.403</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0.310–0.315</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0.287–0.295</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2.85–2.95</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AA expanded</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0.395–0.399</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0.307–0.310</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0.290–0.293</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2.77–2.86</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07B0DBA-7404-45A8-91AA-9863D6D154FC}"/>
              </a:ext>
            </a:extLst>
          </p:cNvPr>
          <p:cNvSpPr>
            <a:spLocks xmlns:a="http://schemas.openxmlformats.org/drawingml/2006/main" noGrp="1"/>
          </p:cNvSpPr>
          <p:nvPr/>
        </p:nvSpPr>
        <p:spPr>
          <a:xfrm xmlns:a="http://schemas.openxmlformats.org/drawingml/2006/main">
            <a:off x="666750" y="50482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94D"/>
                </a:solidFill>
                <a:latin typeface="Helvetica Neue"/>
                <a:ea typeface="Helvetica Neue"/>
                <a:cs typeface="Helvetica Neue"/>
              </a:defRPr>
            </a:pPr>
            <a:r>
              <a:rPr sz="2025" b="0">
                <a:solidFill>
                  <a:srgbClr val="18394D"/>
                </a:solidFill>
                <a:latin typeface="Helvetica Neue"/>
                <a:ea typeface="Helvetica Neue"/>
                <a:cs typeface="Helvetica Neue"/>
              </a:rPr>
              <a:t>The current supplement gives modest changes, not a decisive improvement.</a:t>
            </a:r>
          </a:p>
        </p:txBody>
      </p:sp>
    </p:spTree>
    <p:extLst>
      <p:ext uri="{BB962C8B-B14F-4D97-AF65-F5344CB8AC3E}">
        <p14:creationId xmlns:p14="http://schemas.microsoft.com/office/powerpoint/2010/main" val="138066255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EE0939-9F4B-4DAC-9B8B-63CEBD8F8B2A}"/>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WT: whole-sequence helix populations</a:t>
            </a:r>
          </a:p>
        </p:txBody>
      </p:sp>
      <p:sp>
        <p:nvSpPr>
          <p:cNvPr id="2" name="">
            <a:extLst xmlns:a="http://schemas.openxmlformats.org/drawingml/2006/main">
              <a:ext uri="{FF2B5EF4-FFF2-40B4-BE49-F238E27FC236}">
                <a16:creationId xmlns:a16="http://schemas.microsoft.com/office/drawing/2014/main" id="{6635F35D-7A55-42E1-815D-E851CB9DCA48}"/>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33BA0624-8549-4383-BA04-672C5F52BD5F}"/>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625C6A09-D17B-421F-8330-7A6B3106297F}"/>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  ·  Camilloni et al., Biochemistry (2012)</a:t>
            </a:r>
          </a:p>
        </p:txBody>
      </p:sp>
      <p:graphicFrame>
        <p:nvGraphicFramePr>
          <p:cNvPr id="11" name="Chart"/>
          <p:cNvGraphicFramePr/>
          <p:nvPr/>
        </p:nvGraphicFramePr>
        <p:xfrm>
          <a:off xmlns:a="http://schemas.openxmlformats.org/drawingml/2006/main" x="666750" y="1571625"/>
          <a:ext xmlns:a="http://schemas.openxmlformats.org/drawingml/2006/main" cx="10858500" cy="3905250"/>
        </p:xfrm>
        <a:graphic xmlns:a="http://schemas.openxmlformats.org/drawingml/2006/main">
          <a:graphicData uri="http://schemas.openxmlformats.org/drawingml/2006/chart">
            <c:chart xmlns:r="http://schemas.openxmlformats.org/officeDocument/2006/relationships" xmlns:c="http://schemas.openxmlformats.org/drawingml/2006/chart" r:id="R42ea213866384f66"/>
          </a:graphicData>
        </a:graphic>
      </p:graphicFrame>
      <p:sp>
        <p:nvSpPr>
          <p:cNvPr id="6" name="">
            <a:extLst xmlns:a="http://schemas.openxmlformats.org/drawingml/2006/main">
              <a:ext uri="{FF2B5EF4-FFF2-40B4-BE49-F238E27FC236}">
                <a16:creationId xmlns:a16="http://schemas.microsoft.com/office/drawing/2014/main" id="{03BD9038-3A72-4218-9964-2B63A1B9F130}"/>
              </a:ext>
            </a:extLst>
          </p:cNvPr>
          <p:cNvSpPr>
            <a:spLocks xmlns:a="http://schemas.openxmlformats.org/drawingml/2006/main" noGrp="1"/>
          </p:cNvSpPr>
          <p:nvPr/>
        </p:nvSpPr>
        <p:spPr>
          <a:xfrm xmlns:a="http://schemas.openxmlformats.org/drawingml/2006/main">
            <a:off x="666750" y="5572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94D"/>
                </a:solidFill>
                <a:latin typeface="Helvetica Neue"/>
                <a:ea typeface="Helvetica Neue"/>
                <a:cs typeface="Helvetica Neue"/>
              </a:defRPr>
            </a:pPr>
            <a:r>
              <a:rPr sz="1725" b="0">
                <a:solidFill>
                  <a:srgbClr val="18394D"/>
                </a:solidFill>
                <a:latin typeface="Helvetica Neue"/>
                <a:ea typeface="Helvetica Neue"/>
                <a:cs typeface="Helvetica Neue"/>
              </a:rPr>
              <a:t>DSSP α-helix (H); selection curves averaged across three optimizer seeds.</a:t>
            </a:r>
          </a:p>
        </p:txBody>
      </p:sp>
    </p:spTree>
    <p:extLst>
      <p:ext uri="{BB962C8B-B14F-4D97-AF65-F5344CB8AC3E}">
        <p14:creationId xmlns:p14="http://schemas.microsoft.com/office/powerpoint/2010/main" val="5789220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39C549-3DD7-463D-88AD-3B1E7CA15327}"/>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AA: whole-sequence helix populations</a:t>
            </a:r>
          </a:p>
        </p:txBody>
      </p:sp>
      <p:sp>
        <p:nvSpPr>
          <p:cNvPr id="2" name="">
            <a:extLst xmlns:a="http://schemas.openxmlformats.org/drawingml/2006/main">
              <a:ext uri="{FF2B5EF4-FFF2-40B4-BE49-F238E27FC236}">
                <a16:creationId xmlns:a16="http://schemas.microsoft.com/office/drawing/2014/main" id="{85287E38-977E-436B-8C87-3136510A84BC}"/>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EDEBA792-0DA0-4909-8F6B-7CD257724D2B}"/>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27</a:t>
            </a:r>
          </a:p>
        </p:txBody>
      </p:sp>
      <p:sp>
        <p:nvSpPr>
          <p:cNvPr id="4" name="">
            <a:extLst xmlns:a="http://schemas.openxmlformats.org/drawingml/2006/main">
              <a:ext uri="{FF2B5EF4-FFF2-40B4-BE49-F238E27FC236}">
                <a16:creationId xmlns:a16="http://schemas.microsoft.com/office/drawing/2014/main" id="{8A91B144-A0FB-47B4-BB5D-F4545C5C974A}"/>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  ·  Camilloni et al., Biochemistry (2012)</a:t>
            </a:r>
          </a:p>
        </p:txBody>
      </p:sp>
      <p:graphicFrame>
        <p:nvGraphicFramePr>
          <p:cNvPr id="11" name="Chart"/>
          <p:cNvGraphicFramePr/>
          <p:nvPr/>
        </p:nvGraphicFramePr>
        <p:xfrm>
          <a:off xmlns:a="http://schemas.openxmlformats.org/drawingml/2006/main" x="666750" y="1571625"/>
          <a:ext xmlns:a="http://schemas.openxmlformats.org/drawingml/2006/main" cx="10858500" cy="3905250"/>
        </p:xfrm>
        <a:graphic xmlns:a="http://schemas.openxmlformats.org/drawingml/2006/main">
          <a:graphicData uri="http://schemas.openxmlformats.org/drawingml/2006/chart">
            <c:chart xmlns:r="http://schemas.openxmlformats.org/officeDocument/2006/relationships" xmlns:c="http://schemas.openxmlformats.org/drawingml/2006/chart" r:id="R9fb8429ed1cc4c77"/>
          </a:graphicData>
        </a:graphic>
      </p:graphicFrame>
      <p:sp>
        <p:nvSpPr>
          <p:cNvPr id="6" name="">
            <a:extLst xmlns:a="http://schemas.openxmlformats.org/drawingml/2006/main">
              <a:ext uri="{FF2B5EF4-FFF2-40B4-BE49-F238E27FC236}">
                <a16:creationId xmlns:a16="http://schemas.microsoft.com/office/drawing/2014/main" id="{CA92AAAF-D90C-4A5B-B9F3-30F5F87D1CCF}"/>
              </a:ext>
            </a:extLst>
          </p:cNvPr>
          <p:cNvSpPr>
            <a:spLocks xmlns:a="http://schemas.openxmlformats.org/drawingml/2006/main" noGrp="1"/>
          </p:cNvSpPr>
          <p:nvPr/>
        </p:nvSpPr>
        <p:spPr>
          <a:xfrm xmlns:a="http://schemas.openxmlformats.org/drawingml/2006/main">
            <a:off x="666750" y="5572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94D"/>
                </a:solidFill>
                <a:latin typeface="Helvetica Neue"/>
                <a:ea typeface="Helvetica Neue"/>
                <a:cs typeface="Helvetica Neue"/>
              </a:defRPr>
            </a:pPr>
            <a:r>
              <a:rPr sz="1725" b="0">
                <a:solidFill>
                  <a:srgbClr val="18394D"/>
                </a:solidFill>
                <a:latin typeface="Helvetica Neue"/>
                <a:ea typeface="Helvetica Neue"/>
                <a:cs typeface="Helvetica Neue"/>
              </a:rPr>
              <a:t>DSSP α-helix (H); selection curves averaged across three optimizer seeds.</a:t>
            </a:r>
          </a:p>
        </p:txBody>
      </p:sp>
    </p:spTree>
    <p:extLst>
      <p:ext uri="{BB962C8B-B14F-4D97-AF65-F5344CB8AC3E}">
        <p14:creationId xmlns:p14="http://schemas.microsoft.com/office/powerpoint/2010/main" val="178535403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4B28BD-4ABA-48BA-A098-FA6AD4CD93BF}"/>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WT: carbon absolute residuals</a:t>
            </a:r>
          </a:p>
        </p:txBody>
      </p:sp>
      <p:sp>
        <p:nvSpPr>
          <p:cNvPr id="2" name="">
            <a:extLst xmlns:a="http://schemas.openxmlformats.org/drawingml/2006/main">
              <a:ext uri="{FF2B5EF4-FFF2-40B4-BE49-F238E27FC236}">
                <a16:creationId xmlns:a16="http://schemas.microsoft.com/office/drawing/2014/main" id="{0718D743-6C44-43D7-BF8F-37F15C192491}"/>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7B3394F1-08E5-4AF9-80B4-31D34072595B}"/>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28</a:t>
            </a:r>
          </a:p>
        </p:txBody>
      </p:sp>
      <p:sp>
        <p:nvSpPr>
          <p:cNvPr id="4" name="">
            <a:extLst xmlns:a="http://schemas.openxmlformats.org/drawingml/2006/main">
              <a:ext uri="{FF2B5EF4-FFF2-40B4-BE49-F238E27FC236}">
                <a16:creationId xmlns:a16="http://schemas.microsoft.com/office/drawing/2014/main" id="{2FACF695-59F5-4189-9623-63CF205312C0}"/>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graphicFrame>
        <p:nvGraphicFramePr>
          <p:cNvPr id="12" name="Chart"/>
          <p:cNvGraphicFramePr/>
          <p:nvPr/>
        </p:nvGraphicFramePr>
        <p:xfrm>
          <a:off xmlns:a="http://schemas.openxmlformats.org/drawingml/2006/main" x="571500" y="16192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6ccdc616f98e4d4a"/>
          </a:graphicData>
        </a:graphic>
      </p:graphicFrame>
      <p:graphicFrame>
        <p:nvGraphicFramePr>
          <p:cNvPr id="13" name="Chart"/>
          <p:cNvGraphicFramePr/>
          <p:nvPr/>
        </p:nvGraphicFramePr>
        <p:xfrm>
          <a:off xmlns:a="http://schemas.openxmlformats.org/drawingml/2006/main" x="6286500" y="16192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845045acb914492d"/>
          </a:graphicData>
        </a:graphic>
      </p:graphicFrame>
      <p:sp>
        <p:nvSpPr>
          <p:cNvPr id="7" name="">
            <a:extLst xmlns:a="http://schemas.openxmlformats.org/drawingml/2006/main">
              <a:ext uri="{FF2B5EF4-FFF2-40B4-BE49-F238E27FC236}">
                <a16:creationId xmlns:a16="http://schemas.microsoft.com/office/drawing/2014/main" id="{92D8E015-165F-4FD2-9194-BFA3512416DE}"/>
              </a:ext>
            </a:extLst>
          </p:cNvPr>
          <p:cNvSpPr>
            <a:spLocks xmlns:a="http://schemas.openxmlformats.org/drawingml/2006/main" noGrp="1"/>
          </p:cNvSpPr>
          <p:nvPr/>
        </p:nvSpPr>
        <p:spPr>
          <a:xfrm xmlns:a="http://schemas.openxmlformats.org/drawingml/2006/main">
            <a:off x="666750" y="5572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94D"/>
                </a:solidFill>
                <a:latin typeface="Helvetica Neue"/>
                <a:ea typeface="Helvetica Neue"/>
                <a:cs typeface="Helvetica Neue"/>
              </a:defRPr>
            </a:pPr>
            <a:r>
              <a:rPr sz="1725" b="0">
                <a:solidFill>
                  <a:srgbClr val="18394D"/>
                </a:solidFill>
                <a:latin typeface="Helvetica Neue"/>
                <a:ea typeface="Helvetica Neue"/>
                <a:cs typeface="Helvetica Neue"/>
              </a:rPr>
              <a:t>Expanded pool, seed 20260929. Fitting averages can retain localized errors.</a:t>
            </a:r>
          </a:p>
        </p:txBody>
      </p:sp>
    </p:spTree>
    <p:extLst>
      <p:ext uri="{BB962C8B-B14F-4D97-AF65-F5344CB8AC3E}">
        <p14:creationId xmlns:p14="http://schemas.microsoft.com/office/powerpoint/2010/main" val="211475697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2A2710-0811-4859-B020-C60D8B2D8885}"/>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AA: carbon absolute residuals</a:t>
            </a:r>
          </a:p>
        </p:txBody>
      </p:sp>
      <p:sp>
        <p:nvSpPr>
          <p:cNvPr id="2" name="">
            <a:extLst xmlns:a="http://schemas.openxmlformats.org/drawingml/2006/main">
              <a:ext uri="{FF2B5EF4-FFF2-40B4-BE49-F238E27FC236}">
                <a16:creationId xmlns:a16="http://schemas.microsoft.com/office/drawing/2014/main" id="{004384DF-0977-413D-AA26-2DF74837A373}"/>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CBCB58C2-00A2-4BE2-B925-937D94F78608}"/>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29</a:t>
            </a:r>
          </a:p>
        </p:txBody>
      </p:sp>
      <p:sp>
        <p:nvSpPr>
          <p:cNvPr id="4" name="">
            <a:extLst xmlns:a="http://schemas.openxmlformats.org/drawingml/2006/main">
              <a:ext uri="{FF2B5EF4-FFF2-40B4-BE49-F238E27FC236}">
                <a16:creationId xmlns:a16="http://schemas.microsoft.com/office/drawing/2014/main" id="{5F0B54FB-E7F8-420E-B1B3-EFFB1FA96EDA}"/>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graphicFrame>
        <p:nvGraphicFramePr>
          <p:cNvPr id="12" name="Chart"/>
          <p:cNvGraphicFramePr/>
          <p:nvPr/>
        </p:nvGraphicFramePr>
        <p:xfrm>
          <a:off xmlns:a="http://schemas.openxmlformats.org/drawingml/2006/main" x="571500" y="16192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10762e15595848a0"/>
          </a:graphicData>
        </a:graphic>
      </p:graphicFrame>
      <p:graphicFrame>
        <p:nvGraphicFramePr>
          <p:cNvPr id="13" name="Chart"/>
          <p:cNvGraphicFramePr/>
          <p:nvPr/>
        </p:nvGraphicFramePr>
        <p:xfrm>
          <a:off xmlns:a="http://schemas.openxmlformats.org/drawingml/2006/main" x="6286500" y="16192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9df02f93f9064e71"/>
          </a:graphicData>
        </a:graphic>
      </p:graphicFrame>
      <p:sp>
        <p:nvSpPr>
          <p:cNvPr id="7" name="">
            <a:extLst xmlns:a="http://schemas.openxmlformats.org/drawingml/2006/main">
              <a:ext uri="{FF2B5EF4-FFF2-40B4-BE49-F238E27FC236}">
                <a16:creationId xmlns:a16="http://schemas.microsoft.com/office/drawing/2014/main" id="{3657EE88-1405-4B31-8A41-79B65656CCA7}"/>
              </a:ext>
            </a:extLst>
          </p:cNvPr>
          <p:cNvSpPr>
            <a:spLocks xmlns:a="http://schemas.openxmlformats.org/drawingml/2006/main" noGrp="1"/>
          </p:cNvSpPr>
          <p:nvPr/>
        </p:nvSpPr>
        <p:spPr>
          <a:xfrm xmlns:a="http://schemas.openxmlformats.org/drawingml/2006/main">
            <a:off x="666750" y="5572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94D"/>
                </a:solidFill>
                <a:latin typeface="Helvetica Neue"/>
                <a:ea typeface="Helvetica Neue"/>
                <a:cs typeface="Helvetica Neue"/>
              </a:defRPr>
            </a:pPr>
            <a:r>
              <a:rPr sz="1725" b="0">
                <a:solidFill>
                  <a:srgbClr val="18394D"/>
                </a:solidFill>
                <a:latin typeface="Helvetica Neue"/>
                <a:ea typeface="Helvetica Neue"/>
                <a:cs typeface="Helvetica Neue"/>
              </a:rPr>
              <a:t>Expanded pool, seed 20260929. Fitting averages can retain localized errors.</a:t>
            </a:r>
          </a:p>
        </p:txBody>
      </p:sp>
    </p:spTree>
    <p:extLst>
      <p:ext uri="{BB962C8B-B14F-4D97-AF65-F5344CB8AC3E}">
        <p14:creationId xmlns:p14="http://schemas.microsoft.com/office/powerpoint/2010/main" val="26516408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6A6565-3314-4AC9-944F-D5C118DEE430}"/>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Remaining N and HN residuals</a:t>
            </a:r>
          </a:p>
        </p:txBody>
      </p:sp>
      <p:sp>
        <p:nvSpPr>
          <p:cNvPr id="2" name="">
            <a:extLst xmlns:a="http://schemas.openxmlformats.org/drawingml/2006/main">
              <a:ext uri="{FF2B5EF4-FFF2-40B4-BE49-F238E27FC236}">
                <a16:creationId xmlns:a16="http://schemas.microsoft.com/office/drawing/2014/main" id="{B4CE5665-3658-4760-AD06-26B2D89A3099}"/>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2F32FA65-85F6-4021-92EE-A9D44A2BECA9}"/>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30</a:t>
            </a:r>
          </a:p>
        </p:txBody>
      </p:sp>
      <p:sp>
        <p:nvSpPr>
          <p:cNvPr id="4" name="">
            <a:extLst xmlns:a="http://schemas.openxmlformats.org/drawingml/2006/main">
              <a:ext uri="{FF2B5EF4-FFF2-40B4-BE49-F238E27FC236}">
                <a16:creationId xmlns:a16="http://schemas.microsoft.com/office/drawing/2014/main" id="{4E644F84-AD2F-4BFA-B0DB-6325198786DB}"/>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graphicFrame>
        <p:nvGraphicFramePr>
          <p:cNvPr id="11" name=""/>
          <p:cNvGraphicFramePr/>
          <p:nvPr/>
        </p:nvGraphicFramePr>
        <p:xfrm>
          <a:off xmlns:a="http://schemas.openxmlformats.org/drawingml/2006/main" x="619125" y="1571625"/>
          <a:ext xmlns:a="http://schemas.openxmlformats.org/drawingml/2006/main" cx="10953750" cy="3095625"/>
        </p:xfrm>
        <a:graphic xmlns:a="http://schemas.openxmlformats.org/drawingml/2006/main">
          <a:graphicData uri="http://schemas.openxmlformats.org/drawingml/2006/table">
            <a:tbl>
              <a:tblPr/>
              <a:tblGrid>
                <a:gridCol w="4286250"/>
                <a:gridCol w="3333750"/>
                <a:gridCol w="3333750"/>
              </a:tblGrid>
              <a:tr h="619125">
                <a:tc>
                  <a:txBody>
                    <a:bodyPr/>
                    <a:lstStyle/>
                    <a:p>
                      <a:r>
                        <a:rPr sz="1800" b="1">
                          <a:solidFill>
                            <a:srgbClr val="FFFFFF"/>
                          </a:solidFill>
                          <a:latin typeface="Helvetica Neue"/>
                          <a:ea typeface="Helvetica Neue"/>
                          <a:cs typeface="Helvetica Neue"/>
                        </a:rPr>
                        <a:t>Condition</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N RMSD (ppm)</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HN RMSD (ppm)</a:t>
                      </a:r>
                    </a:p>
                  </a:txBody>
                  <a:tcPr marL="91440" marR="91440" marT="45720" marB="45720">
                    <a:solidFill>
                      <a:srgbClr val="18394D"/>
                    </a:solidFill>
                  </a:tcPr>
                </a:tc>
              </a:tr>
              <a:tr h="619125">
                <a:tc>
                  <a:txBody>
                    <a:bodyPr/>
                    <a:lstStyle/>
                    <a:p>
                      <a:r>
                        <a:rPr sz="1800" b="0">
                          <a:solidFill>
                            <a:srgbClr val="18394D"/>
                          </a:solidFill>
                          <a:latin typeface="Helvetica Neue"/>
                          <a:ea typeface="Helvetica Neue"/>
                          <a:cs typeface="Helvetica Neue"/>
                        </a:rPr>
                        <a:t>WT base</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0.779–0.792</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0.217–0.219</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WT expanded</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0.763–0.778</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0.217–0.218</a:t>
                      </a:r>
                    </a:p>
                  </a:txBody>
                  <a:tcPr marL="91440" marR="91440" marT="45720" marB="45720">
                    <a:solidFill>
                      <a:srgbClr val="FFFFFF"/>
                    </a:solidFill>
                  </a:tcPr>
                </a:tc>
              </a:tr>
              <a:tr h="619125">
                <a:tc>
                  <a:txBody>
                    <a:bodyPr/>
                    <a:lstStyle/>
                    <a:p>
                      <a:r>
                        <a:rPr sz="1800" b="0">
                          <a:solidFill>
                            <a:srgbClr val="18394D"/>
                          </a:solidFill>
                          <a:latin typeface="Helvetica Neue"/>
                          <a:ea typeface="Helvetica Neue"/>
                          <a:cs typeface="Helvetica Neue"/>
                        </a:rPr>
                        <a:t>AA base</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1.324–1.351</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0.155–0.158</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AA expanded</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1.321–1.338</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0.156–0.158</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6FD4292-06AB-4F54-BA40-A9E7703FA375}"/>
              </a:ext>
            </a:extLst>
          </p:cNvPr>
          <p:cNvSpPr>
            <a:spLocks xmlns:a="http://schemas.openxmlformats.org/drawingml/2006/main" noGrp="1"/>
          </p:cNvSpPr>
          <p:nvPr/>
        </p:nvSpPr>
        <p:spPr>
          <a:xfrm xmlns:a="http://schemas.openxmlformats.org/drawingml/2006/main">
            <a:off x="666750" y="50482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94D"/>
                </a:solidFill>
                <a:latin typeface="Helvetica Neue"/>
                <a:ea typeface="Helvetica Neue"/>
                <a:cs typeface="Helvetica Neue"/>
              </a:defRPr>
            </a:pPr>
            <a:r>
              <a:rPr sz="2025" b="0">
                <a:solidFill>
                  <a:srgbClr val="18394D"/>
                </a:solidFill>
                <a:latin typeface="Helvetica Neue"/>
                <a:ea typeface="Helvetica Neue"/>
                <a:cs typeface="Helvetica Neue"/>
              </a:rPr>
              <a:t>AA nitrogen remains the largest nucleus-specific residual in ppm.</a:t>
            </a:r>
          </a:p>
        </p:txBody>
      </p:sp>
    </p:spTree>
    <p:extLst>
      <p:ext uri="{BB962C8B-B14F-4D97-AF65-F5344CB8AC3E}">
        <p14:creationId xmlns:p14="http://schemas.microsoft.com/office/powerpoint/2010/main" val="15535302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066ED7-2066-46CA-A5FA-0A12013A3C4E}"/>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SAXS: residual structure persists</a:t>
            </a:r>
          </a:p>
        </p:txBody>
      </p:sp>
      <p:sp>
        <p:nvSpPr>
          <p:cNvPr id="2" name="">
            <a:extLst xmlns:a="http://schemas.openxmlformats.org/drawingml/2006/main">
              <a:ext uri="{FF2B5EF4-FFF2-40B4-BE49-F238E27FC236}">
                <a16:creationId xmlns:a16="http://schemas.microsoft.com/office/drawing/2014/main" id="{A1BD47A7-6F8C-40A1-9E7C-9C9E132D101A}"/>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FBC4884B-850E-4E50-8E50-416758FDCD88}"/>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31</a:t>
            </a:r>
          </a:p>
        </p:txBody>
      </p:sp>
      <p:sp>
        <p:nvSpPr>
          <p:cNvPr id="4" name="">
            <a:extLst xmlns:a="http://schemas.openxmlformats.org/drawingml/2006/main">
              <a:ext uri="{FF2B5EF4-FFF2-40B4-BE49-F238E27FC236}">
                <a16:creationId xmlns:a16="http://schemas.microsoft.com/office/drawing/2014/main" id="{93BEB980-F9DA-4EA0-B6A1-E0181C0D75FB}"/>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graphicFrame>
        <p:nvGraphicFramePr>
          <p:cNvPr id="12" name="Chart"/>
          <p:cNvGraphicFramePr/>
          <p:nvPr/>
        </p:nvGraphicFramePr>
        <p:xfrm>
          <a:off xmlns:a="http://schemas.openxmlformats.org/drawingml/2006/main" x="571500" y="16192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6a1275f09dc94af6"/>
          </a:graphicData>
        </a:graphic>
      </p:graphicFrame>
      <p:graphicFrame>
        <p:nvGraphicFramePr>
          <p:cNvPr id="13" name="Chart"/>
          <p:cNvGraphicFramePr/>
          <p:nvPr/>
        </p:nvGraphicFramePr>
        <p:xfrm>
          <a:off xmlns:a="http://schemas.openxmlformats.org/drawingml/2006/main" x="6286500" y="1619250"/>
          <a:ext xmlns:a="http://schemas.openxmlformats.org/drawingml/2006/main" cx="5381625" cy="3714750"/>
        </p:xfrm>
        <a:graphic xmlns:a="http://schemas.openxmlformats.org/drawingml/2006/main">
          <a:graphicData uri="http://schemas.openxmlformats.org/drawingml/2006/chart">
            <c:chart xmlns:r="http://schemas.openxmlformats.org/officeDocument/2006/relationships" xmlns:c="http://schemas.openxmlformats.org/drawingml/2006/chart" r:id="R6694a3631f98462c"/>
          </a:graphicData>
        </a:graphic>
      </p:graphicFrame>
      <p:sp>
        <p:nvSpPr>
          <p:cNvPr id="7" name="">
            <a:extLst xmlns:a="http://schemas.openxmlformats.org/drawingml/2006/main">
              <a:ext uri="{FF2B5EF4-FFF2-40B4-BE49-F238E27FC236}">
                <a16:creationId xmlns:a16="http://schemas.microsoft.com/office/drawing/2014/main" id="{8B446308-2E00-4C18-BE3A-04B969CA199E}"/>
              </a:ext>
            </a:extLst>
          </p:cNvPr>
          <p:cNvSpPr>
            <a:spLocks xmlns:a="http://schemas.openxmlformats.org/drawingml/2006/main" noGrp="1"/>
          </p:cNvSpPr>
          <p:nvPr/>
        </p:nvSpPr>
        <p:spPr>
          <a:xfrm xmlns:a="http://schemas.openxmlformats.org/drawingml/2006/main">
            <a:off x="666750" y="55721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94D"/>
                </a:solidFill>
                <a:latin typeface="Helvetica Neue"/>
                <a:ea typeface="Helvetica Neue"/>
                <a:cs typeface="Helvetica Neue"/>
              </a:defRPr>
            </a:pPr>
            <a:r>
              <a:rPr sz="1725" b="0">
                <a:solidFill>
                  <a:srgbClr val="18394D"/>
                </a:solidFill>
                <a:latin typeface="Helvetica Neue"/>
                <a:ea typeface="Helvetica Neue"/>
                <a:cs typeface="Helvetica Neue"/>
              </a:rPr>
              <a:t>Structured residuals indicate that mean size alone is not a sufficient SAXS check.</a:t>
            </a:r>
          </a:p>
        </p:txBody>
      </p:sp>
    </p:spTree>
    <p:extLst>
      <p:ext uri="{BB962C8B-B14F-4D97-AF65-F5344CB8AC3E}">
        <p14:creationId xmlns:p14="http://schemas.microsoft.com/office/powerpoint/2010/main" val="17709944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5A0014-05E7-473E-A414-8395EDF498BD}"/>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Selection repeatability and convergence</a:t>
            </a:r>
          </a:p>
        </p:txBody>
      </p:sp>
      <p:sp>
        <p:nvSpPr>
          <p:cNvPr id="2" name="">
            <a:extLst xmlns:a="http://schemas.openxmlformats.org/drawingml/2006/main">
              <a:ext uri="{FF2B5EF4-FFF2-40B4-BE49-F238E27FC236}">
                <a16:creationId xmlns:a16="http://schemas.microsoft.com/office/drawing/2014/main" id="{D92D7A67-336B-45A8-B8E0-F47637FD24BF}"/>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2201B661-8708-45A0-8003-F0272CD2BB56}"/>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32</a:t>
            </a:r>
          </a:p>
        </p:txBody>
      </p:sp>
      <p:sp>
        <p:nvSpPr>
          <p:cNvPr id="4" name="">
            <a:extLst xmlns:a="http://schemas.openxmlformats.org/drawingml/2006/main">
              <a:ext uri="{FF2B5EF4-FFF2-40B4-BE49-F238E27FC236}">
                <a16:creationId xmlns:a16="http://schemas.microsoft.com/office/drawing/2014/main" id="{542EB312-C108-4E8A-9FFA-1E85F0205936}"/>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graphicFrame>
        <p:nvGraphicFramePr>
          <p:cNvPr id="11" name=""/>
          <p:cNvGraphicFramePr/>
          <p:nvPr/>
        </p:nvGraphicFramePr>
        <p:xfrm>
          <a:off xmlns:a="http://schemas.openxmlformats.org/drawingml/2006/main" x="619125" y="1571625"/>
          <a:ext xmlns:a="http://schemas.openxmlformats.org/drawingml/2006/main" cx="10953750" cy="3095625"/>
        </p:xfrm>
        <a:graphic xmlns:a="http://schemas.openxmlformats.org/drawingml/2006/main">
          <a:graphicData uri="http://schemas.openxmlformats.org/drawingml/2006/table">
            <a:tbl>
              <a:tblPr/>
              <a:tblGrid>
                <a:gridCol w="3810000"/>
                <a:gridCol w="3333750"/>
                <a:gridCol w="3810000"/>
              </a:tblGrid>
              <a:tr h="619125">
                <a:tc>
                  <a:txBody>
                    <a:bodyPr/>
                    <a:lstStyle/>
                    <a:p>
                      <a:r>
                        <a:rPr sz="1800" b="1">
                          <a:solidFill>
                            <a:srgbClr val="FFFFFF"/>
                          </a:solidFill>
                          <a:latin typeface="Helvetica Neue"/>
                          <a:ea typeface="Helvetica Neue"/>
                          <a:cs typeface="Helvetica Neue"/>
                        </a:rPr>
                        <a:t>Condition</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Max helix seed spread</a:t>
                      </a:r>
                    </a:p>
                  </a:txBody>
                  <a:tcPr marL="91440" marR="91440" marT="45720" marB="45720">
                    <a:solidFill>
                      <a:srgbClr val="18394D"/>
                    </a:solidFill>
                  </a:tcPr>
                </a:tc>
                <a:tc>
                  <a:txBody>
                    <a:bodyPr/>
                    <a:lstStyle/>
                    <a:p>
                      <a:r>
                        <a:rPr sz="1800" b="1">
                          <a:solidFill>
                            <a:srgbClr val="FFFFFF"/>
                          </a:solidFill>
                          <a:latin typeface="Helvetica Neue"/>
                          <a:ea typeface="Helvetica Neue"/>
                          <a:cs typeface="Helvetica Neue"/>
                        </a:rPr>
                        <a:t>Mean Cα Rg across seeds</a:t>
                      </a:r>
                    </a:p>
                  </a:txBody>
                  <a:tcPr marL="91440" marR="91440" marT="45720" marB="45720">
                    <a:solidFill>
                      <a:srgbClr val="18394D"/>
                    </a:solidFill>
                  </a:tcPr>
                </a:tc>
              </a:tr>
              <a:tr h="619125">
                <a:tc>
                  <a:txBody>
                    <a:bodyPr/>
                    <a:lstStyle/>
                    <a:p>
                      <a:r>
                        <a:rPr sz="1800" b="0">
                          <a:solidFill>
                            <a:srgbClr val="18394D"/>
                          </a:solidFill>
                          <a:latin typeface="Helvetica Neue"/>
                          <a:ea typeface="Helvetica Neue"/>
                          <a:cs typeface="Helvetica Neue"/>
                        </a:rPr>
                        <a:t>WT base</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0.040</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31.99–32.20 Å</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WT expanded</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0.036</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32.00–32.06 Å</a:t>
                      </a:r>
                    </a:p>
                  </a:txBody>
                  <a:tcPr marL="91440" marR="91440" marT="45720" marB="45720">
                    <a:solidFill>
                      <a:srgbClr val="FFFFFF"/>
                    </a:solidFill>
                  </a:tcPr>
                </a:tc>
              </a:tr>
              <a:tr h="619125">
                <a:tc>
                  <a:txBody>
                    <a:bodyPr/>
                    <a:lstStyle/>
                    <a:p>
                      <a:r>
                        <a:rPr sz="1800" b="0">
                          <a:solidFill>
                            <a:srgbClr val="18394D"/>
                          </a:solidFill>
                          <a:latin typeface="Helvetica Neue"/>
                          <a:ea typeface="Helvetica Neue"/>
                          <a:cs typeface="Helvetica Neue"/>
                        </a:rPr>
                        <a:t>AA base</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0.022</a:t>
                      </a:r>
                    </a:p>
                  </a:txBody>
                  <a:tcPr marL="91440" marR="91440" marT="45720" marB="45720">
                    <a:solidFill>
                      <a:srgbClr val="F0F5F7"/>
                    </a:solidFill>
                  </a:tcPr>
                </a:tc>
                <a:tc>
                  <a:txBody>
                    <a:bodyPr/>
                    <a:lstStyle/>
                    <a:p>
                      <a:r>
                        <a:rPr sz="1800" b="0">
                          <a:solidFill>
                            <a:srgbClr val="18394D"/>
                          </a:solidFill>
                          <a:latin typeface="Helvetica Neue"/>
                          <a:ea typeface="Helvetica Neue"/>
                          <a:cs typeface="Helvetica Neue"/>
                        </a:rPr>
                        <a:t>31.72–31.77 Å</a:t>
                      </a:r>
                    </a:p>
                  </a:txBody>
                  <a:tcPr marL="91440" marR="91440" marT="45720" marB="45720">
                    <a:solidFill>
                      <a:srgbClr val="F0F5F7"/>
                    </a:solidFill>
                  </a:tcPr>
                </a:tc>
              </a:tr>
              <a:tr h="619125">
                <a:tc>
                  <a:txBody>
                    <a:bodyPr/>
                    <a:lstStyle/>
                    <a:p>
                      <a:r>
                        <a:rPr sz="1800" b="0">
                          <a:solidFill>
                            <a:srgbClr val="18394D"/>
                          </a:solidFill>
                          <a:latin typeface="Helvetica Neue"/>
                          <a:ea typeface="Helvetica Neue"/>
                          <a:cs typeface="Helvetica Neue"/>
                        </a:rPr>
                        <a:t>AA expanded</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0.026</a:t>
                      </a:r>
                    </a:p>
                  </a:txBody>
                  <a:tcPr marL="91440" marR="91440" marT="45720" marB="45720">
                    <a:solidFill>
                      <a:srgbClr val="FFFFFF"/>
                    </a:solidFill>
                  </a:tcPr>
                </a:tc>
                <a:tc>
                  <a:txBody>
                    <a:bodyPr/>
                    <a:lstStyle/>
                    <a:p>
                      <a:r>
                        <a:rPr sz="1800" b="0">
                          <a:solidFill>
                            <a:srgbClr val="18394D"/>
                          </a:solidFill>
                          <a:latin typeface="Helvetica Neue"/>
                          <a:ea typeface="Helvetica Neue"/>
                          <a:cs typeface="Helvetica Neue"/>
                        </a:rPr>
                        <a:t>31.64–31.76 Å</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9B62668-CD49-4745-A0A7-AB34800244F5}"/>
              </a:ext>
            </a:extLst>
          </p:cNvPr>
          <p:cNvSpPr>
            <a:spLocks xmlns:a="http://schemas.openxmlformats.org/drawingml/2006/main" noGrp="1"/>
          </p:cNvSpPr>
          <p:nvPr/>
        </p:nvSpPr>
        <p:spPr>
          <a:xfrm xmlns:a="http://schemas.openxmlformats.org/drawingml/2006/main">
            <a:off x="666750" y="5000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94D"/>
                </a:solidFill>
                <a:latin typeface="Helvetica Neue"/>
                <a:ea typeface="Helvetica Neue"/>
                <a:cs typeface="Helvetica Neue"/>
              </a:defRPr>
            </a:pPr>
            <a:r>
              <a:rPr sz="1950" b="0">
                <a:solidFill>
                  <a:srgbClr val="18394D"/>
                </a:solidFill>
                <a:latin typeface="Helvetica Neue"/>
                <a:ea typeface="Helvetica Neue"/>
                <a:cs typeface="Helvetica Neue"/>
              </a:rPr>
              <a:t>Objective still improves in the last 100 generations. No independent-pool convergence claim.</a:t>
            </a:r>
          </a:p>
        </p:txBody>
      </p:sp>
    </p:spTree>
    <p:extLst>
      <p:ext uri="{BB962C8B-B14F-4D97-AF65-F5344CB8AC3E}">
        <p14:creationId xmlns:p14="http://schemas.microsoft.com/office/powerpoint/2010/main" val="136929793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B2CF1DE-D0AF-467F-B59D-00F11842B4BC}"/>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Raw pools versus the published MD ensemble</a:t>
            </a:r>
          </a:p>
        </p:txBody>
      </p:sp>
      <p:sp>
        <p:nvSpPr>
          <p:cNvPr id="2" name="">
            <a:extLst xmlns:a="http://schemas.openxmlformats.org/drawingml/2006/main">
              <a:ext uri="{FF2B5EF4-FFF2-40B4-BE49-F238E27FC236}">
                <a16:creationId xmlns:a16="http://schemas.microsoft.com/office/drawing/2014/main" id="{6459CFC0-E772-4DE1-81C4-7ACE549E2C0D}"/>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A563FD3A-3BCE-44C0-9854-C00EE2FBDC14}"/>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33</a:t>
            </a:r>
          </a:p>
        </p:txBody>
      </p:sp>
      <p:sp>
        <p:nvSpPr>
          <p:cNvPr id="4" name="">
            <a:extLst xmlns:a="http://schemas.openxmlformats.org/drawingml/2006/main">
              <a:ext uri="{FF2B5EF4-FFF2-40B4-BE49-F238E27FC236}">
                <a16:creationId xmlns:a16="http://schemas.microsoft.com/office/drawing/2014/main" id="{6EAEDE35-74D6-4FAA-8B28-183C70D3748B}"/>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Original AR analysis code and MD comparison  ·  Zhu et al., Nature Communications (2022)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f084e8d44ef4a49"/>
          <a:stretch xmlns:a="http://schemas.openxmlformats.org/drawingml/2006/main"/>
        </p:blipFill>
        <p:spPr>
          <a:xfrm xmlns:a="http://schemas.openxmlformats.org/drawingml/2006/main">
            <a:off x="476250" y="1906984"/>
            <a:ext cx="11239500" cy="304403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367D21E-DA45-45C4-A40F-1D71097D8940}"/>
              </a:ext>
            </a:extLst>
          </p:cNvPr>
          <p:cNvSpPr>
            <a:spLocks xmlns:a="http://schemas.openxmlformats.org/drawingml/2006/main" noGrp="1"/>
          </p:cNvSpPr>
          <p:nvPr/>
        </p:nvSpPr>
        <p:spPr>
          <a:xfrm xmlns:a="http://schemas.openxmlformats.org/drawingml/2006/main">
            <a:off x="619125" y="5543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94D"/>
                </a:solidFill>
                <a:latin typeface="Helvetica Neue"/>
                <a:ea typeface="Helvetica Neue"/>
                <a:cs typeface="Helvetica Neue"/>
              </a:defRPr>
            </a:pPr>
            <a:r>
              <a:rPr sz="1725" b="0">
                <a:solidFill>
                  <a:srgbClr val="18394D"/>
                </a:solidFill>
                <a:latin typeface="Helvetica Neue"/>
                <a:ea typeface="Helvetica Neue"/>
                <a:cs typeface="Helvetica Neue"/>
              </a:rPr>
              <a:t>AR 391–446; Rg in nm. Color: −RT ln(density + 10⁻⁶), T = 300 K. For raw pools this is a display transform, not a thermodynamic free energy.</a:t>
            </a:r>
          </a:p>
        </p:txBody>
      </p:sp>
    </p:spTree>
    <p:extLst>
      <p:ext uri="{BB962C8B-B14F-4D97-AF65-F5344CB8AC3E}">
        <p14:creationId xmlns:p14="http://schemas.microsoft.com/office/powerpoint/2010/main" val="1865685607"/>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8DC8AD-F9F2-4BA7-9610-D17078EAAFE7}"/>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R2_R3 contact maps</a:t>
            </a:r>
          </a:p>
        </p:txBody>
      </p:sp>
      <p:sp>
        <p:nvSpPr>
          <p:cNvPr id="2" name="">
            <a:extLst xmlns:a="http://schemas.openxmlformats.org/drawingml/2006/main">
              <a:ext uri="{FF2B5EF4-FFF2-40B4-BE49-F238E27FC236}">
                <a16:creationId xmlns:a16="http://schemas.microsoft.com/office/drawing/2014/main" id="{C367BC8E-4478-4FE3-8C24-DEB611FB6A0B}"/>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A905A4E7-36A6-413A-B181-7F73944C5AC2}"/>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34</a:t>
            </a:r>
          </a:p>
        </p:txBody>
      </p:sp>
      <p:sp>
        <p:nvSpPr>
          <p:cNvPr id="4" name="">
            <a:extLst xmlns:a="http://schemas.openxmlformats.org/drawingml/2006/main">
              <a:ext uri="{FF2B5EF4-FFF2-40B4-BE49-F238E27FC236}">
                <a16:creationId xmlns:a16="http://schemas.microsoft.com/office/drawing/2014/main" id="{91D81273-CC6C-413A-B4B3-315FEEB670F1}"/>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Original AR analysis code and MD comparison  ·  Zhu et al., Nature Communications (2022)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c11fffa9ef34caa"/>
          <a:stretch xmlns:a="http://schemas.openxmlformats.org/drawingml/2006/main"/>
        </p:blipFill>
        <p:spPr>
          <a:xfrm xmlns:a="http://schemas.openxmlformats.org/drawingml/2006/main">
            <a:off x="476250" y="1689554"/>
            <a:ext cx="11239500" cy="347889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C8EF56A-C401-4261-918B-23C9180D10E2}"/>
              </a:ext>
            </a:extLst>
          </p:cNvPr>
          <p:cNvSpPr>
            <a:spLocks xmlns:a="http://schemas.openxmlformats.org/drawingml/2006/main" noGrp="1"/>
          </p:cNvSpPr>
          <p:nvPr/>
        </p:nvSpPr>
        <p:spPr>
          <a:xfrm xmlns:a="http://schemas.openxmlformats.org/drawingml/2006/main">
            <a:off x="619125" y="55435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94D"/>
                </a:solidFill>
                <a:latin typeface="Helvetica Neue"/>
                <a:ea typeface="Helvetica Neue"/>
                <a:cs typeface="Helvetica Neue"/>
              </a:defRPr>
            </a:pPr>
            <a:r>
              <a:rPr sz="1725" b="0">
                <a:solidFill>
                  <a:srgbClr val="18394D"/>
                </a:solidFill>
                <a:latin typeface="Helvetica Neue"/>
                <a:ea typeface="Helvetica Neue"/>
                <a:cs typeface="Helvetica Neue"/>
              </a:rPr>
              <a:t>Identical residue segment and contact definition. MD is apo WT; no AA MD comparison is implied.</a:t>
            </a:r>
          </a:p>
        </p:txBody>
      </p:sp>
    </p:spTree>
    <p:extLst>
      <p:ext uri="{BB962C8B-B14F-4D97-AF65-F5344CB8AC3E}">
        <p14:creationId xmlns:p14="http://schemas.microsoft.com/office/powerpoint/2010/main" val="135564335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4A5E5D4-70B6-4F07-B3F6-18A83A9066B4}"/>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bAIes: structural prior</a:t>
            </a:r>
          </a:p>
        </p:txBody>
      </p:sp>
      <p:sp>
        <p:nvSpPr>
          <p:cNvPr id="2" name="">
            <a:extLst xmlns:a="http://schemas.openxmlformats.org/drawingml/2006/main">
              <a:ext uri="{FF2B5EF4-FFF2-40B4-BE49-F238E27FC236}">
                <a16:creationId xmlns:a16="http://schemas.microsoft.com/office/drawing/2014/main" id="{E8DDF4AC-0300-4E90-905C-70552BB55456}"/>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3E1867BA-8E40-40D7-9B06-B24CB2780935}"/>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35</a:t>
            </a:r>
          </a:p>
        </p:txBody>
      </p:sp>
      <p:sp>
        <p:nvSpPr>
          <p:cNvPr id="4" name="">
            <a:extLst xmlns:a="http://schemas.openxmlformats.org/drawingml/2006/main">
              <a:ext uri="{FF2B5EF4-FFF2-40B4-BE49-F238E27FC236}">
                <a16:creationId xmlns:a16="http://schemas.microsoft.com/office/drawing/2014/main" id="{47F7E14C-BC72-412E-B4E9-B7B9FD241E24}"/>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Schnapka et al., Nature Communications (2026)  ·  bAIes-IDP source and tutorial</a:t>
            </a:r>
          </a:p>
        </p:txBody>
      </p:sp>
      <p:sp>
        <p:nvSpPr>
          <p:cNvPr id="5" name="">
            <a:extLst xmlns:a="http://schemas.openxmlformats.org/drawingml/2006/main">
              <a:ext uri="{FF2B5EF4-FFF2-40B4-BE49-F238E27FC236}">
                <a16:creationId xmlns:a16="http://schemas.microsoft.com/office/drawing/2014/main" id="{83AB3B46-0950-4636-A6CB-5F56BA4CDE53}"/>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p₀(x) ∝ exp[−Eᴿᶜ(x)/(kBT)]</a:t>
            </a:r>
          </a:p>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Eᴿᶜ = Eᶠᶠ + Σᵢ Eᶜᴹᴬᴾ(φᵢ, ψᵢ)</a:t>
            </a:r>
          </a:p>
        </p:txBody>
      </p:sp>
      <p:sp>
        <p:nvSpPr>
          <p:cNvPr id="6" name="">
            <a:extLst xmlns:a="http://schemas.openxmlformats.org/drawingml/2006/main">
              <a:ext uri="{FF2B5EF4-FFF2-40B4-BE49-F238E27FC236}">
                <a16:creationId xmlns:a16="http://schemas.microsoft.com/office/drawing/2014/main" id="{81AA7987-5406-4FE1-BB47-7D8C3003D80D}"/>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The random-coil prior combines bonded terms, repulsive nonbonded interactions and residue-dependent torsion corrections.</a:t>
            </a:r>
          </a:p>
        </p:txBody>
      </p:sp>
      <p:sp>
        <p:nvSpPr>
          <p:cNvPr id="7" name="">
            <a:extLst xmlns:a="http://schemas.openxmlformats.org/drawingml/2006/main">
              <a:ext uri="{FF2B5EF4-FFF2-40B4-BE49-F238E27FC236}">
                <a16:creationId xmlns:a16="http://schemas.microsoft.com/office/drawing/2014/main" id="{167F276B-CCA2-4807-AE0A-C83C971FA7CC}"/>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Eᶜᴹᴬᴾ = −kBT ln(Pcoil / PFF) adjusts torsion sampling toward coil statistics.</a:t>
            </a:r>
          </a:p>
        </p:txBody>
      </p:sp>
      <p:sp>
        <p:nvSpPr>
          <p:cNvPr id="8" name="">
            <a:extLst xmlns:a="http://schemas.openxmlformats.org/drawingml/2006/main">
              <a:ext uri="{FF2B5EF4-FFF2-40B4-BE49-F238E27FC236}">
                <a16:creationId xmlns:a16="http://schemas.microsoft.com/office/drawing/2014/main" id="{4AFD9440-7999-43E1-9F0D-854D2F3ECEC5}"/>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This supplies a physical sampling model for the AF2-informed posterior.</a:t>
            </a:r>
          </a:p>
        </p:txBody>
      </p:sp>
    </p:spTree>
    <p:extLst>
      <p:ext uri="{BB962C8B-B14F-4D97-AF65-F5344CB8AC3E}">
        <p14:creationId xmlns:p14="http://schemas.microsoft.com/office/powerpoint/2010/main" val="140402632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1041E6-1780-426E-85C7-9B1CD9AD1356}"/>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bAIes: distogram likelihood</a:t>
            </a:r>
          </a:p>
        </p:txBody>
      </p:sp>
      <p:sp>
        <p:nvSpPr>
          <p:cNvPr id="2" name="">
            <a:extLst xmlns:a="http://schemas.openxmlformats.org/drawingml/2006/main">
              <a:ext uri="{FF2B5EF4-FFF2-40B4-BE49-F238E27FC236}">
                <a16:creationId xmlns:a16="http://schemas.microsoft.com/office/drawing/2014/main" id="{424977C4-4B72-40F8-9A20-F741543CBABD}"/>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62591373-E0E2-43B2-90DB-92A86D8853E8}"/>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36</a:t>
            </a:r>
          </a:p>
        </p:txBody>
      </p:sp>
      <p:sp>
        <p:nvSpPr>
          <p:cNvPr id="4" name="">
            <a:extLst xmlns:a="http://schemas.openxmlformats.org/drawingml/2006/main">
              <a:ext uri="{FF2B5EF4-FFF2-40B4-BE49-F238E27FC236}">
                <a16:creationId xmlns:a16="http://schemas.microsoft.com/office/drawing/2014/main" id="{BE60BF7B-B7A5-4E33-9AE4-09987DBA23FD}"/>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Schnapka et al., Nature Communications (2026)  ·  bAIes-IDP source and tutorial</a:t>
            </a:r>
          </a:p>
        </p:txBody>
      </p:sp>
      <p:sp>
        <p:nvSpPr>
          <p:cNvPr id="5" name="">
            <a:extLst xmlns:a="http://schemas.openxmlformats.org/drawingml/2006/main">
              <a:ext uri="{FF2B5EF4-FFF2-40B4-BE49-F238E27FC236}">
                <a16:creationId xmlns:a16="http://schemas.microsoft.com/office/drawing/2014/main" id="{BFBED860-DB2A-4E0E-BD86-9B0FDBFD7B75}"/>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Lᵢ(x) = erf[Δᵢ/(√2 σᵢ,min)] / (2Δᵢ)</a:t>
            </a:r>
          </a:p>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Epost = Eᴿᶜ − kBT Σᵢ ln Lᵢ + constant</a:t>
            </a:r>
          </a:p>
        </p:txBody>
      </p:sp>
      <p:sp>
        <p:nvSpPr>
          <p:cNvPr id="6" name="">
            <a:extLst xmlns:a="http://schemas.openxmlformats.org/drawingml/2006/main">
              <a:ext uri="{FF2B5EF4-FFF2-40B4-BE49-F238E27FC236}">
                <a16:creationId xmlns:a16="http://schemas.microsoft.com/office/drawing/2014/main" id="{32F30928-870D-4AFE-8ABB-E1F4B4E319BE}"/>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Δᵢ = dᵢ(x) − dᵢᴬᶠ; σᵢ,min comes from the fitted distogram width.</a:t>
            </a:r>
          </a:p>
        </p:txBody>
      </p:sp>
      <p:sp>
        <p:nvSpPr>
          <p:cNvPr id="7" name="">
            <a:extLst xmlns:a="http://schemas.openxmlformats.org/drawingml/2006/main">
              <a:ext uri="{FF2B5EF4-FFF2-40B4-BE49-F238E27FC236}">
                <a16:creationId xmlns:a16="http://schemas.microsoft.com/office/drawing/2014/main" id="{72306198-C405-4B23-81BF-6D7A0926C2A4}"/>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A Gaussian distance likelihood is marginalized over σ ≥ σmin with a 1/σ prior.</a:t>
            </a:r>
          </a:p>
        </p:txBody>
      </p:sp>
      <p:sp>
        <p:nvSpPr>
          <p:cNvPr id="8" name="">
            <a:extLst xmlns:a="http://schemas.openxmlformats.org/drawingml/2006/main">
              <a:ext uri="{FF2B5EF4-FFF2-40B4-BE49-F238E27FC236}">
                <a16:creationId xmlns:a16="http://schemas.microsoft.com/office/drawing/2014/main" id="{05AB5BF3-8A6D-4BF5-933D-C72FC7E18125}"/>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At Δᵢ = 0, use Lᵢ = 1/(√(2π) σᵢ,min).</a:t>
            </a:r>
          </a:p>
        </p:txBody>
      </p:sp>
    </p:spTree>
    <p:extLst>
      <p:ext uri="{BB962C8B-B14F-4D97-AF65-F5344CB8AC3E}">
        <p14:creationId xmlns:p14="http://schemas.microsoft.com/office/powerpoint/2010/main" val="19573633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D178C9-25B3-4F9E-9DED-0AD5CB46795A}"/>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bAIes status for Tau-5*</a:t>
            </a:r>
          </a:p>
        </p:txBody>
      </p:sp>
      <p:sp>
        <p:nvSpPr>
          <p:cNvPr id="2" name="">
            <a:extLst xmlns:a="http://schemas.openxmlformats.org/drawingml/2006/main">
              <a:ext uri="{FF2B5EF4-FFF2-40B4-BE49-F238E27FC236}">
                <a16:creationId xmlns:a16="http://schemas.microsoft.com/office/drawing/2014/main" id="{1ED35381-E97C-4009-B99E-1A1E892E9330}"/>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F78ECF4B-57F8-4A83-BAA4-D774131DA3A3}"/>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37</a:t>
            </a:r>
          </a:p>
        </p:txBody>
      </p:sp>
      <p:sp>
        <p:nvSpPr>
          <p:cNvPr id="4" name="">
            <a:extLst xmlns:a="http://schemas.openxmlformats.org/drawingml/2006/main">
              <a:ext uri="{FF2B5EF4-FFF2-40B4-BE49-F238E27FC236}">
                <a16:creationId xmlns:a16="http://schemas.microsoft.com/office/drawing/2014/main" id="{4ED80B46-FE4B-49F9-9861-241D909771D1}"/>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bAIes-IDP source and tutorial  ·  Current analysis: code, selected members and numerical results</a:t>
            </a:r>
          </a:p>
        </p:txBody>
      </p:sp>
      <p:sp>
        <p:nvSpPr>
          <p:cNvPr id="5" name="">
            <a:extLst xmlns:a="http://schemas.openxmlformats.org/drawingml/2006/main">
              <a:ext uri="{FF2B5EF4-FFF2-40B4-BE49-F238E27FC236}">
                <a16:creationId xmlns:a16="http://schemas.microsoft.com/office/drawing/2014/main" id="{425EC967-C102-437D-916F-C6D3A0C1F839}"/>
              </a:ext>
            </a:extLst>
          </p:cNvPr>
          <p:cNvSpPr>
            <a:spLocks xmlns:a="http://schemas.openxmlformats.org/drawingml/2006/main" noGrp="1"/>
          </p:cNvSpPr>
          <p:nvPr/>
        </p:nvSpPr>
        <p:spPr>
          <a:xfrm xmlns:a="http://schemas.openxmlformats.org/drawingml/2006/main">
            <a:off x="666750" y="1571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WT and AA: all five AF2 models and 120 × 120 × 64 distograms are stored locally.</a:t>
            </a:r>
          </a:p>
        </p:txBody>
      </p:sp>
      <p:sp>
        <p:nvSpPr>
          <p:cNvPr id="6" name="">
            <a:extLst xmlns:a="http://schemas.openxmlformats.org/drawingml/2006/main">
              <a:ext uri="{FF2B5EF4-FFF2-40B4-BE49-F238E27FC236}">
                <a16:creationId xmlns:a16="http://schemas.microsoft.com/office/drawing/2014/main" id="{A4541041-045B-49E3-9FDE-9F1128A535DF}"/>
              </a:ext>
            </a:extLst>
          </p:cNvPr>
          <p:cNvSpPr>
            <a:spLocks xmlns:a="http://schemas.openxmlformats.org/drawingml/2006/main" noGrp="1"/>
          </p:cNvSpPr>
          <p:nvPr/>
        </p:nvSpPr>
        <p:spPr>
          <a:xfrm xmlns:a="http://schemas.openxmlformats.org/drawingml/2006/main">
            <a:off x="666750" y="2571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Local LAMMPS and PLUMED compilation completed; the tutorial smoke test stops at a PLUMED API-version compatibility check.</a:t>
            </a:r>
          </a:p>
        </p:txBody>
      </p:sp>
      <p:sp>
        <p:nvSpPr>
          <p:cNvPr id="7" name="">
            <a:extLst xmlns:a="http://schemas.openxmlformats.org/drawingml/2006/main">
              <a:ext uri="{FF2B5EF4-FFF2-40B4-BE49-F238E27FC236}">
                <a16:creationId xmlns:a16="http://schemas.microsoft.com/office/drawing/2014/main" id="{811609A8-0BBF-46E7-81E9-66426070D19A}"/>
              </a:ext>
            </a:extLst>
          </p:cNvPr>
          <p:cNvSpPr>
            <a:spLocks xmlns:a="http://schemas.openxmlformats.org/drawingml/2006/main" noGrp="1"/>
          </p:cNvSpPr>
          <p:nvPr/>
        </p:nvSpPr>
        <p:spPr>
          <a:xfrm xmlns:a="http://schemas.openxmlformats.org/drawingml/2006/main">
            <a:off x="666750" y="3571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No bAIes Tau-5* production ensemble is available yet. AF2 model files are not a substitute for that ensemble.</a:t>
            </a:r>
          </a:p>
        </p:txBody>
      </p:sp>
    </p:spTree>
    <p:extLst>
      <p:ext uri="{BB962C8B-B14F-4D97-AF65-F5344CB8AC3E}">
        <p14:creationId xmlns:p14="http://schemas.microsoft.com/office/powerpoint/2010/main" val="105737876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5CC373-465D-4615-BBA7-EF312CB98E31}"/>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DENSS and independent information</a:t>
            </a:r>
          </a:p>
        </p:txBody>
      </p:sp>
      <p:sp>
        <p:nvSpPr>
          <p:cNvPr id="2" name="">
            <a:extLst xmlns:a="http://schemas.openxmlformats.org/drawingml/2006/main">
              <a:ext uri="{FF2B5EF4-FFF2-40B4-BE49-F238E27FC236}">
                <a16:creationId xmlns:a16="http://schemas.microsoft.com/office/drawing/2014/main" id="{9D9E6496-321E-461F-88FB-E909BE0978A8}"/>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EE19E5E5-A34B-41B4-8742-8448A6CBA05F}"/>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38</a:t>
            </a:r>
          </a:p>
        </p:txBody>
      </p:sp>
      <p:sp>
        <p:nvSpPr>
          <p:cNvPr id="4" name="">
            <a:extLst xmlns:a="http://schemas.openxmlformats.org/drawingml/2006/main">
              <a:ext uri="{FF2B5EF4-FFF2-40B4-BE49-F238E27FC236}">
                <a16:creationId xmlns:a16="http://schemas.microsoft.com/office/drawing/2014/main" id="{D2D7ADBB-AA4A-4577-9177-926D17378D47}"/>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Grant, Nature Methods (2018)</a:t>
            </a:r>
          </a:p>
        </p:txBody>
      </p:sp>
      <p:sp>
        <p:nvSpPr>
          <p:cNvPr id="5" name="">
            <a:extLst xmlns:a="http://schemas.openxmlformats.org/drawingml/2006/main">
              <a:ext uri="{FF2B5EF4-FFF2-40B4-BE49-F238E27FC236}">
                <a16:creationId xmlns:a16="http://schemas.microsoft.com/office/drawing/2014/main" id="{BA8CB63A-2133-456C-A5A1-00E4BCB581F6}"/>
              </a:ext>
            </a:extLst>
          </p:cNvPr>
          <p:cNvSpPr>
            <a:spLocks xmlns:a="http://schemas.openxmlformats.org/drawingml/2006/main" noGrp="1"/>
          </p:cNvSpPr>
          <p:nvPr/>
        </p:nvSpPr>
        <p:spPr>
          <a:xfrm xmlns:a="http://schemas.openxmlformats.org/drawingml/2006/main">
            <a:off x="762000" y="1714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876B8"/>
                </a:solidFill>
                <a:latin typeface="Helvetica Neue"/>
                <a:ea typeface="Helvetica Neue"/>
                <a:cs typeface="Helvetica Neue"/>
              </a:defRPr>
            </a:pPr>
            <a:r>
              <a:rPr sz="2700" b="1">
                <a:solidFill>
                  <a:srgbClr val="2876B8"/>
                </a:solidFill>
                <a:latin typeface="Helvetica Neue"/>
                <a:ea typeface="Helvetica Neue"/>
                <a:cs typeface="Helvetica Neue"/>
              </a:rPr>
              <a:t>⟨|F(q)|²⟩  ≠  |⟨F(q)⟩|²</a:t>
            </a:r>
          </a:p>
        </p:txBody>
      </p:sp>
      <p:sp>
        <p:nvSpPr>
          <p:cNvPr id="6" name="">
            <a:extLst xmlns:a="http://schemas.openxmlformats.org/drawingml/2006/main">
              <a:ext uri="{FF2B5EF4-FFF2-40B4-BE49-F238E27FC236}">
                <a16:creationId xmlns:a16="http://schemas.microsoft.com/office/drawing/2014/main" id="{4F9858C4-36A5-4507-84F2-8239BD5DC0BD}"/>
              </a:ext>
            </a:extLst>
          </p:cNvPr>
          <p:cNvSpPr>
            <a:spLocks xmlns:a="http://schemas.openxmlformats.org/drawingml/2006/main" noGrp="1"/>
          </p:cNvSpPr>
          <p:nvPr/>
        </p:nvSpPr>
        <p:spPr>
          <a:xfrm xmlns:a="http://schemas.openxmlformats.org/drawingml/2006/main">
            <a:off x="666750" y="30003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F(q): scattering amplitude. An ensemble’s intensity is not generally the intensity of its mean density.</a:t>
            </a:r>
          </a:p>
        </p:txBody>
      </p:sp>
      <p:sp>
        <p:nvSpPr>
          <p:cNvPr id="7" name="">
            <a:extLst xmlns:a="http://schemas.openxmlformats.org/drawingml/2006/main">
              <a:ext uri="{FF2B5EF4-FFF2-40B4-BE49-F238E27FC236}">
                <a16:creationId xmlns:a16="http://schemas.microsoft.com/office/drawing/2014/main" id="{BFE12481-90C8-48BE-90B1-1EE0EC46FB53}"/>
              </a:ext>
            </a:extLst>
          </p:cNvPr>
          <p:cNvSpPr>
            <a:spLocks xmlns:a="http://schemas.openxmlformats.org/drawingml/2006/main" noGrp="1"/>
          </p:cNvSpPr>
          <p:nvPr/>
        </p:nvSpPr>
        <p:spPr>
          <a:xfrm xmlns:a="http://schemas.openxmlformats.org/drawingml/2006/main">
            <a:off x="666750" y="40005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DENSS reconstructed from the same SAXS curve is not a new independent experimental restraint.</a:t>
            </a:r>
          </a:p>
        </p:txBody>
      </p:sp>
      <p:sp>
        <p:nvSpPr>
          <p:cNvPr id="8" name="">
            <a:extLst xmlns:a="http://schemas.openxmlformats.org/drawingml/2006/main">
              <a:ext uri="{FF2B5EF4-FFF2-40B4-BE49-F238E27FC236}">
                <a16:creationId xmlns:a16="http://schemas.microsoft.com/office/drawing/2014/main" id="{C7596B6F-D8F4-4672-A458-C9DB0807C03E}"/>
              </a:ext>
            </a:extLst>
          </p:cNvPr>
          <p:cNvSpPr>
            <a:spLocks xmlns:a="http://schemas.openxmlformats.org/drawingml/2006/main" noGrp="1"/>
          </p:cNvSpPr>
          <p:nvPr/>
        </p:nvSpPr>
        <p:spPr>
          <a:xfrm xmlns:a="http://schemas.openxmlformats.org/drawingml/2006/main">
            <a:off x="666750" y="5000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Use density comparisons as structural interpretation with stated reconstruction/alignment assumptions; avoid counting the same SAXS information twice.</a:t>
            </a:r>
          </a:p>
        </p:txBody>
      </p:sp>
    </p:spTree>
    <p:extLst>
      <p:ext uri="{BB962C8B-B14F-4D97-AF65-F5344CB8AC3E}">
        <p14:creationId xmlns:p14="http://schemas.microsoft.com/office/powerpoint/2010/main" val="197527718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DD1006-6CA7-4ACB-833F-01CDDB08B326}"/>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Testing cooperative helices and hydrophobic contacts</a:t>
            </a:r>
          </a:p>
        </p:txBody>
      </p:sp>
      <p:sp>
        <p:nvSpPr>
          <p:cNvPr id="2" name="">
            <a:extLst xmlns:a="http://schemas.openxmlformats.org/drawingml/2006/main">
              <a:ext uri="{FF2B5EF4-FFF2-40B4-BE49-F238E27FC236}">
                <a16:creationId xmlns:a16="http://schemas.microsoft.com/office/drawing/2014/main" id="{61EBC7F7-5B5E-4D27-91F5-F766DA45C65E}"/>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764079D9-3B4B-4745-BAB6-34E2DECC22B6}"/>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39</a:t>
            </a:r>
          </a:p>
        </p:txBody>
      </p:sp>
      <p:sp>
        <p:nvSpPr>
          <p:cNvPr id="4" name="">
            <a:extLst xmlns:a="http://schemas.openxmlformats.org/drawingml/2006/main">
              <a:ext uri="{FF2B5EF4-FFF2-40B4-BE49-F238E27FC236}">
                <a16:creationId xmlns:a16="http://schemas.microsoft.com/office/drawing/2014/main" id="{82B60709-A453-4DB6-A256-8B3D8594B42D}"/>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Zhu et al., Nature Communications (2022)  ·  Current analysis: code, selected members and numerical results</a:t>
            </a:r>
          </a:p>
        </p:txBody>
      </p:sp>
      <p:sp>
        <p:nvSpPr>
          <p:cNvPr id="5" name="">
            <a:extLst xmlns:a="http://schemas.openxmlformats.org/drawingml/2006/main">
              <a:ext uri="{FF2B5EF4-FFF2-40B4-BE49-F238E27FC236}">
                <a16:creationId xmlns:a16="http://schemas.microsoft.com/office/drawing/2014/main" id="{BBA67964-0B0E-4230-8292-654204B2D345}"/>
              </a:ext>
            </a:extLst>
          </p:cNvPr>
          <p:cNvSpPr>
            <a:spLocks xmlns:a="http://schemas.openxmlformats.org/drawingml/2006/main" noGrp="1"/>
          </p:cNvSpPr>
          <p:nvPr/>
        </p:nvSpPr>
        <p:spPr>
          <a:xfrm xmlns:a="http://schemas.openxmlformats.org/drawingml/2006/main">
            <a:off x="666750" y="1571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Vary helix-length and Sα distributions while retaining comparable residue-wise secondary-structure populations.</a:t>
            </a:r>
          </a:p>
        </p:txBody>
      </p:sp>
      <p:sp>
        <p:nvSpPr>
          <p:cNvPr id="6" name="">
            <a:extLst xmlns:a="http://schemas.openxmlformats.org/drawingml/2006/main">
              <a:ext uri="{FF2B5EF4-FFF2-40B4-BE49-F238E27FC236}">
                <a16:creationId xmlns:a16="http://schemas.microsoft.com/office/drawing/2014/main" id="{739B14B8-2B52-46D3-A9C5-6AE741D0C93B}"/>
              </a:ext>
            </a:extLst>
          </p:cNvPr>
          <p:cNvSpPr>
            <a:spLocks xmlns:a="http://schemas.openxmlformats.org/drawingml/2006/main" noGrp="1"/>
          </p:cNvSpPr>
          <p:nvPr/>
        </p:nvSpPr>
        <p:spPr>
          <a:xfrm xmlns:a="http://schemas.openxmlformats.org/drawingml/2006/main">
            <a:off x="666750" y="2571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Stratify candidate pools by hydrophobic SASA or contact coordination; select with the same CS–SAXS objective.</a:t>
            </a:r>
          </a:p>
        </p:txBody>
      </p:sp>
      <p:sp>
        <p:nvSpPr>
          <p:cNvPr id="7" name="">
            <a:extLst xmlns:a="http://schemas.openxmlformats.org/drawingml/2006/main">
              <a:ext uri="{FF2B5EF4-FFF2-40B4-BE49-F238E27FC236}">
                <a16:creationId xmlns:a16="http://schemas.microsoft.com/office/drawing/2014/main" id="{81D56542-DE7E-4286-9E64-7B9F6FC52A92}"/>
              </a:ext>
            </a:extLst>
          </p:cNvPr>
          <p:cNvSpPr>
            <a:spLocks xmlns:a="http://schemas.openxmlformats.org/drawingml/2006/main" noGrp="1"/>
          </p:cNvSpPr>
          <p:nvPr/>
        </p:nvSpPr>
        <p:spPr>
          <a:xfrm xmlns:a="http://schemas.openxmlformats.org/drawingml/2006/main">
            <a:off x="666750" y="3571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Compare fit quality and structural distributions across independently generated pools. Add independent observables to distinguish equally good fits.</a:t>
            </a:r>
          </a:p>
        </p:txBody>
      </p:sp>
    </p:spTree>
    <p:extLst>
      <p:ext uri="{BB962C8B-B14F-4D97-AF65-F5344CB8AC3E}">
        <p14:creationId xmlns:p14="http://schemas.microsoft.com/office/powerpoint/2010/main" val="77415802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46EF87-8C01-425F-9F53-82D0D1CB3A62}"/>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What the current results establish</a:t>
            </a:r>
          </a:p>
        </p:txBody>
      </p:sp>
      <p:sp>
        <p:nvSpPr>
          <p:cNvPr id="2" name="">
            <a:extLst xmlns:a="http://schemas.openxmlformats.org/drawingml/2006/main">
              <a:ext uri="{FF2B5EF4-FFF2-40B4-BE49-F238E27FC236}">
                <a16:creationId xmlns:a16="http://schemas.microsoft.com/office/drawing/2014/main" id="{D5AE626D-EA6F-44DE-AE5A-017768F23D6B}"/>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AEDC0A29-8538-4FC2-9DA3-C68DC45D647A}"/>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40</a:t>
            </a:r>
          </a:p>
        </p:txBody>
      </p:sp>
      <p:sp>
        <p:nvSpPr>
          <p:cNvPr id="4" name="">
            <a:extLst xmlns:a="http://schemas.openxmlformats.org/drawingml/2006/main">
              <a:ext uri="{FF2B5EF4-FFF2-40B4-BE49-F238E27FC236}">
                <a16:creationId xmlns:a16="http://schemas.microsoft.com/office/drawing/2014/main" id="{DA2ABE04-7E08-49C0-8A3C-BA967C96C3C4}"/>
              </a:ext>
            </a:extLst>
          </p:cNvPr>
          <p:cNvSpPr>
            <a:spLocks xmlns:a="http://schemas.openxmlformats.org/drawingml/2006/main" noGrp="1"/>
          </p:cNvSpPr>
          <p:nvPr/>
        </p:nvSpPr>
        <p:spPr>
          <a:xfrm xmlns:a="http://schemas.openxmlformats.org/drawingml/2006/main">
            <a:off x="571500" y="6076950"/>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96973"/>
                </a:solidFill>
                <a:latin typeface="Helvetica Neue"/>
                <a:ea typeface="Helvetica Neue"/>
                <a:cs typeface="Helvetica Neue"/>
              </a:defRPr>
            </a:pPr>
            <a:r>
              <a:rPr sz="1200" b="0">
                <a:solidFill>
                  <a:srgbClr val="596973"/>
                </a:solidFill>
                <a:latin typeface="Helvetica Neue"/>
                <a:ea typeface="Helvetica Neue"/>
                <a:cs typeface="Helvetica Neue"/>
              </a:rPr>
              <a:t>Current analysis: code, selected members and numerical results</a:t>
            </a:r>
          </a:p>
        </p:txBody>
      </p:sp>
      <p:sp>
        <p:nvSpPr>
          <p:cNvPr id="5" name="">
            <a:extLst xmlns:a="http://schemas.openxmlformats.org/drawingml/2006/main">
              <a:ext uri="{FF2B5EF4-FFF2-40B4-BE49-F238E27FC236}">
                <a16:creationId xmlns:a16="http://schemas.microsoft.com/office/drawing/2014/main" id="{38B16086-18FE-48B3-9945-3E2D887B6DE8}"/>
              </a:ext>
            </a:extLst>
          </p:cNvPr>
          <p:cNvSpPr>
            <a:spLocks xmlns:a="http://schemas.openxmlformats.org/drawingml/2006/main" noGrp="1"/>
          </p:cNvSpPr>
          <p:nvPr/>
        </p:nvSpPr>
        <p:spPr>
          <a:xfrm xmlns:a="http://schemas.openxmlformats.org/drawingml/2006/main">
            <a:off x="666750" y="157162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Equal-weight selections reach carbon RMSDs of roughly 0.29–0.43 ppm with 500 distinct structures.</a:t>
            </a:r>
          </a:p>
        </p:txBody>
      </p:sp>
      <p:sp>
        <p:nvSpPr>
          <p:cNvPr id="6" name="">
            <a:extLst xmlns:a="http://schemas.openxmlformats.org/drawingml/2006/main">
              <a:ext uri="{FF2B5EF4-FFF2-40B4-BE49-F238E27FC236}">
                <a16:creationId xmlns:a16="http://schemas.microsoft.com/office/drawing/2014/main" id="{F5D984D1-69D3-4A51-9584-A5568FB5EA18}"/>
              </a:ext>
            </a:extLst>
          </p:cNvPr>
          <p:cNvSpPr>
            <a:spLocks xmlns:a="http://schemas.openxmlformats.org/drawingml/2006/main" noGrp="1"/>
          </p:cNvSpPr>
          <p:nvPr/>
        </p:nvSpPr>
        <p:spPr>
          <a:xfrm xmlns:a="http://schemas.openxmlformats.org/drawingml/2006/main">
            <a:off x="666750" y="25717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WT SAXS remains less well fit than AA; the small helix-length supplement has only modest effects.</a:t>
            </a:r>
          </a:p>
        </p:txBody>
      </p:sp>
      <p:sp>
        <p:nvSpPr>
          <p:cNvPr id="7" name="">
            <a:extLst xmlns:a="http://schemas.openxmlformats.org/drawingml/2006/main">
              <a:ext uri="{FF2B5EF4-FFF2-40B4-BE49-F238E27FC236}">
                <a16:creationId xmlns:a16="http://schemas.microsoft.com/office/drawing/2014/main" id="{B5DE3E3B-E463-4E30-95D4-22C9F3714BA1}"/>
              </a:ext>
            </a:extLst>
          </p:cNvPr>
          <p:cNvSpPr>
            <a:spLocks xmlns:a="http://schemas.openxmlformats.org/drawingml/2006/main" noGrp="1"/>
          </p:cNvSpPr>
          <p:nvPr/>
        </p:nvSpPr>
        <p:spPr>
          <a:xfrm xmlns:a="http://schemas.openxmlformats.org/drawingml/2006/main">
            <a:off x="666750" y="3571875"/>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94D"/>
                </a:solidFill>
                <a:latin typeface="Helvetica Neue"/>
                <a:ea typeface="Helvetica Neue"/>
                <a:cs typeface="Helvetica Neue"/>
              </a:defRPr>
            </a:pPr>
            <a:r>
              <a:rPr sz="2100" b="0">
                <a:solidFill>
                  <a:srgbClr val="18394D"/>
                </a:solidFill>
                <a:latin typeface="Helvetica Neue"/>
                <a:ea typeface="Helvetica Neue"/>
                <a:cs typeface="Helvetica Neue"/>
              </a:rPr>
              <a:t>The next decisive tests are independent pools, stronger cooperative-helix sampling and convergence of contacts as well as local helicity.</a:t>
            </a:r>
          </a:p>
        </p:txBody>
      </p:sp>
    </p:spTree>
    <p:extLst>
      <p:ext uri="{BB962C8B-B14F-4D97-AF65-F5344CB8AC3E}">
        <p14:creationId xmlns:p14="http://schemas.microsoft.com/office/powerpoint/2010/main" val="26358647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876365C-06AD-4F24-B146-D6C155762027}"/>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Key references 1 / 3</a:t>
            </a:r>
          </a:p>
        </p:txBody>
      </p:sp>
      <p:sp>
        <p:nvSpPr>
          <p:cNvPr id="2" name="">
            <a:extLst xmlns:a="http://schemas.openxmlformats.org/drawingml/2006/main">
              <a:ext uri="{FF2B5EF4-FFF2-40B4-BE49-F238E27FC236}">
                <a16:creationId xmlns:a16="http://schemas.microsoft.com/office/drawing/2014/main" id="{48FE2FA2-4752-4F29-8E48-2A30A4796BA5}"/>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E99C0903-1954-4EC5-9F22-34410910FAEE}"/>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41</a:t>
            </a:r>
          </a:p>
        </p:txBody>
      </p:sp>
      <p:sp>
        <p:nvSpPr>
          <p:cNvPr id="4" name="">
            <a:extLst xmlns:a="http://schemas.openxmlformats.org/drawingml/2006/main">
              <a:ext uri="{FF2B5EF4-FFF2-40B4-BE49-F238E27FC236}">
                <a16:creationId xmlns:a16="http://schemas.microsoft.com/office/drawing/2014/main" id="{96B8CA99-4E45-42AA-BED1-5F28157D1780}"/>
              </a:ext>
            </a:extLst>
          </p:cNvPr>
          <p:cNvSpPr>
            <a:spLocks xmlns:a="http://schemas.openxmlformats.org/drawingml/2006/main" noGrp="1"/>
          </p:cNvSpPr>
          <p:nvPr/>
        </p:nvSpPr>
        <p:spPr>
          <a:xfrm xmlns:a="http://schemas.openxmlformats.org/drawingml/2006/main">
            <a:off x="619125" y="1476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Zhu et al., Nature Communications (2022)</a:t>
            </a:r>
          </a:p>
        </p:txBody>
      </p:sp>
      <p:sp>
        <p:nvSpPr>
          <p:cNvPr id="5" name="">
            <a:extLst xmlns:a="http://schemas.openxmlformats.org/drawingml/2006/main">
              <a:ext uri="{FF2B5EF4-FFF2-40B4-BE49-F238E27FC236}">
                <a16:creationId xmlns:a16="http://schemas.microsoft.com/office/drawing/2014/main" id="{89A19992-A75E-4833-9763-20695D2DC9CD}"/>
              </a:ext>
            </a:extLst>
          </p:cNvPr>
          <p:cNvSpPr>
            <a:spLocks xmlns:a="http://schemas.openxmlformats.org/drawingml/2006/main" noGrp="1"/>
          </p:cNvSpPr>
          <p:nvPr/>
        </p:nvSpPr>
        <p:spPr>
          <a:xfrm xmlns:a="http://schemas.openxmlformats.org/drawingml/2006/main">
            <a:off x="619125" y="18383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https://doi.org/10.1038/s41467-022-34077-z</a:t>
            </a:r>
          </a:p>
        </p:txBody>
      </p:sp>
      <p:sp>
        <p:nvSpPr>
          <p:cNvPr id="6" name="">
            <a:extLst xmlns:a="http://schemas.openxmlformats.org/drawingml/2006/main">
              <a:ext uri="{FF2B5EF4-FFF2-40B4-BE49-F238E27FC236}">
                <a16:creationId xmlns:a16="http://schemas.microsoft.com/office/drawing/2014/main" id="{69A8E614-E046-4476-A092-37CC583C3658}"/>
              </a:ext>
            </a:extLst>
          </p:cNvPr>
          <p:cNvSpPr>
            <a:spLocks xmlns:a="http://schemas.openxmlformats.org/drawingml/2006/main" noGrp="1"/>
          </p:cNvSpPr>
          <p:nvPr/>
        </p:nvSpPr>
        <p:spPr>
          <a:xfrm xmlns:a="http://schemas.openxmlformats.org/drawingml/2006/main">
            <a:off x="619125" y="23241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Teixeira et al., J. Phys. Chem. A (2022)</a:t>
            </a:r>
          </a:p>
        </p:txBody>
      </p:sp>
      <p:sp>
        <p:nvSpPr>
          <p:cNvPr id="7" name="">
            <a:extLst xmlns:a="http://schemas.openxmlformats.org/drawingml/2006/main">
              <a:ext uri="{FF2B5EF4-FFF2-40B4-BE49-F238E27FC236}">
                <a16:creationId xmlns:a16="http://schemas.microsoft.com/office/drawing/2014/main" id="{3D5DEA99-ECB3-46E0-BE6B-D461B9B191EE}"/>
              </a:ext>
            </a:extLst>
          </p:cNvPr>
          <p:cNvSpPr>
            <a:spLocks xmlns:a="http://schemas.openxmlformats.org/drawingml/2006/main" noGrp="1"/>
          </p:cNvSpPr>
          <p:nvPr/>
        </p:nvSpPr>
        <p:spPr>
          <a:xfrm xmlns:a="http://schemas.openxmlformats.org/drawingml/2006/main">
            <a:off x="619125" y="26860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https://doi.org/10.1021/acs.jpca.2c03726</a:t>
            </a:r>
          </a:p>
        </p:txBody>
      </p:sp>
      <p:sp>
        <p:nvSpPr>
          <p:cNvPr id="8" name="">
            <a:extLst xmlns:a="http://schemas.openxmlformats.org/drawingml/2006/main">
              <a:ext uri="{FF2B5EF4-FFF2-40B4-BE49-F238E27FC236}">
                <a16:creationId xmlns:a16="http://schemas.microsoft.com/office/drawing/2014/main" id="{DCD34DB2-CA76-4B87-995C-D403EEF12BC2}"/>
              </a:ext>
            </a:extLst>
          </p:cNvPr>
          <p:cNvSpPr>
            <a:spLocks xmlns:a="http://schemas.openxmlformats.org/drawingml/2006/main" noGrp="1"/>
          </p:cNvSpPr>
          <p:nvPr/>
        </p:nvSpPr>
        <p:spPr>
          <a:xfrm xmlns:a="http://schemas.openxmlformats.org/drawingml/2006/main">
            <a:off x="619125" y="31718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Camilloni et al., Biochemistry (2012)</a:t>
            </a:r>
          </a:p>
        </p:txBody>
      </p:sp>
      <p:sp>
        <p:nvSpPr>
          <p:cNvPr id="9" name="">
            <a:extLst xmlns:a="http://schemas.openxmlformats.org/drawingml/2006/main">
              <a:ext uri="{FF2B5EF4-FFF2-40B4-BE49-F238E27FC236}">
                <a16:creationId xmlns:a16="http://schemas.microsoft.com/office/drawing/2014/main" id="{C0704E7C-D916-4378-804D-5B9717F251D4}"/>
              </a:ext>
            </a:extLst>
          </p:cNvPr>
          <p:cNvSpPr>
            <a:spLocks xmlns:a="http://schemas.openxmlformats.org/drawingml/2006/main" noGrp="1"/>
          </p:cNvSpPr>
          <p:nvPr/>
        </p:nvSpPr>
        <p:spPr>
          <a:xfrm xmlns:a="http://schemas.openxmlformats.org/drawingml/2006/main">
            <a:off x="619125" y="35337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https://doi.org/10.1021/bi3001825</a:t>
            </a:r>
          </a:p>
        </p:txBody>
      </p:sp>
      <p:sp>
        <p:nvSpPr>
          <p:cNvPr id="10" name="">
            <a:extLst xmlns:a="http://schemas.openxmlformats.org/drawingml/2006/main">
              <a:ext uri="{FF2B5EF4-FFF2-40B4-BE49-F238E27FC236}">
                <a16:creationId xmlns:a16="http://schemas.microsoft.com/office/drawing/2014/main" id="{9CDC8B45-F9F9-4F2A-BCFF-A20E9568210E}"/>
              </a:ext>
            </a:extLst>
          </p:cNvPr>
          <p:cNvSpPr>
            <a:spLocks xmlns:a="http://schemas.openxmlformats.org/drawingml/2006/main" noGrp="1"/>
          </p:cNvSpPr>
          <p:nvPr/>
        </p:nvSpPr>
        <p:spPr>
          <a:xfrm xmlns:a="http://schemas.openxmlformats.org/drawingml/2006/main">
            <a:off x="619125" y="40195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Shen &amp; Bax, J. Biomol. NMR (2010)</a:t>
            </a:r>
          </a:p>
        </p:txBody>
      </p:sp>
      <p:sp>
        <p:nvSpPr>
          <p:cNvPr id="11" name="">
            <a:extLst xmlns:a="http://schemas.openxmlformats.org/drawingml/2006/main">
              <a:ext uri="{FF2B5EF4-FFF2-40B4-BE49-F238E27FC236}">
                <a16:creationId xmlns:a16="http://schemas.microsoft.com/office/drawing/2014/main" id="{D3DD229C-34F3-4574-B9BC-5C066799D9CE}"/>
              </a:ext>
            </a:extLst>
          </p:cNvPr>
          <p:cNvSpPr>
            <a:spLocks xmlns:a="http://schemas.openxmlformats.org/drawingml/2006/main" noGrp="1"/>
          </p:cNvSpPr>
          <p:nvPr/>
        </p:nvSpPr>
        <p:spPr>
          <a:xfrm xmlns:a="http://schemas.openxmlformats.org/drawingml/2006/main">
            <a:off x="619125" y="4381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https://doi.org/10.1007/s10858-010-9433-9</a:t>
            </a:r>
          </a:p>
        </p:txBody>
      </p:sp>
      <p:sp>
        <p:nvSpPr>
          <p:cNvPr id="12" name="">
            <a:extLst xmlns:a="http://schemas.openxmlformats.org/drawingml/2006/main">
              <a:ext uri="{FF2B5EF4-FFF2-40B4-BE49-F238E27FC236}">
                <a16:creationId xmlns:a16="http://schemas.microsoft.com/office/drawing/2014/main" id="{3B4AE3D3-514D-465D-B898-1007A3E0A730}"/>
              </a:ext>
            </a:extLst>
          </p:cNvPr>
          <p:cNvSpPr>
            <a:spLocks xmlns:a="http://schemas.openxmlformats.org/drawingml/2006/main" noGrp="1"/>
          </p:cNvSpPr>
          <p:nvPr/>
        </p:nvSpPr>
        <p:spPr>
          <a:xfrm xmlns:a="http://schemas.openxmlformats.org/drawingml/2006/main">
            <a:off x="619125" y="48672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Cavender et al., LiveCoMS (2025)</a:t>
            </a:r>
          </a:p>
        </p:txBody>
      </p:sp>
      <p:sp>
        <p:nvSpPr>
          <p:cNvPr id="13" name="">
            <a:extLst xmlns:a="http://schemas.openxmlformats.org/drawingml/2006/main">
              <a:ext uri="{FF2B5EF4-FFF2-40B4-BE49-F238E27FC236}">
                <a16:creationId xmlns:a16="http://schemas.microsoft.com/office/drawing/2014/main" id="{FF85B9E8-800E-43ED-8BDE-A9C4A9B5A3F8}"/>
              </a:ext>
            </a:extLst>
          </p:cNvPr>
          <p:cNvSpPr>
            <a:spLocks xmlns:a="http://schemas.openxmlformats.org/drawingml/2006/main" noGrp="1"/>
          </p:cNvSpPr>
          <p:nvPr/>
        </p:nvSpPr>
        <p:spPr>
          <a:xfrm xmlns:a="http://schemas.openxmlformats.org/drawingml/2006/main">
            <a:off x="619125" y="52292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https://doi.org/10.33011/livecoms.6.1.3871</a:t>
            </a:r>
          </a:p>
        </p:txBody>
      </p:sp>
    </p:spTree>
    <p:extLst>
      <p:ext uri="{BB962C8B-B14F-4D97-AF65-F5344CB8AC3E}">
        <p14:creationId xmlns:p14="http://schemas.microsoft.com/office/powerpoint/2010/main" val="144191229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B9BF963-C2FD-4C36-A84D-DED58FF29CC4}"/>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Key references 2 / 3</a:t>
            </a:r>
          </a:p>
        </p:txBody>
      </p:sp>
      <p:sp>
        <p:nvSpPr>
          <p:cNvPr id="2" name="">
            <a:extLst xmlns:a="http://schemas.openxmlformats.org/drawingml/2006/main">
              <a:ext uri="{FF2B5EF4-FFF2-40B4-BE49-F238E27FC236}">
                <a16:creationId xmlns:a16="http://schemas.microsoft.com/office/drawing/2014/main" id="{99B3E2FA-FF47-45F6-B45C-5C208A48BB3A}"/>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8170EC8C-7EF9-4544-A397-078DD9248399}"/>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42</a:t>
            </a:r>
          </a:p>
        </p:txBody>
      </p:sp>
      <p:sp>
        <p:nvSpPr>
          <p:cNvPr id="4" name="">
            <a:extLst xmlns:a="http://schemas.openxmlformats.org/drawingml/2006/main">
              <a:ext uri="{FF2B5EF4-FFF2-40B4-BE49-F238E27FC236}">
                <a16:creationId xmlns:a16="http://schemas.microsoft.com/office/drawing/2014/main" id="{EE9B6068-F118-4CAA-A4D9-8495D8F7EBCF}"/>
              </a:ext>
            </a:extLst>
          </p:cNvPr>
          <p:cNvSpPr>
            <a:spLocks xmlns:a="http://schemas.openxmlformats.org/drawingml/2006/main" noGrp="1"/>
          </p:cNvSpPr>
          <p:nvPr/>
        </p:nvSpPr>
        <p:spPr>
          <a:xfrm xmlns:a="http://schemas.openxmlformats.org/drawingml/2006/main">
            <a:off x="619125" y="1476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Ozenne et al., JACS (2012)</a:t>
            </a:r>
          </a:p>
        </p:txBody>
      </p:sp>
      <p:sp>
        <p:nvSpPr>
          <p:cNvPr id="5" name="">
            <a:extLst xmlns:a="http://schemas.openxmlformats.org/drawingml/2006/main">
              <a:ext uri="{FF2B5EF4-FFF2-40B4-BE49-F238E27FC236}">
                <a16:creationId xmlns:a16="http://schemas.microsoft.com/office/drawing/2014/main" id="{628F0ED3-A7E2-4312-B73A-D33AA5E27B53}"/>
              </a:ext>
            </a:extLst>
          </p:cNvPr>
          <p:cNvSpPr>
            <a:spLocks xmlns:a="http://schemas.openxmlformats.org/drawingml/2006/main" noGrp="1"/>
          </p:cNvSpPr>
          <p:nvPr/>
        </p:nvSpPr>
        <p:spPr>
          <a:xfrm xmlns:a="http://schemas.openxmlformats.org/drawingml/2006/main">
            <a:off x="619125" y="18383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https://doi.org/10.1021/ja306905s</a:t>
            </a:r>
          </a:p>
        </p:txBody>
      </p:sp>
      <p:sp>
        <p:nvSpPr>
          <p:cNvPr id="6" name="">
            <a:extLst xmlns:a="http://schemas.openxmlformats.org/drawingml/2006/main">
              <a:ext uri="{FF2B5EF4-FFF2-40B4-BE49-F238E27FC236}">
                <a16:creationId xmlns:a16="http://schemas.microsoft.com/office/drawing/2014/main" id="{2D12AA6C-77BD-4B26-B1CF-DB4E3878D6BB}"/>
              </a:ext>
            </a:extLst>
          </p:cNvPr>
          <p:cNvSpPr>
            <a:spLocks xmlns:a="http://schemas.openxmlformats.org/drawingml/2006/main" noGrp="1"/>
          </p:cNvSpPr>
          <p:nvPr/>
        </p:nvSpPr>
        <p:spPr>
          <a:xfrm xmlns:a="http://schemas.openxmlformats.org/drawingml/2006/main">
            <a:off x="619125" y="23241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Schwalbe et al., Structure (2014)</a:t>
            </a:r>
          </a:p>
        </p:txBody>
      </p:sp>
      <p:sp>
        <p:nvSpPr>
          <p:cNvPr id="7" name="">
            <a:extLst xmlns:a="http://schemas.openxmlformats.org/drawingml/2006/main">
              <a:ext uri="{FF2B5EF4-FFF2-40B4-BE49-F238E27FC236}">
                <a16:creationId xmlns:a16="http://schemas.microsoft.com/office/drawing/2014/main" id="{8DDFAD4D-F9F6-429F-A5F6-4F269F2E4040}"/>
              </a:ext>
            </a:extLst>
          </p:cNvPr>
          <p:cNvSpPr>
            <a:spLocks xmlns:a="http://schemas.openxmlformats.org/drawingml/2006/main" noGrp="1"/>
          </p:cNvSpPr>
          <p:nvPr/>
        </p:nvSpPr>
        <p:spPr>
          <a:xfrm xmlns:a="http://schemas.openxmlformats.org/drawingml/2006/main">
            <a:off x="619125" y="26860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https://doi.org/10.1016/j.str.2013.10.020</a:t>
            </a:r>
          </a:p>
        </p:txBody>
      </p:sp>
      <p:sp>
        <p:nvSpPr>
          <p:cNvPr id="8" name="">
            <a:extLst xmlns:a="http://schemas.openxmlformats.org/drawingml/2006/main">
              <a:ext uri="{FF2B5EF4-FFF2-40B4-BE49-F238E27FC236}">
                <a16:creationId xmlns:a16="http://schemas.microsoft.com/office/drawing/2014/main" id="{49F59E7D-5DC0-4FA7-B40F-98BF17CAFAD4}"/>
              </a:ext>
            </a:extLst>
          </p:cNvPr>
          <p:cNvSpPr>
            <a:spLocks xmlns:a="http://schemas.openxmlformats.org/drawingml/2006/main" noGrp="1"/>
          </p:cNvSpPr>
          <p:nvPr/>
        </p:nvSpPr>
        <p:spPr>
          <a:xfrm xmlns:a="http://schemas.openxmlformats.org/drawingml/2006/main">
            <a:off x="619125" y="31718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Bernadó et al., JACS (2007)</a:t>
            </a:r>
          </a:p>
        </p:txBody>
      </p:sp>
      <p:sp>
        <p:nvSpPr>
          <p:cNvPr id="9" name="">
            <a:extLst xmlns:a="http://schemas.openxmlformats.org/drawingml/2006/main">
              <a:ext uri="{FF2B5EF4-FFF2-40B4-BE49-F238E27FC236}">
                <a16:creationId xmlns:a16="http://schemas.microsoft.com/office/drawing/2014/main" id="{A9E7C29F-7627-471A-9563-1A6C82F882ED}"/>
              </a:ext>
            </a:extLst>
          </p:cNvPr>
          <p:cNvSpPr>
            <a:spLocks xmlns:a="http://schemas.openxmlformats.org/drawingml/2006/main" noGrp="1"/>
          </p:cNvSpPr>
          <p:nvPr/>
        </p:nvSpPr>
        <p:spPr>
          <a:xfrm xmlns:a="http://schemas.openxmlformats.org/drawingml/2006/main">
            <a:off x="619125" y="35337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https://doi.org/10.1021/ja069124n</a:t>
            </a:r>
          </a:p>
        </p:txBody>
      </p:sp>
      <p:sp>
        <p:nvSpPr>
          <p:cNvPr id="10" name="">
            <a:extLst xmlns:a="http://schemas.openxmlformats.org/drawingml/2006/main">
              <a:ext uri="{FF2B5EF4-FFF2-40B4-BE49-F238E27FC236}">
                <a16:creationId xmlns:a16="http://schemas.microsoft.com/office/drawing/2014/main" id="{161B0548-736C-47EA-ABDE-3018A329BCB3}"/>
              </a:ext>
            </a:extLst>
          </p:cNvPr>
          <p:cNvSpPr>
            <a:spLocks xmlns:a="http://schemas.openxmlformats.org/drawingml/2006/main" noGrp="1"/>
          </p:cNvSpPr>
          <p:nvPr/>
        </p:nvSpPr>
        <p:spPr>
          <a:xfrm xmlns:a="http://schemas.openxmlformats.org/drawingml/2006/main">
            <a:off x="619125" y="40195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Svergun et al., J. Appl. Crystallogr. (1995)</a:t>
            </a:r>
          </a:p>
        </p:txBody>
      </p:sp>
      <p:sp>
        <p:nvSpPr>
          <p:cNvPr id="11" name="">
            <a:extLst xmlns:a="http://schemas.openxmlformats.org/drawingml/2006/main">
              <a:ext uri="{FF2B5EF4-FFF2-40B4-BE49-F238E27FC236}">
                <a16:creationId xmlns:a16="http://schemas.microsoft.com/office/drawing/2014/main" id="{E752CA8A-9E25-416A-8780-0B95C86BC25A}"/>
              </a:ext>
            </a:extLst>
          </p:cNvPr>
          <p:cNvSpPr>
            <a:spLocks xmlns:a="http://schemas.openxmlformats.org/drawingml/2006/main" noGrp="1"/>
          </p:cNvSpPr>
          <p:nvPr/>
        </p:nvSpPr>
        <p:spPr>
          <a:xfrm xmlns:a="http://schemas.openxmlformats.org/drawingml/2006/main">
            <a:off x="619125" y="4381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https://doi.org/10.1107/S0021889895007047</a:t>
            </a:r>
          </a:p>
        </p:txBody>
      </p:sp>
      <p:sp>
        <p:nvSpPr>
          <p:cNvPr id="12" name="">
            <a:extLst xmlns:a="http://schemas.openxmlformats.org/drawingml/2006/main">
              <a:ext uri="{FF2B5EF4-FFF2-40B4-BE49-F238E27FC236}">
                <a16:creationId xmlns:a16="http://schemas.microsoft.com/office/drawing/2014/main" id="{5D6B8D15-8774-4A00-98E9-3BCA30A788AD}"/>
              </a:ext>
            </a:extLst>
          </p:cNvPr>
          <p:cNvSpPr>
            <a:spLocks xmlns:a="http://schemas.openxmlformats.org/drawingml/2006/main" noGrp="1"/>
          </p:cNvSpPr>
          <p:nvPr/>
        </p:nvSpPr>
        <p:spPr>
          <a:xfrm xmlns:a="http://schemas.openxmlformats.org/drawingml/2006/main">
            <a:off x="619125" y="48672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Grant, Nature Methods (2018)</a:t>
            </a:r>
          </a:p>
        </p:txBody>
      </p:sp>
      <p:sp>
        <p:nvSpPr>
          <p:cNvPr id="13" name="">
            <a:extLst xmlns:a="http://schemas.openxmlformats.org/drawingml/2006/main">
              <a:ext uri="{FF2B5EF4-FFF2-40B4-BE49-F238E27FC236}">
                <a16:creationId xmlns:a16="http://schemas.microsoft.com/office/drawing/2014/main" id="{E8E6D6B5-D0F3-4927-8CCE-2B84AF5A4BB4}"/>
              </a:ext>
            </a:extLst>
          </p:cNvPr>
          <p:cNvSpPr>
            <a:spLocks xmlns:a="http://schemas.openxmlformats.org/drawingml/2006/main" noGrp="1"/>
          </p:cNvSpPr>
          <p:nvPr/>
        </p:nvSpPr>
        <p:spPr>
          <a:xfrm xmlns:a="http://schemas.openxmlformats.org/drawingml/2006/main">
            <a:off x="619125" y="52292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https://doi.org/10.1038/nmeth.4581</a:t>
            </a:r>
          </a:p>
        </p:txBody>
      </p:sp>
    </p:spTree>
    <p:extLst>
      <p:ext uri="{BB962C8B-B14F-4D97-AF65-F5344CB8AC3E}">
        <p14:creationId xmlns:p14="http://schemas.microsoft.com/office/powerpoint/2010/main" val="1331364649"/>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F73B1FA-EA9A-4EB7-8F3B-4B4A50FB77AE}"/>
              </a:ext>
            </a:extLst>
          </p:cNvPr>
          <p:cNvSpPr>
            <a:spLocks xmlns:a="http://schemas.openxmlformats.org/drawingml/2006/main" noGrp="1"/>
          </p:cNvSpPr>
          <p:nvPr/>
        </p:nvSpPr>
        <p:spPr>
          <a:xfrm xmlns:a="http://schemas.openxmlformats.org/drawingml/2006/main">
            <a:off x="571500" y="333375"/>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94D"/>
                </a:solidFill>
                <a:latin typeface="Helvetica Neue"/>
                <a:ea typeface="Helvetica Neue"/>
                <a:cs typeface="Helvetica Neue"/>
              </a:defRPr>
            </a:pPr>
            <a:r>
              <a:rPr sz="3225" b="1">
                <a:solidFill>
                  <a:srgbClr val="18394D"/>
                </a:solidFill>
                <a:latin typeface="Helvetica Neue"/>
                <a:ea typeface="Helvetica Neue"/>
                <a:cs typeface="Helvetica Neue"/>
              </a:rPr>
              <a:t>Key references 3 / 3</a:t>
            </a:r>
          </a:p>
        </p:txBody>
      </p:sp>
      <p:sp>
        <p:nvSpPr>
          <p:cNvPr id="2" name="">
            <a:extLst xmlns:a="http://schemas.openxmlformats.org/drawingml/2006/main">
              <a:ext uri="{FF2B5EF4-FFF2-40B4-BE49-F238E27FC236}">
                <a16:creationId xmlns:a16="http://schemas.microsoft.com/office/drawing/2014/main" id="{0858240F-6D4F-42F2-A5C0-A3946FF97934}"/>
              </a:ext>
            </a:extLst>
          </p:cNvPr>
          <p:cNvSpPr>
            <a:spLocks xmlns:a="http://schemas.openxmlformats.org/drawingml/2006/main" noGrp="1"/>
          </p:cNvSpPr>
          <p:nvPr/>
        </p:nvSpPr>
        <p:spPr>
          <a:xfrm xmlns:a="http://schemas.openxmlformats.org/drawingml/2006/main">
            <a:off x="571500" y="643890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TAU-5*  |  METHODS &amp; ENSEMBLE ANALYSIS</a:t>
            </a:r>
          </a:p>
        </p:txBody>
      </p:sp>
      <p:sp>
        <p:nvSpPr>
          <p:cNvPr id="3" name="">
            <a:extLst xmlns:a="http://schemas.openxmlformats.org/drawingml/2006/main">
              <a:ext uri="{FF2B5EF4-FFF2-40B4-BE49-F238E27FC236}">
                <a16:creationId xmlns:a16="http://schemas.microsoft.com/office/drawing/2014/main" id="{DD31C1BB-FC9A-469C-A7A7-D67CCC5263AA}"/>
              </a:ext>
            </a:extLst>
          </p:cNvPr>
          <p:cNvSpPr>
            <a:spLocks xmlns:a="http://schemas.openxmlformats.org/drawingml/2006/main" noGrp="1"/>
          </p:cNvSpPr>
          <p:nvPr/>
        </p:nvSpPr>
        <p:spPr>
          <a:xfrm xmlns:a="http://schemas.openxmlformats.org/drawingml/2006/main">
            <a:off x="11144250" y="64389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96973"/>
                </a:solidFill>
                <a:latin typeface="Helvetica Neue"/>
                <a:ea typeface="Helvetica Neue"/>
                <a:cs typeface="Helvetica Neue"/>
              </a:defRPr>
            </a:pPr>
            <a:r>
              <a:rPr sz="1125" b="0">
                <a:solidFill>
                  <a:srgbClr val="596973"/>
                </a:solidFill>
                <a:latin typeface="Helvetica Neue"/>
                <a:ea typeface="Helvetica Neue"/>
                <a:cs typeface="Helvetica Neue"/>
              </a:rPr>
              <a:t>43</a:t>
            </a:r>
          </a:p>
        </p:txBody>
      </p:sp>
      <p:sp>
        <p:nvSpPr>
          <p:cNvPr id="4" name="">
            <a:extLst xmlns:a="http://schemas.openxmlformats.org/drawingml/2006/main">
              <a:ext uri="{FF2B5EF4-FFF2-40B4-BE49-F238E27FC236}">
                <a16:creationId xmlns:a16="http://schemas.microsoft.com/office/drawing/2014/main" id="{FF1ED3B7-3D32-41C1-8D36-49CCBCE83908}"/>
              </a:ext>
            </a:extLst>
          </p:cNvPr>
          <p:cNvSpPr>
            <a:spLocks xmlns:a="http://schemas.openxmlformats.org/drawingml/2006/main" noGrp="1"/>
          </p:cNvSpPr>
          <p:nvPr/>
        </p:nvSpPr>
        <p:spPr>
          <a:xfrm xmlns:a="http://schemas.openxmlformats.org/drawingml/2006/main">
            <a:off x="619125" y="14763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Schnapka et al., Nature Communications (2026)</a:t>
            </a:r>
          </a:p>
        </p:txBody>
      </p:sp>
      <p:sp>
        <p:nvSpPr>
          <p:cNvPr id="5" name="">
            <a:extLst xmlns:a="http://schemas.openxmlformats.org/drawingml/2006/main">
              <a:ext uri="{FF2B5EF4-FFF2-40B4-BE49-F238E27FC236}">
                <a16:creationId xmlns:a16="http://schemas.microsoft.com/office/drawing/2014/main" id="{F135670D-00AA-4CB1-9DB7-27B7CAEF3873}"/>
              </a:ext>
            </a:extLst>
          </p:cNvPr>
          <p:cNvSpPr>
            <a:spLocks xmlns:a="http://schemas.openxmlformats.org/drawingml/2006/main" noGrp="1"/>
          </p:cNvSpPr>
          <p:nvPr/>
        </p:nvSpPr>
        <p:spPr>
          <a:xfrm xmlns:a="http://schemas.openxmlformats.org/drawingml/2006/main">
            <a:off x="619125" y="18383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https://doi.org/10.1038/s41467-026-69172-y</a:t>
            </a:r>
          </a:p>
        </p:txBody>
      </p:sp>
      <p:sp>
        <p:nvSpPr>
          <p:cNvPr id="6" name="">
            <a:extLst xmlns:a="http://schemas.openxmlformats.org/drawingml/2006/main">
              <a:ext uri="{FF2B5EF4-FFF2-40B4-BE49-F238E27FC236}">
                <a16:creationId xmlns:a16="http://schemas.microsoft.com/office/drawing/2014/main" id="{3B4F59CD-B4C8-4CFC-9439-2FDAEC04078C}"/>
              </a:ext>
            </a:extLst>
          </p:cNvPr>
          <p:cNvSpPr>
            <a:spLocks xmlns:a="http://schemas.openxmlformats.org/drawingml/2006/main" noGrp="1"/>
          </p:cNvSpPr>
          <p:nvPr/>
        </p:nvSpPr>
        <p:spPr>
          <a:xfrm xmlns:a="http://schemas.openxmlformats.org/drawingml/2006/main">
            <a:off x="619125" y="23241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bAIes-IDP source and tutorial</a:t>
            </a:r>
          </a:p>
        </p:txBody>
      </p:sp>
      <p:sp>
        <p:nvSpPr>
          <p:cNvPr id="7" name="">
            <a:extLst xmlns:a="http://schemas.openxmlformats.org/drawingml/2006/main">
              <a:ext uri="{FF2B5EF4-FFF2-40B4-BE49-F238E27FC236}">
                <a16:creationId xmlns:a16="http://schemas.microsoft.com/office/drawing/2014/main" id="{7E076130-7F2B-4097-89A1-472DF4AE93EC}"/>
              </a:ext>
            </a:extLst>
          </p:cNvPr>
          <p:cNvSpPr>
            <a:spLocks xmlns:a="http://schemas.openxmlformats.org/drawingml/2006/main" noGrp="1"/>
          </p:cNvSpPr>
          <p:nvPr/>
        </p:nvSpPr>
        <p:spPr>
          <a:xfrm xmlns:a="http://schemas.openxmlformats.org/drawingml/2006/main">
            <a:off x="619125" y="26860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https://github.com/COSBlab/bAIes-IDP</a:t>
            </a:r>
          </a:p>
        </p:txBody>
      </p:sp>
      <p:sp>
        <p:nvSpPr>
          <p:cNvPr id="8" name="">
            <a:extLst xmlns:a="http://schemas.openxmlformats.org/drawingml/2006/main">
              <a:ext uri="{FF2B5EF4-FFF2-40B4-BE49-F238E27FC236}">
                <a16:creationId xmlns:a16="http://schemas.microsoft.com/office/drawing/2014/main" id="{B596D4FD-0B10-4F91-8A52-0150C6E3B6FB}"/>
              </a:ext>
            </a:extLst>
          </p:cNvPr>
          <p:cNvSpPr>
            <a:spLocks xmlns:a="http://schemas.openxmlformats.org/drawingml/2006/main" noGrp="1"/>
          </p:cNvSpPr>
          <p:nvPr/>
        </p:nvSpPr>
        <p:spPr>
          <a:xfrm xmlns:a="http://schemas.openxmlformats.org/drawingml/2006/main">
            <a:off x="619125" y="31718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Original AR analysis code and MD comparison</a:t>
            </a:r>
          </a:p>
        </p:txBody>
      </p:sp>
      <p:sp>
        <p:nvSpPr>
          <p:cNvPr id="9" name="">
            <a:extLst xmlns:a="http://schemas.openxmlformats.org/drawingml/2006/main">
              <a:ext uri="{FF2B5EF4-FFF2-40B4-BE49-F238E27FC236}">
                <a16:creationId xmlns:a16="http://schemas.microsoft.com/office/drawing/2014/main" id="{68777EBF-70C3-4882-A070-9779D12CDA2E}"/>
              </a:ext>
            </a:extLst>
          </p:cNvPr>
          <p:cNvSpPr>
            <a:spLocks xmlns:a="http://schemas.openxmlformats.org/drawingml/2006/main" noGrp="1"/>
          </p:cNvSpPr>
          <p:nvPr/>
        </p:nvSpPr>
        <p:spPr>
          <a:xfrm xmlns:a="http://schemas.openxmlformats.org/drawingml/2006/main">
            <a:off x="619125" y="35337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https://github.com/paulrobustelli/AR_ligand_binding</a:t>
            </a:r>
          </a:p>
        </p:txBody>
      </p:sp>
      <p:sp>
        <p:nvSpPr>
          <p:cNvPr id="10" name="">
            <a:extLst xmlns:a="http://schemas.openxmlformats.org/drawingml/2006/main">
              <a:ext uri="{FF2B5EF4-FFF2-40B4-BE49-F238E27FC236}">
                <a16:creationId xmlns:a16="http://schemas.microsoft.com/office/drawing/2014/main" id="{A8D7EE4B-6937-4007-9DDD-E2625214C4EE}"/>
              </a:ext>
            </a:extLst>
          </p:cNvPr>
          <p:cNvSpPr>
            <a:spLocks xmlns:a="http://schemas.openxmlformats.org/drawingml/2006/main" noGrp="1"/>
          </p:cNvSpPr>
          <p:nvPr/>
        </p:nvSpPr>
        <p:spPr>
          <a:xfrm xmlns:a="http://schemas.openxmlformats.org/drawingml/2006/main">
            <a:off x="619125" y="40195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94D"/>
                </a:solidFill>
                <a:latin typeface="Helvetica Neue"/>
                <a:ea typeface="Helvetica Neue"/>
                <a:cs typeface="Helvetica Neue"/>
              </a:defRPr>
            </a:pPr>
            <a:r>
              <a:rPr sz="1950" b="1">
                <a:solidFill>
                  <a:srgbClr val="18394D"/>
                </a:solidFill>
                <a:latin typeface="Helvetica Neue"/>
                <a:ea typeface="Helvetica Neue"/>
                <a:cs typeface="Helvetica Neue"/>
              </a:rPr>
              <a:t>Current analysis: code, selected members and numerical results</a:t>
            </a:r>
          </a:p>
        </p:txBody>
      </p:sp>
      <p:sp>
        <p:nvSpPr>
          <p:cNvPr id="11" name="">
            <a:extLst xmlns:a="http://schemas.openxmlformats.org/drawingml/2006/main">
              <a:ext uri="{FF2B5EF4-FFF2-40B4-BE49-F238E27FC236}">
                <a16:creationId xmlns:a16="http://schemas.microsoft.com/office/drawing/2014/main" id="{EFABF6AA-870C-4A8A-B23F-CE64E635D91E}"/>
              </a:ext>
            </a:extLst>
          </p:cNvPr>
          <p:cNvSpPr>
            <a:spLocks xmlns:a="http://schemas.openxmlformats.org/drawingml/2006/main" noGrp="1"/>
          </p:cNvSpPr>
          <p:nvPr/>
        </p:nvSpPr>
        <p:spPr>
          <a:xfrm xmlns:a="http://schemas.openxmlformats.org/drawingml/2006/main">
            <a:off x="619125" y="438150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2876B8"/>
                </a:solidFill>
                <a:latin typeface="Helvetica Neue"/>
                <a:ea typeface="Helvetica Neue"/>
                <a:cs typeface="Helvetica Neue"/>
              </a:defRPr>
            </a:pPr>
            <a:r>
              <a:rPr sz="1575" b="0">
                <a:solidFill>
                  <a:srgbClr val="2876B8"/>
                </a:solidFill>
                <a:latin typeface="Helvetica Neue"/>
                <a:ea typeface="Helvetica Neue"/>
                <a:cs typeface="Helvetica Neue"/>
              </a:rPr>
              <a:t>https://github.com/paulrobustelli/tau5-sec-saxs-analysis/tree/main/Ensemble_Comparisons/CS_SAXS_Selection</a:t>
            </a:r>
          </a:p>
        </p:txBody>
      </p:sp>
    </p:spTree>
    <p:extLst>
      <p:ext uri="{BB962C8B-B14F-4D97-AF65-F5344CB8AC3E}">
        <p14:creationId xmlns:p14="http://schemas.microsoft.com/office/powerpoint/2010/main" val="18321374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2026-09-29T19:02:47.7200000Z</dcterms:created>
  <dcterms:modified xsi:type="dcterms:W3CDTF">2026-09-29T19:02:47.7200000Z</dcterms:modified>
</coreProperties>
</file>